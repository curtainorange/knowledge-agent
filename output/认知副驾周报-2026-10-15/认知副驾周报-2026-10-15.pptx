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20" Type="http://schemas.openxmlformats.org/officeDocument/2006/relationships/viewProps" Target="viewProps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position: 'relative', background: 'linear-gradient(120deg, #1B1856 0%, #3730A3 48%, #4F46E5 100%)', overflow: 'hidden', fontFamily: &quot;'Source Han Sans SC', 'Noto Sans SC', 'Microsoft YaHei', sans-serif&quot; }}&gt;&#10;&#10;    &lt;svg width={1280} height={720} viewBox='0 0 1280 720' style={{ position: 'absolute', top: 0, left: 0 }}&gt;&#10;        &lt;defs&gt;&#10;            &lt;linearGradient id='glow' x1='0' y1='0' x2='1' y2='1'&gt;&#10;                &lt;stop offset='0%' stopColor='#93C5FD' stopOpacity='0.34' /&gt;&#10;                &lt;stop offset='100%' stopColor='#0EA5E9' stopOpacity='0.04' /&gt;&#10;            &lt;/linearGradient&gt;&#10;        &lt;/defs&gt;&#10;        &lt;circle cx='1128' cy='128' r='168' fill='url(#glow)' /&gt;&#10;        &lt;rect x='640' y='116' width='520' height='488' rx='36' fill='none' stroke='#A5B4FC' strokeWidth='1' opacity='0.34' /&gt;&#10;        &lt;rect x='698' y='168' width='404' height='384' rx='30' fill='none' stroke='#A5B4FC' strokeWidth='1' opacity='0.26' /&gt;&#10;        &lt;rect x='756' y='220' width='288' height='280' rx='24' fill='none' stroke='#A5B4FC' strokeWidth='1' opacity='0.20' /&gt;&#10;        &lt;rect x='814' y='272' width='172' height='176' rx='18' fill='none' stroke='#0EA5E9' strokeWidth='1.5' opacity='0.55' /&gt;&#10;        &lt;rect x='874' y='326' width='52' height='52' rx='10' fill='#0EA5E9' opacity='0.82' /&gt;&#10;        &lt;rect x='96' y='96' width='72' height='3' fill='#0EA5E9' /&gt;&#10;        &lt;circle cx='600' cy='604' r='5' fill='#93C5FD' opacity='0.7' /&gt;&#10;        &lt;circle cx='660' cy='604' r='5' fill='#93C5FD' opacity='0.5' /&gt;&#10;        &lt;circle cx='720' cy='604' r='5' fill='#93C5FD' opacity='0.3' /&gt;&#10;    &lt;/svg&gt;&#10;&#10;    &lt;Box style={{ position: 'absolute', left: 96, top: 188, width: 600, flexDirection: 'column' }}&gt;&#10;        &lt;Text style={{ fontSize: 13, color: '#A5B4FC', letterSpacing: 3, fontFamily: &quot;'JetBrains Mono', Consolas, monospace&quot; }}&gt;COGNITIVE COPILOT / WEEKLY TECH REPORT&lt;/Text&gt;&#10;        &lt;Text style={{ fontSize: 68, fontWeight: 'bold', color: '#FFFFFF', lineHeight: 1.15, letterSpacing: 2, marginTop: 20 }}&gt;认知副驾&lt;/Text&gt;&#10;        &lt;Box style={{ height: 3, width: 96, background: '#0EA5E9', marginTop: 26 }} /&gt;&#10;        &lt;Text style={{ fontSize: 23, color: '#C7D2FE', lineHeight: 1.5, marginTop: 26 }}&gt;Prompt · Harness · Loop · MCP：&lt;br /&gt;四个概念的学习与在本项目中的落地&lt;/Text&gt;&#10;        &lt;Text style={{ fontSize: 17, color: '#93A6E6', lineHeight: 1.6, marginTop: 14 }}&gt;附：手机端改造（阶段 1 · M1–M5，接口零改动）&lt;/Text&gt;&#10;        &lt;Text style={{ fontSize: 14, color: '#93A6E6', marginTop: 34 }}&gt;汇报人：（待填）　·　2026-10-15&lt;/Text&gt;&#10;    &lt;/Box&gt;&#10;&#10;    &lt;Text style={{ position: 'absolute', right: 72, bottom: 24, fontSize: 13, color: '#7C8CD8', fontFamily: &quot;'JetBrains Mono', Consolas, monospace&quot; }}&gt;01 / 16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856"/>
              </a:gs>
              <a:gs pos="48000">
                <a:srgbClr val="3730A3"/>
              </a:gs>
              <a:gs pos="100000">
                <a:srgbClr val="4F46E5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1790700"/>
            <a:ext cx="571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A5B4FC"/>
                </a:solidFill>
                <a:latin typeface="JetBrains Mono"/>
                <a:ea typeface="JetBrains Mono"/>
              </a:rPr>
              <a:t>COGNITIVE COPILOT / WEEKLY TECH REPORT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2133600"/>
            <a:ext cx="57150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 spc="150">
                <a:solidFill>
                  <a:srgbClr val="FFFFFF"/>
                </a:solidFill>
                <a:latin typeface="Source Han Sans SC"/>
                <a:ea typeface="Source Han Sans SC"/>
              </a:rPr>
              <a:t>认知副驾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914400" y="3276600"/>
            <a:ext cx="9144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3552825"/>
            <a:ext cx="5715000" cy="7905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C7D2FE"/>
                </a:solidFill>
                <a:latin typeface="Source Han Sans SC"/>
                <a:ea typeface="Source Han Sans SC"/>
              </a:rPr>
              <a:t>Prompt · Harness · Loop · MCP</a:t>
            </a:r>
            <a:r>
              <a:rPr lang="zh-CN" sz="1725">
                <a:solidFill>
                  <a:srgbClr val="C7D2FE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50000"/>
              </a:lnSpc>
            </a:pPr>
            <a:r>
              <a:rPr lang="zh-CN" sz="1725">
                <a:solidFill>
                  <a:srgbClr val="C7D2FE"/>
                </a:solidFill>
                <a:latin typeface="Source Han Sans SC"/>
                <a:ea typeface="Source Han Sans SC"/>
              </a:rPr>
              <a:t>四个概念的学习与在本项目中的落地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4476750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3A6E6"/>
                </a:solidFill>
                <a:latin typeface="Source Han Sans SC"/>
                <a:ea typeface="Source Han Sans SC"/>
              </a:rPr>
              <a:t>附：手机端改造（阶段</a:t>
            </a:r>
            <a:r>
              <a:rPr lang="en-US" sz="1275">
                <a:solidFill>
                  <a:srgbClr val="93A6E6"/>
                </a:solidFill>
                <a:latin typeface="Source Han Sans SC"/>
                <a:ea typeface="Source Han Sans SC"/>
              </a:rPr>
              <a:t xml:space="preserve"> 1 · M1–M5</a:t>
            </a:r>
            <a:r>
              <a:rPr lang="zh-CN" sz="1275">
                <a:solidFill>
                  <a:srgbClr val="93A6E6"/>
                </a:solidFill>
                <a:latin typeface="Source Han Sans SC"/>
                <a:ea typeface="Source Han Sans SC"/>
              </a:rPr>
              <a:t>，接口零改动）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5114925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3A6E6"/>
                </a:solidFill>
                <a:latin typeface="Source Han Sans SC"/>
                <a:ea typeface="Source Han Sans SC"/>
              </a:rPr>
              <a:t>汇报人：（待填）　·　</a:t>
            </a:r>
            <a:r>
              <a:rPr lang="en-US" sz="1050">
                <a:solidFill>
                  <a:srgbClr val="93A6E6"/>
                </a:solidFill>
                <a:latin typeface="Source Han Sans SC"/>
                <a:ea typeface="Source Han Sans SC"/>
              </a:rPr>
              <a:t>2026-10-15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020425" y="64770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C8CD8"/>
                </a:solidFill>
                <a:latin typeface="JetBrains Mono"/>
                <a:ea typeface="JetBrains Mono"/>
              </a:rPr>
              <a:t>01 / 16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6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Text style={{ fontSize: 34, fontWeight: 'bold', color: '#1F2430', letterSpacing: 0.5 }}&gt;目录&lt;/Text&gt;&#10;        &lt;Text style={{ fontSize: 16, color: '#6B7280', paddingBottom: 6 }}&gt;本周两件事：把新学的四层概念在项目里落地，以及把项目搬进手机&lt;/Text&gt;&#10;    &lt;/Box&gt;&#10;&#10;    &lt;Box style={{ height: 544, paddingTop: 20, flexDirection: 'row', gap: 24 }}&gt;&#10;&#10;        &lt;Box style={{ width: 300, height: '100%', background: 'linear-gradient(150deg, #3730A3 0%, #4F46E5 100%)', borderRadius: 16, padding: '26px 26px', flexDirection: 'column' }}&gt;&#10;            &lt;Text style={{ fontSize: 12, color: '#A5B4FC', letterSpacing: 2, fontFamily: &quot;'JetBrains Mono', Consolas, monospace&quot; }}&gt;CATALOG&lt;/Text&gt;&#10;            &lt;Text style={{ fontSize: 42, fontWeight: 'bold', color: '#FFFFFF', marginTop: 12, letterSpacing: 2 }}&gt;目录&lt;/Text&gt;&#10;            &lt;Box style={{ height: 2, width: 56, background: '#0EA5E9', marginTop: 20 }} /&gt;&#10;            &lt;Text style={{ fontSize: 16, color: '#C7D2FE', lineHeight: 1.75, marginTop: 22 }}&gt;四章。前两章讲概念与本项目的对应位置，第三章讲 MCP，最后一章讲手机端改造与边界。&lt;/Text&gt;&#10;            &lt;Text style={{ fontSize: 13, color: '#A5B4FC', marginTop: 'auto', fontFamily: &quot;'JetBrains Mono', Consolas, monospace&quot; }}&gt;4 CHAPTERS / 16 PAGES&lt;/Text&gt;&#10;        &lt;/Box&gt;&#10;&#10;        &lt;Box style={{ flex: 1, flexDirection: 'column', gap: 14 }}&gt;&#10;&#10;            &lt;Box style={{ height: 110, flexDirection: 'row', alignItems: 'center', gap: 18, padding: '0px 24px', background: '#F6F7FB', borderRadius: 12 }}&gt;&#10;                &lt;Text style={{ fontSize: 26, fontWeight: 'bold', color: '#3730A3', fontFamily: &quot;'JetBrains Mono', Consolas, monospace&quot;, width: 46 }}&gt;01&lt;/Text&gt;&#10;                &lt;Box style={{ flexDirection: 'column', flex: 1 }}&gt;&#10;                    &lt;Text style={{ fontSize: 20, fontWeight: 'bold', color: '#1F2430' }}&gt;本周概览：改了什么&lt;/Text&gt;&#10;                    &lt;Text style={{ fontSize: 15, color: '#6B7280', marginTop: 8 }}&gt;8 次提交 · 680 项用例 · 三条实质改动&lt;/Text&gt;&#10;                &lt;/Box&gt;&#10;                &lt;Text style={{ fontSize: 15, color: '#6B7280', fontFamily: &quot;'JetBrains Mono', Consolas, monospace&quot; }}&gt;P3&lt;/Text&gt;&#10;            &lt;/Box&gt;&#10;&#10;            &lt;Box style={{ height: 110, flexDirection: 'row', alignItems: 'center', gap: 18, padding: '0px 24px', background: '#F6F7FB', borderRadius: 12 }}&gt;&#10;                &lt;Text style={{ fontSize: 26, fontWeight: 'bold', color: '#3730A3', fontFamily: &quot;'JetBrains Mono', Consolas, monospace&quot;, width: 46 }}&gt;02&lt;/Text&gt;&#10;                &lt;Box style={{ flexDirection: 'column', flex: 1 }}&gt;&#10;                    &lt;Text style={{ fontSize: 20, fontWeight: 'bold', color: '#1F2430' }}&gt;四层工程：Prompt · Context · Harness · Loop&lt;/Text&gt;&#10;                    &lt;Text style={{ fontSize: 15, color: '#6B7280', marginTop: 8 }}&gt;四个名词各自的边界，以及它们在本项目里的落点&lt;/Text&gt;&#10;                &lt;/Box&gt;&#10;                &lt;Text style={{ fontSize: 15, color: '#6B7280', fontFamily: &quot;'JetBrains Mono', Consolas, monospace&quot; }}&gt;P5&lt;/Text&gt;&#10;            &lt;/Box&gt;&#10;&#10;            &lt;Box style={{ height: 110, flexDirection: 'row', alignItems: 'center', gap: 18, padding: '0px 24px', background: '#F6F7FB', borderRadius: 12 }}&gt;&#10;                &lt;Text style={{ fontSize: 26, fontWeight: 'bold', color: '#3730A3', fontFamily: &quot;'JetBrains Mono', Consolas, monospace&quot;, width: 46 }}&gt;03&lt;/Text&gt;&#10;                &lt;Box style={{ flexDirection: 'column', flex: 1 }}&gt;&#10;                    &lt;Text style={{ fontSize: 20, fontWeight: 'bold', color: '#1F2430' }}&gt;MCP：把外部工具接进来&lt;/Text&gt;&#10;                    &lt;Text style={{ fontSize: 15, color: '#6B7280', marginTop: 8 }}&gt;一次协议、多处复用；项目里的两处实际用法&lt;/Text&gt;&#10;                &lt;/Box&gt;&#10;                &lt;Text style={{ fontSize: 15, color: '#6B7280', fontFamily: &quot;'JetBrains Mono', Consolas, monospace&quot; }}&gt;P10&lt;/Text&gt;&#10;            &lt;/Box&gt;&#10;&#10;            &lt;Box style={{ height: 110, flexDirection: 'row', alignItems: 'center', gap: 18, padding: '0px 24px', background: '#F6F7FB', borderRadius: 12 }}&gt;&#10;                &lt;Text style={{ fontSize: 26, fontWeight: 'bold', color: '#3730A3', fontFamily: &quot;'JetBrains Mono', Consolas, monospace&quot;, width: 46 }}&gt;04&lt;/Text&gt;&#10;                &lt;Box style={{ flexDirection: 'column', flex: 1 }}&gt;&#10;                    &lt;Text style={{ fontSize: 20, fontWeight: 'bold', color: '#1F2430' }}&gt;手机端改造与边界&lt;/Text&gt;&#10;                    &lt;Text style={{ fontSize: 15, color: '#6B7280', marginTop: 8 }}&gt;M1–M5 六个提交、接口零改动；以及安全边界与下一步&lt;/Text&gt;&#10;                &lt;/Box&gt;&#10;                &lt;Text style={{ fontSize: 15, color: '#6B7280', fontFamily: &quot;'JetBrains Mono', Consolas, monospace&quot; }}&gt;P12&lt;/Text&gt;&#10;            &lt;/Box&gt;&#10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02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657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934200" y="733425"/>
            <a:ext cx="4572000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本周两件事：把新学的四层概念在项目里落地，以及把项目搬进手机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85800" y="1314450"/>
            <a:ext cx="2857500" cy="49911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3730A3"/>
              </a:gs>
              <a:gs pos="100000">
                <a:srgbClr val="4F46E5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33450" y="1562100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A5B4FC"/>
                </a:solidFill>
                <a:latin typeface="JetBrains Mono"/>
                <a:ea typeface="JetBrains Mono"/>
              </a:rPr>
              <a:t>CATALOG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33450" y="1819275"/>
            <a:ext cx="23622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 spc="150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933450" y="2495550"/>
            <a:ext cx="533400" cy="1905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33450" y="2724150"/>
            <a:ext cx="23622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C7D2FE"/>
                </a:solidFill>
                <a:latin typeface="Source Han Sans SC"/>
                <a:ea typeface="Source Han Sans SC"/>
              </a:rPr>
              <a:t>四章。前两章讲概念与本项目的对应位置，第三章讲</a:t>
            </a:r>
            <a:r>
              <a:rPr lang="en-US" sz="1200">
                <a:solidFill>
                  <a:srgbClr val="C7D2FE"/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1200">
                <a:solidFill>
                  <a:srgbClr val="C7D2FE"/>
                </a:solidFill>
                <a:latin typeface="Source Han Sans SC"/>
                <a:ea typeface="Source Han Sans SC"/>
              </a:rPr>
              <a:t>，最后一章讲手机端改造与边界。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33450" y="59055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5B4FC"/>
                </a:solidFill>
                <a:latin typeface="JetBrains Mono"/>
                <a:ea typeface="JetBrains Mono"/>
              </a:rPr>
              <a:t>4 CHAPTERS / 16 PAGES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771900" y="1314450"/>
            <a:ext cx="7734300" cy="1047750"/>
          </a:xfrm>
          <a:prstGeom prst="roundRect">
            <a:avLst>
              <a:gd name="adj" fmla="val 10909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000500" y="16859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730A3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610100" y="1600200"/>
            <a:ext cx="6334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Source Han Sans SC"/>
                <a:ea typeface="Source Han Sans SC"/>
              </a:rPr>
              <a:t>本周概览：改了什么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610100" y="1905000"/>
            <a:ext cx="6334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8 </a:t>
            </a: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次提交</a:t>
            </a:r>
            <a:r>
              <a:rPr lang="en-US" sz="11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680 </a:t>
            </a: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项用例</a:t>
            </a:r>
            <a:r>
              <a:rPr lang="en-US" sz="11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三条实质改动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115675" y="1752600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JetBrains Mono"/>
                <a:ea typeface="JetBrains Mono"/>
              </a:rPr>
              <a:t>P3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3771900" y="2495550"/>
            <a:ext cx="7734300" cy="1047750"/>
          </a:xfrm>
          <a:prstGeom prst="roundRect">
            <a:avLst>
              <a:gd name="adj" fmla="val 10909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000500" y="28670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730A3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610100" y="2781300"/>
            <a:ext cx="6334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Source Han Sans SC"/>
                <a:ea typeface="Source Han Sans SC"/>
              </a:rPr>
              <a:t>四层工程：</a:t>
            </a:r>
            <a:r>
              <a:rPr lang="en-US" sz="1500" b="1">
                <a:solidFill>
                  <a:srgbClr val="1F2430"/>
                </a:solidFill>
                <a:latin typeface="Source Han Sans SC"/>
                <a:ea typeface="Source Han Sans SC"/>
              </a:rPr>
              <a:t>Prompt · Context · Harness · Loop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610100" y="3086100"/>
            <a:ext cx="6334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四个名词各自的边界，以及它们在本项目里的落点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115675" y="2933700"/>
            <a:ext cx="161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JetBrains Mono"/>
                <a:ea typeface="JetBrains Mono"/>
              </a:rPr>
              <a:t>P5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771900" y="3676650"/>
            <a:ext cx="7734300" cy="1047750"/>
          </a:xfrm>
          <a:prstGeom prst="roundRect">
            <a:avLst>
              <a:gd name="adj" fmla="val 10909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000500" y="40481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730A3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610100" y="3962400"/>
            <a:ext cx="6257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430"/>
                </a:solidFill>
                <a:latin typeface="Source Han Sans SC"/>
                <a:ea typeface="Source Han Sans SC"/>
              </a:rPr>
              <a:t>MCP</a:t>
            </a:r>
            <a:r>
              <a:rPr lang="zh-CN" sz="1500" b="1">
                <a:solidFill>
                  <a:srgbClr val="1F2430"/>
                </a:solidFill>
                <a:latin typeface="Source Han Sans SC"/>
                <a:ea typeface="Source Han Sans SC"/>
              </a:rPr>
              <a:t>：把外部工具接进来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610100" y="4267200"/>
            <a:ext cx="6257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一次协议、多处复用；项目里的两处实际用法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039475" y="4114800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JetBrains Mono"/>
                <a:ea typeface="JetBrains Mono"/>
              </a:rPr>
              <a:t>P10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3771900" y="4857750"/>
            <a:ext cx="7734300" cy="1047750"/>
          </a:xfrm>
          <a:prstGeom prst="roundRect">
            <a:avLst>
              <a:gd name="adj" fmla="val 10909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000500" y="52292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730A3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610100" y="5143500"/>
            <a:ext cx="6257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430"/>
                </a:solidFill>
                <a:latin typeface="Source Han Sans SC"/>
                <a:ea typeface="Source Han Sans SC"/>
              </a:rPr>
              <a:t>手机端改造与边界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610100" y="5448300"/>
            <a:ext cx="6257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M1–M5 </a:t>
            </a: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六个提交、接口零改动；以及安全边界与下一步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039475" y="5295900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JetBrains Mono"/>
                <a:ea typeface="JetBrains Mono"/>
              </a:rPr>
              <a:t>P12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9" name="" descr="&lt;Slide style={{ width: 1280, height: 720, position: 'relative', background: 'linear-gradient(120deg, #1B1856 0%, #3730A3 52%, #4F46E5 100%)', overflow: 'hidden', padding: 0, fontFamily: &quot;'Source Han Sans SC', 'Noto Sans SC', 'Microsoft YaHei', sans-serif&quot; }}&gt;&#10;&#10;    &lt;svg width={1280} height={720} viewBox='0 0 1280 720' style={{ position: 'absolute', top: 0, left: 0 }}&gt;&#10;        &lt;circle cx='1010' cy='300' r='268' fill='none' stroke='#A5B4FC' strokeWidth='1' opacity='0.16' /&gt;&#10;        &lt;circle cx='1010' cy='300' r='190' fill='none' stroke='#A5B4FC' strokeWidth='1' opacity='0.12' /&gt;&#10;        &lt;circle cx='1010' cy='300' r='112' fill='none' stroke='#0EA5E9' strokeWidth='1.5' opacity='0.35' /&gt;&#10;        &lt;rect x='92' y='132' width='64' height='3' fill='#0EA5E9' /&gt;&#10;    &lt;/svg&gt;&#10;&#10;    &lt;Text style={{ position: 'absolute', right: 78, top: 118, fontSize: 300, fontWeight: 'bold', color: '#FFFFFF', opacity: 0.12, lineHeight: 1, fontFamily: &quot;'JetBrains Mono', Consolas, monospace&quot; }}&gt;01&lt;/Text&gt;&#10;&#10;    &lt;Box style={{ position: 'absolute', left: 92, top: 296, flexDirection: 'column' }}&gt;&#10;        &lt;Text style={{ fontSize: 13, color: '#0EA5E9', letterSpacing: 4, fontFamily: &quot;'JetBrains Mono', Consolas, monospace&quot; }}&gt;SECTION 01&lt;/Text&gt;&#10;        &lt;Text style={{ fontSize: 60, fontWeight: 'bold', color: '#FFFFFF', letterSpacing: 1, marginTop: 18 }}&gt;本周概览：改了什么&lt;/Text&gt;&#10;        &lt;Box style={{ height: 3, width: 88, background: '#0EA5E9', marginTop: 26 }} /&gt;&#10;        &lt;Text style={{ fontSize: 19, color: '#C7D2FE', marginTop: 24 }}&gt;先把量级摆出来，再讲学到的和做到的&lt;/Text&gt;&#10;    &lt;/Box&gt;&#10;&#10;    &lt;Text style={{ position: 'absolute', right: 72, bottom: 24, fontSize: 13, color: '#7C8CD8', fontFamily: &quot;'JetBrains Mono', Consolas, monospace&quot; }}&gt;03 / 16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856"/>
              </a:gs>
              <a:gs pos="52000">
                <a:srgbClr val="3730A3"/>
              </a:gs>
              <a:gs pos="100000">
                <a:srgbClr val="4F46E5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305800" y="1123950"/>
            <a:ext cx="314325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2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76300" y="2819400"/>
            <a:ext cx="5229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0EA5E9"/>
                </a:solidFill>
                <a:latin typeface="JetBrains Mono"/>
                <a:ea typeface="JetBrains Mono"/>
              </a:rPr>
              <a:t>SECTION 01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76300" y="3143250"/>
            <a:ext cx="522922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 spc="75">
                <a:solidFill>
                  <a:srgbClr val="FFFFFF"/>
                </a:solidFill>
                <a:latin typeface="Source Han Sans SC"/>
                <a:ea typeface="Source Han Sans SC"/>
              </a:rPr>
              <a:t>本周概览：改了什么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76300" y="4076700"/>
            <a:ext cx="8382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76300" y="4333875"/>
            <a:ext cx="5229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7D2FE"/>
                </a:solidFill>
                <a:latin typeface="Source Han Sans SC"/>
                <a:ea typeface="Source Han Sans SC"/>
              </a:rPr>
              <a:t>先把量级摆出来，再讲学到的和做到的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020425" y="64770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C8CD8"/>
                </a:solidFill>
                <a:latin typeface="JetBrains Mono"/>
                <a:ea typeface="JetBrains Mono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8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1&lt;/Text&gt;&#10;            &lt;Text style={{ fontSize: 34, fontWeight: 'bold', color: '#1F2430', letterSpacing: 0.5 }}&gt;本周 8 次提交 · 全量用例 680 项&lt;/Text&gt;&#10;        &lt;/Box&gt;&#10;        &lt;Text style={{ fontSize: 16, color: '#6B7280', paddingBottom: 6 }}&gt;10-12 至 10-13&lt;/Text&gt;&#10;    &lt;/Box&gt;&#10;&#10;    &lt;Box style={{ height: 544, paddingTop: 20, flexDirection: 'column' }}&gt;&#10;&#10;        &lt;Box style={{ height: 230, flexDirection: 'row', gap: 20 }}&gt;&#10;&#10;            &lt;Box style={{ width: 400, height: '100%', background: '#F6F7FB', borderRadius: 16, padding: '22px 28px', flexDirection: 'column', justifyContent: 'center' }}&gt;&#10;                &lt;Text style={{ fontSize: 92, fontWeight: 'bold', color: '#3730A3', lineHeight: 1.0, letterSpacing: -2, fontFamily: &quot;'JetBrains Mono', Consolas, monospace&quot; }}&gt;680&lt;/Text&gt;&#10;                &lt;Text style={{ fontSize: 17, fontWeight: 'bold', color: '#1F2430', marginTop: 12 }}&gt;全量自动化用例&lt;/Text&gt;&#10;                &lt;Text style={{ fontSize: 15, color: '#6B7280', marginTop: 6 }}&gt;本周 +4 项；其中 2 项为条件跳过&lt;/Text&gt;&#10;            &lt;/Box&gt;&#10;&#10;            &lt;Box style={{ flex: 1, height: '100%', background: '#F6F7FB', borderRadius: 16, padding: '20px 24px', flexDirection: 'column' }}&gt;&#10;                &lt;Text style={{ fontSize: 15, fontWeight: 'bold', color: '#1F2430' }}&gt;用例数增长：近三次检查点只增加 20 项&lt;/Text&gt;&#10;                &lt;svg width={640} height={140} viewBox='0 0 640 140' style={{ marginTop: 12 }}&gt;&#10;                    &lt;line x1='40' y1='110' x2='610' y2='110' stroke='#E5E7EB' strokeWidth='1' /&gt;&#10;                    &lt;polyline points='40,110 180,60 320,53 460,42 590,38' fill='none' stroke='#3730A3' strokeWidth='2' /&gt;&#10;                    &lt;circle cx='40' cy='110' r='4' fill='#3730A3' /&gt;&#10;                    &lt;circle cx='180' cy='60' r='4' fill='#3730A3' /&gt;&#10;                    &lt;circle cx='320' cy='53' r='4' fill='#3730A3' /&gt;&#10;                    &lt;circle cx='460' cy='42' r='4' fill='#3730A3' /&gt;&#10;                    &lt;circle cx='590' cy='38' r='6' fill='#0EA5E9' /&gt;&#10;                    &lt;text x='40' y='100' fontSize='12' fill='#6B7280' textAnchor='middle' fontFamily='monospace'&gt;522&lt;/text&gt;&#10;                    &lt;text x='180' y='50' fontSize='12' fill='#6B7280' textAnchor='middle' fontFamily='monospace'&gt;650&lt;/text&gt;&#10;                    &lt;text x='320' y='43' fontSize='12' fill='#6B7280' textAnchor='middle' fontFamily='monospace'&gt;660&lt;/text&gt;&#10;                    &lt;text x='460' y='32' fontSize='12' fill='#6B7280' textAnchor='middle' fontFamily='monospace'&gt;676&lt;/text&gt;&#10;                    &lt;text x='590' y='28' fontSize='13' fill='#0EA5E9' textAnchor='middle' fontFamily='monospace'&gt;680&lt;/text&gt;&#10;                    &lt;text x='40' y='132' fontSize='11' fill='#6B7280' textAnchor='middle'&gt;09-23&lt;/text&gt;&#10;                    &lt;text x='180' y='132' fontSize='11' fill='#6B7280' textAnchor='middle'&gt;10-02&lt;/text&gt;&#10;                    &lt;text x='320' y='132' fontSize='11' fill='#6B7280' textAnchor='middle'&gt;10-02&lt;/text&gt;&#10;                    &lt;text x='460' y='132' fontSize='11' fill='#6B7280' textAnchor='middle'&gt;10-12&lt;/text&gt;&#10;                    &lt;text x='590' y='132' fontSize='11' fill='#6B7280' textAnchor='middle'&gt;10-13&lt;/text&gt;&#10;                &lt;/svg&gt;&#10;            &lt;/Box&gt;&#10;&#10;        &lt;/Box&gt;&#10;&#10;        &lt;Box style={{ height: 40, flexDirection: 'row', alignItems: 'center', marginTop: 18, paddingLeft: 16, background: '#EEEDFE', borderRadius: 8, borderLeft: '3px solid #0EA5E9' }}&gt;&#10;            &lt;Text style={{ fontSize: 16, color: '#1F2430' }}&gt;增量的重心已经换位：这一周不在功能数量，而在把入口和边界做干净。&lt;/Text&gt;&#10;        &lt;/Box&gt;&#10;&#10;        &lt;Box style={{ height: 218, marginTop: 18, flexDirection: 'column', gap: 13 }}&gt;&#10;&#10;            &lt;Box style={{ height: 64, flexDirection: 'row', alignItems: 'center', gap: 16, padding: '0px 20px', background: '#FFFFFF', border: '1px solid #E5E7EB', borderRadius: 10 }}&gt;&#10;                &lt;Box style={{ width: 34, height: 34, borderRadius: 10, background: '#EEEDFE', justifyContent: 'center', alignItems: 'center' }}&gt;&#10;                    &lt;Text style={{ fontSize: 14, fontWeight: 'bold', color: '#3730A3', fontFamily: &quot;'JetBrains Mono', Consolas, monospace&quot; }}&gt;01&lt;/Text&gt;&#10;                &lt;/Box&gt;&#10;                &lt;Box style={{ flexDirection: 'column', flex: 1 }}&gt;&#10;                    &lt;Text style={{ fontSize: 16, fontWeight: 'bold', color: '#1F2430' }}&gt;对话工作台新增历史侧栏&lt;/Text&gt;&#10;                    &lt;Text style={{ fontSize: 14, color: '#6B7280', marginTop: 4 }}&gt;列表 / 重命名 / 删除，首条消息自动命名；后端 13 例 + 前端渲染 17 项&lt;/Text&gt;&#10;                &lt;/Box&gt;&#10;            &lt;/Box&gt;&#10;&#10;            &lt;Box style={{ height: 64, flexDirection: 'row', alignItems: 'center', gap: 16, padding: '0px 20px', background: '#FFFFFF', border: '1px solid #E5E7EB', borderRadius: 10 }}&gt;&#10;                &lt;Box style={{ width: 34, height: 34, borderRadius: 10, background: '#EEEDFE', justifyContent: 'center', alignItems: 'center' }}&gt;&#10;                    &lt;Text style={{ fontSize: 14, fontWeight: 'bold', color: '#3730A3', fontFamily: &quot;'JetBrains Mono', Consolas, monospace&quot; }}&gt;02&lt;/Text&gt;&#10;                &lt;/Box&gt;&#10;                &lt;Box style={{ flexDirection: 'column', flex: 1 }}&gt;&#10;                    &lt;Text style={{ fontSize: 16, fontWeight: 'bold', color: '#1F2430' }}&gt;检测记录与挖掘记录不再进对话历史&lt;/Text&gt;&#10;                    &lt;Text style={{ fontSize: 14, color: '#6B7280', marginTop: 4 }}&gt;新增 kind 过滤（chat / l1 / l2 / all），读时派生、零迁移，分页在过滤之后切&lt;/Text&gt;&#10;                &lt;/Box&gt;&#10;            &lt;/Box&gt;&#10;&#10;            &lt;Box style={{ height: 64, flexDirection: 'row', alignItems: 'center', gap: 16, padding: '0px 20px', background: '#FFFFFF', border: '1px solid #E5E7EB', borderRadius: 10 }}&gt;&#10;                &lt;Box style={{ width: 34, height: 34, borderRadius: 10, background: '#EEEDFE', justifyContent: 'center', alignItems: 'center' }}&gt;&#10;                    &lt;Text style={{ fontSize: 14, fontWeight: 'bold', color: '#3730A3', fontFamily: &quot;'JetBrains Mono', Consolas, monospace&quot; }}&gt;03&lt;/Text&gt;&#10;                &lt;/Box&gt;&#10;                &lt;Box style={{ flexDirection: 'column', flex: 1 }}&gt;&#10;                    &lt;Text style={{ fontSize: 16, fontWeight: 'bold', color: '#1F2430' }}&gt;修复微信读书同步中断&lt;/Text&gt;&#10;                    &lt;Text style={{ fontSize: 14, color: '#6B7280', marginTop: 4 }}&gt;官方技能包升到 1.0.5（服务端强校验版本）；真实链路同步 2 本 / 新建 5 条 / 0 失败&lt;/Text&gt;&#10;                &lt;/Box&gt;&#10;            &lt;/Box&gt;&#10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04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4772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本周</a:t>
            </a: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8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次提交</a:t>
            </a: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全量用例</a:t>
            </a: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680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544175" y="733425"/>
            <a:ext cx="962025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20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10-12 </a:t>
            </a: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至</a:t>
            </a:r>
            <a:r>
              <a:rPr lang="en-US" sz="120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10-13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85800" y="1314450"/>
            <a:ext cx="3810000" cy="2190750"/>
          </a:xfrm>
          <a:prstGeom prst="roundRect">
            <a:avLst>
              <a:gd name="adj" fmla="val 6957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52500" y="1609725"/>
            <a:ext cx="32766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 spc="-150">
                <a:solidFill>
                  <a:srgbClr val="3730A3"/>
                </a:solidFill>
                <a:latin typeface="JetBrains Mono"/>
                <a:ea typeface="JetBrains Mono"/>
              </a:rPr>
              <a:t>680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52500" y="278130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430"/>
                </a:solidFill>
                <a:latin typeface="Source Han Sans SC"/>
                <a:ea typeface="Source Han Sans SC"/>
              </a:rPr>
              <a:t>全量自动化用例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52500" y="3038475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本周</a:t>
            </a:r>
            <a:r>
              <a:rPr lang="en-US" sz="11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+4 </a:t>
            </a: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项；其中</a:t>
            </a:r>
            <a:r>
              <a:rPr lang="en-US" sz="11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2 </a:t>
            </a:r>
            <a:r>
              <a:rPr lang="zh-CN" sz="1125">
                <a:solidFill>
                  <a:srgbClr val="6B7280"/>
                </a:solidFill>
                <a:latin typeface="Source Han Sans SC"/>
                <a:ea typeface="Source Han Sans SC"/>
              </a:rPr>
              <a:t>项为条件跳过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686300" y="1314450"/>
            <a:ext cx="6819900" cy="2190750"/>
          </a:xfrm>
          <a:prstGeom prst="roundRect">
            <a:avLst>
              <a:gd name="adj" fmla="val 6957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914900" y="1504950"/>
            <a:ext cx="636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430"/>
                </a:solidFill>
                <a:latin typeface="Source Han Sans SC"/>
                <a:ea typeface="Source Han Sans SC"/>
              </a:rPr>
              <a:t>用例数增长：近三次检查点只增加</a:t>
            </a:r>
            <a:r>
              <a:rPr lang="en-US" sz="1125" b="1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20 </a:t>
            </a:r>
            <a:r>
              <a:rPr lang="zh-CN" sz="1125" b="1">
                <a:solidFill>
                  <a:srgbClr val="1F2430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14900" y="1790700"/>
            <a:ext cx="6096000" cy="1333500"/>
          </a:xfrm>
          <a:prstGeom prst="rect">
            <a:avLst/>
          </a:prstGeom>
          <a:ln/>
        </p:spPr>
      </p:pic>
      <p:sp>
        <p:nvSpPr>
          <p:cNvPr id="201" name=""/>
          <p:cNvSpPr/>
          <p:nvPr/>
        </p:nvSpPr>
        <p:spPr>
          <a:xfrm rot="0" flipH="0" flipV="0">
            <a:off x="714375" y="36766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714375" y="3676650"/>
            <a:ext cx="10820400" cy="381000"/>
          </a:xfrm>
          <a:custGeom>
            <a:pathLst>
              <a:path w="1136" h="4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5"/>
                </a:lnTo>
                <a:cubicBezTo>
                  <a:pt x="3" y="37"/>
                  <a:pt x="5" y="39"/>
                  <a:pt x="7" y="40"/>
                </a:cubicBezTo>
                <a:cubicBezTo>
                  <a:pt x="3" y="39"/>
                  <a:pt x="0" y="36"/>
                  <a:pt x="0" y="3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66775" y="3771900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430"/>
                </a:solidFill>
                <a:latin typeface="Source Han Sans SC"/>
                <a:ea typeface="Source Han Sans SC"/>
              </a:rPr>
              <a:t>增量的重心已经换位：这一周不在功能数量，而在把入口和边界做干净。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4229100"/>
            <a:ext cx="108204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876300" y="437197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62025" y="445770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730A3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352550" y="434340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430"/>
                </a:solidFill>
                <a:latin typeface="Source Han Sans SC"/>
                <a:ea typeface="Source Han Sans SC"/>
              </a:rPr>
              <a:t>对话工作台新增历史侧栏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352550" y="4572000"/>
            <a:ext cx="996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列表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重命名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删除，首条消息自动命名；后端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13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例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前端渲染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17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85800" y="4962525"/>
            <a:ext cx="108204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76300" y="51054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62025" y="51911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730A3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352550" y="507682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430"/>
                </a:solidFill>
                <a:latin typeface="Source Han Sans SC"/>
                <a:ea typeface="Source Han Sans SC"/>
              </a:rPr>
              <a:t>检测记录与挖掘记录不再进对话历史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352550" y="5305425"/>
            <a:ext cx="996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新增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kind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过滤（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>chat / l1 / l2 / all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），读时派生、零迁移，分页在过滤之后切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85800" y="5695950"/>
            <a:ext cx="108204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876300" y="583882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62025" y="59245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730A3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352550" y="581025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430"/>
                </a:solidFill>
                <a:latin typeface="Source Han Sans SC"/>
                <a:ea typeface="Source Han Sans SC"/>
              </a:rPr>
              <a:t>修复微信读书同步中断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352550" y="6038850"/>
            <a:ext cx="996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官方技能包升到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1.0.5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（服务端强校验版本）；真实链路同步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2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本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新建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条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失败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1" name="" descr="&lt;Slide style={{ width: 1280, height: 720, position: 'relative', background: 'linear-gradient(120deg, #1B1856 0%, #3730A3 52%, #4F46E5 100%)', overflow: 'hidden', padding: 0, fontFamily: &quot;'Source Han Sans SC', 'Noto Sans SC', 'Microsoft YaHei', sans-serif&quot; }}&gt;&#10;&#10;    &lt;svg width={1280} height={720} viewBox='0 0 1280 720' style={{ position: 'absolute', top: 0, left: 0 }}&gt;&#10;        &lt;circle cx='1010' cy='300' r='268' fill='none' stroke='#A5B4FC' strokeWidth='1' opacity='0.16' /&gt;&#10;        &lt;circle cx='1010' cy='300' r='190' fill='none' stroke='#A5B4FC' strokeWidth='1' opacity='0.12' /&gt;&#10;        &lt;circle cx='1010' cy='300' r='112' fill='none' stroke='#0EA5E9' strokeWidth='1.5' opacity='0.35' /&gt;&#10;        &lt;rect x='92' y='132' width='64' height='3' fill='#0EA5E9' /&gt;&#10;    &lt;/svg&gt;&#10;&#10;    &lt;Text style={{ position: 'absolute', right: 78, top: 118, fontSize: 300, fontWeight: 'bold', color: '#FFFFFF', opacity: 0.12, lineHeight: 1, fontFamily: &quot;'JetBrains Mono', Consolas, monospace&quot; }}&gt;02&lt;/Text&gt;&#10;&#10;    &lt;Box style={{ position: 'absolute', left: 92, top: 268, width: 620, flexDirection: 'column' }}&gt;&#10;        &lt;Text style={{ fontSize: 13, color: '#0EA5E9', letterSpacing: 4, fontFamily: &quot;'JetBrains Mono', Consolas, monospace&quot; }}&gt;SECTION 02&lt;/Text&gt;&#10;        &lt;Text style={{ fontSize: 60, fontWeight: 'bold', color: '#FFFFFF', letterSpacing: 1, marginTop: 18 }}&gt;四层工程&lt;/Text&gt;&#10;        &lt;Text style={{ fontSize: 26, color: '#C7D2FE', fontWeight: 'bold', marginTop: 10, letterSpacing: 1 }}&gt;Prompt · Context · Harness · Loop&lt;/Text&gt;&#10;        &lt;Box style={{ height: 3, width: 88, background: '#0EA5E9', marginTop: 26 }} /&gt;&#10;        &lt;Text style={{ fontSize: 19, color: '#C7D2FE', marginTop: 24 }}&gt;它们不是互相替代，是四个嵌套的控制面&lt;/Text&gt;&#10;    &lt;/Box&gt;&#10;&#10;    &lt;Text style={{ position: 'absolute', right: 72, bottom: 24, fontSize: 13, color: '#7C8CD8', fontFamily: &quot;'JetBrains Mono', Consolas, monospace&quot; }}&gt;05 / 16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856"/>
              </a:gs>
              <a:gs pos="52000">
                <a:srgbClr val="3730A3"/>
              </a:gs>
              <a:gs pos="100000">
                <a:srgbClr val="4F46E5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05800" y="1123950"/>
            <a:ext cx="314325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2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76300" y="2552700"/>
            <a:ext cx="590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0EA5E9"/>
                </a:solidFill>
                <a:latin typeface="JetBrains Mono"/>
                <a:ea typeface="JetBrains Mono"/>
              </a:rPr>
              <a:t>SECTION 02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76300" y="2876550"/>
            <a:ext cx="5905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 spc="75">
                <a:solidFill>
                  <a:srgbClr val="FFFFFF"/>
                </a:solidFill>
                <a:latin typeface="Source Han Sans SC"/>
                <a:ea typeface="Source Han Sans SC"/>
              </a:rPr>
              <a:t>四层工程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76300" y="3657600"/>
            <a:ext cx="5905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75">
                <a:solidFill>
                  <a:srgbClr val="C7D2FE"/>
                </a:solidFill>
                <a:latin typeface="Source Han Sans SC"/>
                <a:ea typeface="Source Han Sans SC"/>
              </a:rPr>
              <a:t>Prompt · Context · Harness · Loop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76300" y="4210050"/>
            <a:ext cx="8382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76300" y="4467225"/>
            <a:ext cx="590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7D2FE"/>
                </a:solidFill>
                <a:latin typeface="Source Han Sans SC"/>
                <a:ea typeface="Source Han Sans SC"/>
              </a:rPr>
              <a:t>它们不是互相替代，是四个嵌套的控制面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020425" y="64770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C8CD8"/>
                </a:solidFill>
                <a:latin typeface="JetBrains Mono"/>
                <a:ea typeface="JetBrains Mono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1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2&lt;/Text&gt;&#10;            &lt;Text style={{ fontSize: 34, fontWeight: 'bold', color: '#1F2430', letterSpacing: 0.5 }}&gt;四层同一个模型：工作单元从一条消息到一整个目标&lt;/Text&gt;&#10;        &lt;/Box&gt;&#10;    &lt;/Box&gt;&#10;&#10;    &lt;Box style={{ height: 544, paddingTop: 20, flexDirection: 'row', gap: 24 }}&gt;&#10;&#10;        &lt;Box style={{ width: 700, height: '100%', background: '#F6F7FB', borderRadius: 16 }}&gt;&#10;            &lt;svg width={700} height={520} viewBox='0 0 700 520' style={{ marginTop: 2 }}&gt;&#10;                &lt;rect x='60' y='35' width='580' height='450' rx='30' fill='none' stroke='#3730A3' strokeWidth='1' opacity='0.22' /&gt;&#10;                &lt;rect x='125' y='85' width='450' height='350' rx='26' fill='none' stroke='#3730A3' strokeWidth='1' opacity='0.36' /&gt;&#10;                &lt;rect x='190' y='135' width='320' height='250' rx='22' fill='none' stroke='#3730A3' strokeWidth='1' opacity='0.52' /&gt;&#10;                &lt;rect x='260' y='185' width='180' height='150' rx='18' fill='#EEEDFE' opacity='0.85' stroke='#3730A3' strokeWidth='1' /&gt;&#10;                &lt;rect x='305' y='228' width='90' height='64' rx='12' fill='#0EA5E9' /&gt;&#10;                &lt;text x='350' y='267' fontSize='17' fontWeight='bold' fill='#FFFFFF' textAnchor='middle' fontFamily='sans-serif'&gt;Model&lt;/text&gt;&#10;&#10;                &lt;text x='74' y='60' fontSize='16' fontWeight='bold' fill='#3730A3'&gt;Loop&lt;tspan fontSize='13' fontWeight='normal' fill='#6B7280'&gt; · 一个目标的生命周期&lt;/tspan&gt;&lt;/text&gt;&#10;                &lt;text x='139' y='110' fontSize='16' fontWeight='bold' fill='#3730A3'&gt;Harness&lt;tspan fontSize='13' fontWeight='normal' fill='#6B7280'&gt; · 一次运行&lt;/tspan&gt;&lt;/text&gt;&#10;                &lt;text x='204' y='160' fontSize='16' fontWeight='bold' fill='#3730A3'&gt;Context&lt;tspan fontSize='13' fontWeight='normal' fill='#6B7280'&gt; · 一轮窗口&lt;/tspan&gt;&lt;/text&gt;&#10;                &lt;text x='272' y='210' fontSize='16' fontWeight='bold' fill='#3730A3'&gt;Prompt&lt;tspan fontSize='13' fontWeight='normal' fill='#6B7280'&gt; · 一条消息&lt;/tspan&gt;&lt;/text&gt;&#10;&#10;                &lt;text x='74' y='466' fontSize='13' fill='#6B7280'&gt;层与层不替代：外层管更长的时间尺度，内层管更细的执行细节。&lt;/text&gt;&#10;            &lt;/svg&gt;&#10;        &lt;/Box&gt;&#10;&#10;        &lt;Box style={{ flex: 1, height: '100%', flexDirection: 'column' }}&gt;&#10;            &lt;Text style={{ fontSize: 18, fontWeight: 'bold', color: '#1F2430' }}&gt;症状落在哪一层，就去修哪一层&lt;/Text&gt;&#10;&#10;            &lt;Box style={{ flexDirection: 'column', gap: 10, marginTop: 16 }}&gt;&#10;                &lt;Box style={{ height: 68, flexDirection: 'row', alignItems: 'center', justifyContent: 'space-between', padding: '0px 16px', background: '#F6F7FB', borderRadius: 10 }}&gt;&#10;                    &lt;Text style={{ fontSize: 15, color: '#1F2430', width: 220 }}&gt;输出格式漂移、字段对不上&lt;/Text&gt;&#10;                    &lt;Text style={{ fontSize: 13, fontWeight: 'bold', color: '#3730A3', fontFamily: &quot;'JetBrains Mono', Consolas, monospace&quot; }}&gt;Prompt&lt;/Text&gt;&#10;                &lt;/Box&gt;&#10;                &lt;Box style={{ height: 68, flexDirection: 'row', alignItems: 'center', justifyContent: 'space-between', padding: '0px 16px', background: '#F6F7FB', borderRadius: 10 }}&gt;&#10;                    &lt;Text style={{ fontSize: 15, color: '#1F2430', width: 220 }}&gt;答得挺顺，但证据缺失、无出处&lt;/Text&gt;&#10;                    &lt;Text style={{ fontSize: 13, fontWeight: 'bold', color: '#3730A3', fontFamily: &quot;'JetBrains Mono', Consolas, monospace&quot; }}&gt;Context&lt;/Text&gt;&#10;                &lt;/Box&gt;&#10;                &lt;Box style={{ height: 68, flexDirection: 'row', alignItems: 'center', justifyContent: 'space-between', padding: '0px 16px', background: '#F6F7FB', borderRadius: 10 }}&gt;&#10;                    &lt;Text style={{ fontSize: 15, color: '#1F2430', width: 220 }}&gt;动作不安全、重复触发、没回执&lt;/Text&gt;&#10;                    &lt;Text style={{ fontSize: 13, fontWeight: 'bold', color: '#3730A3', fontFamily: &quot;'JetBrains Mono', Consolas, monospace&quot; }}&gt;Harness&lt;/Text&gt;&#10;                &lt;/Box&gt;&#10;                &lt;Box style={{ height: 68, flexDirection: 'row', alignItems: 'center', justifyContent: 'space-between', padding: '0px 16px', background: '#EEEDFE', borderRadius: 10 }}&gt;&#10;                    &lt;Text style={{ fontSize: 15, color: '#1F2430', width: 220 }}&gt;反复空转、或过早宣布完成&lt;/Text&gt;&#10;                    &lt;Text style={{ fontSize: 13, fontWeight: 'bold', color: '#0EA5E9', fontFamily: &quot;'JetBrains Mono', Consolas, monospace&quot; }}&gt;Loop&lt;/Text&gt;&#10;                &lt;/Box&gt;&#10;            &lt;/Box&gt;&#10;&#10;            &lt;Box style={{ marginTop: 'auto', background: '#EEEDFE', borderLeft: '3px solid #0EA5E9', borderRadius: 8, padding: '14px 16px' }}&gt;&#10;                &lt;Text style={{ fontSize: 15, color: '#1F2430', lineHeight: 1.6 }}&gt;先问「哪个契约是假的」，再问「该改哪句提示词」。顺序反了，就会用改措辞的办法去修一个根本不在措辞层的问题。&lt;/Text&gt;&#10;            &lt;/Box&gt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06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7562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四层同一个模型：工作单元从一条消息到一整个目标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85800" y="1314450"/>
            <a:ext cx="6667500" cy="4991100"/>
          </a:xfrm>
          <a:prstGeom prst="roundRect">
            <a:avLst>
              <a:gd name="adj" fmla="val 3053"/>
            </a:avLst>
          </a:prstGeom>
          <a:solidFill>
            <a:srgbClr val="F6F7FB"/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333500"/>
            <a:ext cx="6667500" cy="495300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581900" y="1314450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症状落在哪一层，就去修哪一层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581900" y="1676400"/>
            <a:ext cx="3924300" cy="647700"/>
          </a:xfrm>
          <a:prstGeom prst="roundRect">
            <a:avLst>
              <a:gd name="adj" fmla="val 14706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734300" y="191452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输出格式漂移、字段对不上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0944225" y="1924050"/>
            <a:ext cx="40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581900" y="2419350"/>
            <a:ext cx="3924300" cy="647700"/>
          </a:xfrm>
          <a:prstGeom prst="roundRect">
            <a:avLst>
              <a:gd name="adj" fmla="val 14706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734300" y="26574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答得挺顺，但证据缺失、无出处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0868025" y="26670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Context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7581900" y="3162300"/>
            <a:ext cx="3924300" cy="647700"/>
          </a:xfrm>
          <a:prstGeom prst="roundRect">
            <a:avLst>
              <a:gd name="adj" fmla="val 14706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734300" y="340042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动作不安全、重复触发、没回执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0868025" y="34099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Harness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581900" y="3905250"/>
            <a:ext cx="3924300" cy="647700"/>
          </a:xfrm>
          <a:prstGeom prst="roundRect">
            <a:avLst>
              <a:gd name="adj" fmla="val 14706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734300" y="41433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反复空转、或过早宣布完成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077575" y="4152900"/>
            <a:ext cx="276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A5E9"/>
                </a:solidFill>
                <a:latin typeface="JetBrains Mono"/>
                <a:ea typeface="JetBrains Mono"/>
              </a:rPr>
              <a:t>Loop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7610475" y="5210175"/>
            <a:ext cx="3924300" cy="1095375"/>
          </a:xfrm>
          <a:prstGeom prst="roundRect">
            <a:avLst>
              <a:gd name="adj" fmla="val 6957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7610475" y="5210175"/>
            <a:ext cx="3924300" cy="1095375"/>
          </a:xfrm>
          <a:custGeom>
            <a:pathLst>
              <a:path w="412" h="11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10"/>
                </a:lnTo>
                <a:cubicBezTo>
                  <a:pt x="3" y="112"/>
                  <a:pt x="5" y="114"/>
                  <a:pt x="7" y="115"/>
                </a:cubicBezTo>
                <a:cubicBezTo>
                  <a:pt x="3" y="114"/>
                  <a:pt x="0" y="111"/>
                  <a:pt x="0" y="10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762875" y="5343525"/>
            <a:ext cx="35909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先问「哪个契约是假的」，再问「该改哪句提示词」。顺序反了，就会用改措辞的办法去修一个根本不在措辞层的问题。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2&lt;/Text&gt;&#10;            &lt;Text style={{ fontSize: 34, fontWeight: 'bold', color: '#1F2430', letterSpacing: 0.5 }}&gt;Prompt 与 Context：把「怎么说」和「给什么看」分开&lt;/Text&gt;&#10;        &lt;/Box&gt;&#10;    &lt;/Box&gt;&#10;&#10;    &lt;Box style={{ height: 544, paddingTop: 20, flexDirection: 'row', gap: 20 }}&gt;&#10;&#10;        &lt;Box style={{ width: 340, height: '100%', background: '#3730A3', borderRadius: 16, padding: '26px 26px', flexDirection: 'column' }}&gt;&#10;            &lt;Text style={{ fontSize: 12, color: '#A5B4FC', letterSpacing: 2, fontFamily: &quot;'JetBrains Mono', Consolas, monospace&quot; }}&gt;LAYER 01 / 02&lt;/Text&gt;&#10;            &lt;Text style={{ fontSize: 30, fontWeight: 'bold', color: '#FFFFFF', lineHeight: 1.35, marginTop: 14 }}&gt;Prompt 与&lt;br /&gt;Context&lt;/Text&gt;&#10;            &lt;Box style={{ height: 2, width: 56, background: '#0EA5E9', marginTop: 20 }} /&gt;&#10;            &lt;Text style={{ fontSize: 15, color: '#C7D2FE', lineHeight: 1.75, marginTop: 20 }}&gt;一个管「一条消息怎么写」，一个管「这一轮给它看什么」。混在一起谈，就会出现「改措辞去修证据缺失」这种南辕北辙。&lt;/Text&gt;&#10;            &lt;Text style={{ fontSize: 13, color: '#A5B4FC', marginTop: 'auto', fontFamily: &quot;'JetBrains Mono', Consolas, monospace&quot; }}&gt;ONE MESSAGE / ONE TURN&lt;/Text&gt;&#10;        &lt;/Box&gt;&#10;&#10;        &lt;Box style={{ flex: 1, height: '100%', flexDirection: 'column', gap: 16 }}&gt;&#10;&#10;            &lt;Box style={{ height: 254, background: '#F6F7FB', borderRadius: 12, padding: '18px 22px', flexDirection: 'column' }}&gt;&#10;                &lt;Box style={{ flexDirection: 'row', alignItems: 'center', gap: 10 }}&gt;&#10;                    &lt;Box style={{ width: 28, height: 28, borderRadius: 8, background: '#3730A3', justifyContent: 'center', alignItems: 'center' }}&gt;&#10;                        &lt;Text style={{ fontSize: 13, fontWeight: 'bold', color: '#FFFFFF', fontFamily: &quot;'JetBrains Mono', Consolas, monospace&quot; }}&gt;P&lt;/Text&gt;&#10;                    &lt;/Box&gt;&#10;                    &lt;Text style={{ fontSize: 18, fontWeight: 'bold', color: '#1F2430' }}&gt;Prompt · 一条消息的措辞与形状&lt;/Text&gt;&#10;                &lt;/Box&gt;&#10;                &lt;Text style={{ fontSize: 13, fontWeight: 'bold', color: '#3730A3', marginTop: 12, letterSpacing: 1 }}&gt;项目里的落点&lt;/Text&gt;&#10;                &lt;Text style={{ fontSize: 15, color: '#1F2430', lineHeight: 1.65, marginTop: 6 }}&gt;各能力的提示词模板与卡片文案口径；输出形状不手写 Schema，而是由数据模型自动派生——手写 9 份的结果一定是改一处忘一处。&lt;/Text&gt;&#10;                &lt;Box style={{ marginTop: 'auto', background: '#EEEDFE', borderRadius: 8, padding: '10px 14px' }}&gt;&#10;                    &lt;Text style={{ fontSize: 14, color: '#1F2430', lineHeight: 1.55 }}&gt;判断：「必须是什么形状」讲给服务端听，比事后在本地修补可靠。&lt;/Text&gt;&#10;                &lt;/Box&gt;&#10;            &lt;/Box&gt;&#10;&#10;            &lt;Box style={{ height: 254, background: '#F6F7FB', borderRadius: 12, padding: '18px 22px', flexDirection: 'column' }}&gt;&#10;                &lt;Box style={{ flexDirection: 'row', alignItems: 'center', gap: 10 }}&gt;&#10;                    &lt;Box style={{ width: 28, height: 28, borderRadius: 8, background: '#0EA5E9', justifyContent: 'center', alignItems: 'center' }}&gt;&#10;                        &lt;Text style={{ fontSize: 13, fontWeight: 'bold', color: '#FFFFFF', fontFamily: &quot;'JetBrains Mono', Consolas, monospace&quot; }}&gt;C&lt;/Text&gt;&#10;                    &lt;/Box&gt;&#10;                    &lt;Text style={{ fontSize: 18, fontWeight: 'bold', color: '#1F2430' }}&gt;Context · 一轮窗口里留下什么&lt;/Text&gt;&#10;                &lt;/Box&gt;&#10;                &lt;Text style={{ fontSize: 13, fontWeight: 'bold', color: '#3730A3', marginTop: 12, letterSpacing: 1 }}&gt;项目里的落点&lt;/Text&gt;&#10;                &lt;Text style={{ fontSize: 15, color: '#1F2430', lineHeight: 1.65, marginTop: 6 }}&gt;检索 top-k 与相关性阈值（余弦 ≥ 0.45 才注入）、注入条数硬上限；本周的变化是把冲突&lt;span style={{ fontWeight: 'bold' }}&gt;双方的具体主张&lt;/span&gt;写进简报与诊断，此前上层只拿到一个计数。&lt;/Text&gt;&#10;                &lt;Box style={{ marginTop: 'auto', background: '#EEEDFE', borderRadius: 8, padding: '10px 14px' }}&gt;&#10;                    &lt;Text style={{ fontSize: 14, color: '#1F2430', lineHeight: 1.55 }}&gt;判断：阈值与条数是两种闸门——一个管「相关」，一个管「预算」。&lt;/Text&gt;&#10;                &lt;/Box&gt;&#10;            &lt;/Box&gt;&#10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07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7991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与</a:t>
            </a: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Context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：把「怎么说」和「给什么看」分开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85800" y="1314450"/>
            <a:ext cx="3238500" cy="4991100"/>
          </a:xfrm>
          <a:prstGeom prst="roundRect">
            <a:avLst>
              <a:gd name="adj" fmla="val 4706"/>
            </a:avLst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33450" y="1562100"/>
            <a:ext cx="2743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A5B4FC"/>
                </a:solidFill>
                <a:latin typeface="JetBrains Mono"/>
                <a:ea typeface="JetBrains Mono"/>
              </a:rPr>
              <a:t>LAYER 01 / 02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33450" y="1838325"/>
            <a:ext cx="2743200" cy="933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与</a:t>
            </a:r>
            <a:endParaRPr/>
          </a:p>
          <a:p>
            <a:pPr>
              <a:lnSpc>
                <a:spcPct val="135000"/>
              </a:lnSpc>
            </a:pP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Context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933450" y="2962275"/>
            <a:ext cx="533400" cy="1905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33450" y="3171825"/>
            <a:ext cx="27432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C7D2FE"/>
                </a:solidFill>
                <a:latin typeface="Source Han Sans SC"/>
                <a:ea typeface="Source Han Sans SC"/>
              </a:rPr>
              <a:t>一个管「一条消息怎么写」，一个管「这一轮给它看什么」。混在一起谈，就会出现「改措辞去修证据缺失」这种南辕北辙。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33450" y="5905500"/>
            <a:ext cx="274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5B4FC"/>
                </a:solidFill>
                <a:latin typeface="JetBrains Mono"/>
                <a:ea typeface="JetBrains Mono"/>
              </a:rPr>
              <a:t>ONE MESSAGE / ONE TURN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4114800" y="1314450"/>
            <a:ext cx="7391400" cy="2419350"/>
          </a:xfrm>
          <a:prstGeom prst="roundRect">
            <a:avLst>
              <a:gd name="adj" fmla="val 4724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4324350" y="14859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419600" y="15430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P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686300" y="1514475"/>
            <a:ext cx="253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一条消息的措辞与形状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324350" y="1866900"/>
            <a:ext cx="697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730A3"/>
                </a:solidFill>
                <a:latin typeface="Source Han Sans SC"/>
                <a:ea typeface="Source Han Sans SC"/>
              </a:rPr>
              <a:t>项目里的落点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324350" y="2076450"/>
            <a:ext cx="6972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各能力的提示词模板与卡片文案口径；输出形状不手写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Schema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，而是由数据模型自动派生——手写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9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份的结果一定是改一处忘一处。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4324350" y="3114675"/>
            <a:ext cx="6972300" cy="447675"/>
          </a:xfrm>
          <a:prstGeom prst="roundRect">
            <a:avLst>
              <a:gd name="adj" fmla="val 17021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457700" y="3209925"/>
            <a:ext cx="67056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判断：「必须是什么形状」讲给服务端听，比事后在本地修补可靠。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4114800" y="3886200"/>
            <a:ext cx="7391400" cy="2419350"/>
          </a:xfrm>
          <a:prstGeom prst="roundRect">
            <a:avLst>
              <a:gd name="adj" fmla="val 4724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4324350" y="40576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419600" y="41148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686300" y="408622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Context · </a:t>
            </a: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一轮窗口里留下什么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324350" y="4438650"/>
            <a:ext cx="697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3730A3"/>
                </a:solidFill>
                <a:latin typeface="Source Han Sans SC"/>
                <a:ea typeface="Source Han Sans SC"/>
              </a:rPr>
              <a:t>项目里的落点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324350" y="4648200"/>
            <a:ext cx="6972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检索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top-k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与相关性阈值（余弦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≥ 0.45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才注入）、注入条数硬上限；本周的变化是把冲突</a:t>
            </a:r>
            <a:r>
              <a:rPr lang="zh-CN" sz="1125" b="1">
                <a:solidFill>
                  <a:srgbClr val="1F2430"/>
                </a:solidFill>
                <a:latin typeface="Source Han Sans SC"/>
                <a:ea typeface="Source Han Sans SC"/>
              </a:rPr>
              <a:t>双方的具体主张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写进简报与诊断，此前上层只拿到一个计数。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4324350" y="5686425"/>
            <a:ext cx="6972300" cy="447675"/>
          </a:xfrm>
          <a:prstGeom prst="roundRect">
            <a:avLst>
              <a:gd name="adj" fmla="val 17021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457700" y="5781675"/>
            <a:ext cx="67056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判断：阈值与条数是两种闸门——一个管「相关」，一个管「预算」。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5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2&lt;/Text&gt;&#10;            &lt;Text style={{ fontSize: 34, fontWeight: 'bold', color: '#1F2430', letterSpacing: 0.5 }}&gt;Harness：模型之外的那台运行机器&lt;/Text&gt;&#10;        &lt;/Box&gt;&#10;        &lt;Text style={{ fontSize: 16, color: '#6B7280', paddingBottom: 6 }}&gt;「对话即入口」本身就是一台 harness&lt;/Text&gt;&#10;    &lt;/Box&gt;&#10;&#10;    &lt;Box style={{ height: 544, paddingTop: 20, flexDirection: 'column' }}&gt;&#10;&#10;        &lt;Box style={{ height: 320, background: '#F6F7FB', borderRadius: 16 }}&gt;&#10;            &lt;svg width={1136} height={320} viewBox='0 0 1136 320'&gt;&#10;                &lt;defs&gt;&#10;                    &lt;marker id='ar' viewBox='0 0 10 10' refX='8' refY='5' markerWidth='6' markerHeight='6' orient='auto-start-reverse'&gt;&#10;                        &lt;path d='M2 1L8 5L2 9' fill='none' stroke='#3730A3' strokeWidth='1.5' strokeLinecap='round' strokeLinejoin='round' /&gt;&#10;                    &lt;/marker&gt;&#10;                    &lt;marker id='ar2' viewBox='0 0 10 10' refX='8' refY='5' markerWidth='6' markerHeight='6' orient='auto-start-reverse'&gt;&#10;                        &lt;path d='M2 1L8 5L2 9' fill='none' stroke='#0EA5E9' strokeWidth='1.5' strokeLinecap='round' strokeLinejoin='round' /&gt;&#10;                    &lt;/marker&gt;&#10;                &lt;/defs&gt;&#10;&#10;                &lt;text x='50' y='44' fontSize='15' fontWeight='bold' fill='#3730A3'&gt;一次对话回合 ＝ 一次 Harness 运行&lt;/text&gt;&#10;                &lt;text x='50' y='68' fontSize='13' fill='#6B7280'&gt;每一步都在模型之外，负责权限、状态与可恢复性——不负责措辞&lt;/text&gt;&#10;&#10;                &lt;rect x='50' y='100' width='180' height='88' rx='12' fill='#EEEDFE' stroke='#3730A3' strokeWidth='1' /&gt;&#10;                &lt;text x='140' y='138' fontSize='15' fontWeight='bold' fill='#1F2430' textAnchor='middle'&gt;意图路由&lt;/text&gt;&#10;                &lt;text x='140' y='162' fontSize='12' fill='#6B7280' textAnchor='middle'&gt;命令式走本地规则&lt;/text&gt;&#10;&#10;                &lt;rect x='264' y='100' width='180' height='88' rx='12' fill='#EEEDFE' stroke='#3730A3' strokeWidth='1' /&gt;&#10;                &lt;text x='354' y='138' fontSize='15' fontWeight='bold' fill='#1F2430' textAnchor='middle'&gt;能力分发&lt;/text&gt;&#10;                &lt;text x='354' y='162' fontSize='12' fill='#6B7280' textAnchor='middle'&gt;10 项能力分发表&lt;/text&gt;&#10;&#10;                &lt;rect x='478' y='100' width='180' height='88' rx='12' fill='#EEEDFE' stroke='#0EA5E9' strokeWidth='1.5' /&gt;&#10;                &lt;text x='568' y='138' fontSize='15' fontWeight='bold' fill='#1F2430' textAnchor='middle'&gt;前提检查&lt;/text&gt;&#10;                &lt;text x='568' y='162' fontSize='12' fill='#6B7280' textAnchor='middle'&gt;缺 Key / 缺目标不发卡&lt;/text&gt;&#10;&#10;                &lt;rect x='692' y='100' width='180' height='88' rx='12' fill='#EEEDFE' stroke='#3730A3' strokeWidth='1' /&gt;&#10;                &lt;text x='782' y='138' fontSize='15' fontWeight='bold' fill='#1F2430' textAnchor='middle'&gt;执行&lt;/text&gt;&#10;                &lt;text x='782' y='162' fontSize='12' fill='#6B7280' textAnchor='middle'&gt;同步，或转后台&lt;/text&gt;&#10;&#10;                &lt;rect x='906' y='100' width='180' height='88' rx='12' fill='#EEEDFE' stroke='#3730A3' strokeWidth='1' /&gt;&#10;                &lt;text x='996' y='138' fontSize='15' fontWeight='bold' fill='#1F2430' textAnchor='middle'&gt;卡片回写&lt;/text&gt;&#10;                &lt;text x='996' y='162' fontSize='12' fill='#6B7280' textAnchor='middle'&gt;结果落回会话消息&lt;/text&gt;&#10;&#10;                &lt;line x1='232' y1='144' x2='260' y2='144' stroke='#3730A3' strokeWidth='1.5' markerEnd='url(#ar)' /&gt;&#10;                &lt;line x1='446' y1='144' x2='474' y2='144' stroke='#3730A3' strokeWidth='1.5' markerEnd='url(#ar)' /&gt;&#10;                &lt;line x1='660' y1='144' x2='688' y2='144' stroke='#3730A3' strokeWidth='1.5' markerEnd='url(#ar)' /&gt;&#10;                &lt;line x1='874' y1='144' x2='902' y2='144' stroke='#3730A3' strokeWidth='1.5' markerEnd='url(#ar)' /&gt;&#10;&#10;                &lt;rect x='478' y='228' width='180' height='56' rx='12' fill='#FFFFFF' stroke='#0EA5E9' strokeWidth='1.5' /&gt;&#10;                &lt;text x='568' y='252' fontSize='14' fontWeight='bold' fill='#0EA5E9' textAnchor='middle'&gt;后台 worker&lt;/text&gt;&#10;                &lt;text x='568' y='272' fontSize='12' fill='#6B7280' textAnchor='middle'&gt;跑完就地改写那条消息&lt;/text&gt;&#10;&#10;                &lt;line x1='568' y1='188' x2='568' y2='224' stroke='#0EA5E9' strokeWidth='1.5' markerEnd='url(#ar2)' /&gt;&#10;                &lt;path d='M 568 284 L 568 302 L 996 302 L 996 192' fill='none' stroke='#0EA5E9' strokeWidth='1.5' strokeDasharray='4 4' markerEnd='url(#ar2)' /&gt;&#10;            &lt;/svg&gt;&#10;        &lt;/Box&gt;&#10;&#10;        &lt;Box style={{ height: 188, marginTop: 16, flexDirection: 'row', gap: 20 }}&gt;&#10;&#10;            &lt;Box style={{ width: 720, height: '100%', background: '#FFFFFF', border: '1px solid #E5E7EB', borderRadius: 12, padding: '16px 22px', flexDirection: 'column' }}&gt;&#10;                &lt;Text style={{ fontSize: 16, fontWeight: 'bold', color: '#1F2430' }}&gt;Harness 在本项目里的三件事&lt;/Text&gt;&#10;                &lt;Box style={{ flexDirection: 'column', gap: 8, marginTop: 10 }}&gt;&#10;                    &lt;Text style={{ fontSize: 14, color: '#1F2430', lineHeight: 1.5 }}&gt;&lt;span style={{ fontWeight: 'bold', color: '#3730A3' }}&gt;权限　&lt;/span&gt;本地规则能判的绝不问模型；判不出来才调，且该调用固定关掉思考模式——因为它每轮都跑。&lt;/Text&gt;&#10;                    &lt;Text style={{ fontSize: 14, color: '#1F2430', lineHeight: 1.5 }}&gt;&lt;span style={{ fontWeight: 'bold', color: '#3730A3' }}&gt;状态　&lt;/span&gt;异步不引新表、不引消息队列，状态直接落在会话消息上：先写「进行中」，跑完就地改成结果。&lt;/Text&gt;&#10;                    &lt;Text style={{ fontSize: 14, color: '#1F2430', lineHeight: 1.5 }}&gt;&lt;span style={{ fontWeight: 'bold', color: '#3730A3' }}&gt;恢复　&lt;/span&gt;没有后台进程时自动退回同步执行，任务失败落成失败卡并给重试落点，而不是永远转圈。&lt;/Text&gt;&#10;                &lt;/Box&gt;&#10;            &lt;/Box&gt;&#10;&#10;            &lt;Box style={{ flex: 1, height: '100%', background: '#EEEDFE', borderRadius: 12, padding: '16px 20px', flexDirection: 'column', justifyContent: 'center' }}&gt;&#10;                &lt;Text style={{ fontSize: 15, color: '#1F2430', lineHeight: 1.7 }}&gt;Harness 出错要修补的是系统，让同一类错误&lt;span style={{ fontWeight: 'bold' }}&gt;不再发生&lt;/span&gt;；Prompt 出错改一句话术就行——两者不能混着修。&lt;/Text&gt;&#10;            &lt;/Box&gt;&#10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08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5133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Harness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：模型之外的那台运行机器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963025" y="733425"/>
            <a:ext cx="2543175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「对话即入口」本身就是一台</a:t>
            </a:r>
            <a:r>
              <a:rPr lang="en-US" sz="120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harness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85800" y="1314450"/>
            <a:ext cx="10820400" cy="304800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/>
        </p:spPr>
        <p:txBody>
          <a:bodyPr/>
          <a:p/>
        </p:txBody>
      </p:sp>
      <p:pic>
        <p:nvPicPr>
          <p:cNvPr id="2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314450"/>
            <a:ext cx="10820400" cy="3048000"/>
          </a:xfrm>
          <a:prstGeom prst="rect">
            <a:avLst/>
          </a:prstGeom>
          <a:ln/>
        </p:spPr>
      </p:pic>
      <p:sp>
        <p:nvSpPr>
          <p:cNvPr id="293" name=""/>
          <p:cNvSpPr/>
          <p:nvPr/>
        </p:nvSpPr>
        <p:spPr>
          <a:xfrm rot="0" flipH="0" flipV="0">
            <a:off x="685800" y="4514850"/>
            <a:ext cx="6858000" cy="17907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95350" y="4667250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Harness </a:t>
            </a:r>
            <a:r>
              <a:rPr lang="zh-CN" sz="1200" b="1">
                <a:solidFill>
                  <a:srgbClr val="1F2430"/>
                </a:solidFill>
                <a:latin typeface="Source Han Sans SC"/>
                <a:ea typeface="Source Han Sans SC"/>
              </a:rPr>
              <a:t>在本项目里的三件事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95350" y="4953000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3730A3"/>
                </a:solidFill>
                <a:latin typeface="Source Han Sans SC"/>
                <a:ea typeface="Source Han Sans SC"/>
              </a:rPr>
              <a:t>权限　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本地规则能判的绝不问模型；判不出来才调，且该调用固定关掉思考模式——因为它每轮都跑。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95350" y="5276850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3730A3"/>
                </a:solidFill>
                <a:latin typeface="Source Han Sans SC"/>
                <a:ea typeface="Source Han Sans SC"/>
              </a:rPr>
              <a:t>状态　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异步不引新表、不引消息队列，状态直接落在会话消息上：先写「进行中」，跑完就地改成结果。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95350" y="5600700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3730A3"/>
                </a:solidFill>
                <a:latin typeface="Source Han Sans SC"/>
                <a:ea typeface="Source Han Sans SC"/>
              </a:rPr>
              <a:t>恢复　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没有后台进程时自动退回同步执行，任务失败落成失败卡并给重试落点，而不是永远转圈。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734300" y="4514850"/>
            <a:ext cx="3771900" cy="1790700"/>
          </a:xfrm>
          <a:prstGeom prst="roundRect">
            <a:avLst>
              <a:gd name="adj" fmla="val 6383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924800" y="4972050"/>
            <a:ext cx="33909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Harness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出错要修补的是系统，让同一类错误</a:t>
            </a:r>
            <a:r>
              <a:rPr lang="zh-CN" sz="1125" b="1">
                <a:solidFill>
                  <a:srgbClr val="1F2430"/>
                </a:solidFill>
                <a:latin typeface="Source Han Sans SC"/>
                <a:ea typeface="Source Han Sans SC"/>
              </a:rPr>
              <a:t>不再发生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；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出错改一句话术就行——两者不能混着修。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2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2&lt;/Text&gt;&#10;            &lt;Text style={{ fontSize: 34, fontWeight: 'bold', color: '#1F2430', letterSpacing: 0.5 }}&gt;Loop：决定要不要再来一轮&lt;/Text&gt;&#10;        &lt;/Box&gt;&#10;        &lt;Text style={{ fontSize: 16, color: '#6B7280', paddingBottom: 6 }}&gt;闭环不等于完成&lt;/Text&gt;&#10;    &lt;/Box&gt;&#10;&#10;    &lt;Box style={{ height: 544, paddingTop: 20, flexDirection: 'row', gap: 24 }}&gt;&#10;&#10;        &lt;Box style={{ width: 680, height: '100%', background: '#F6F7FB', borderRadius: 16 }}&gt;&#10;            &lt;svg width={680} height={520} viewBox='0 0 680 520'&gt;&#10;                &lt;defs&gt;&#10;                    &lt;marker id='arl' viewBox='0 0 10 10' refX='8' refY='5' markerWidth='6' markerHeight='6' orient='auto-start-reverse'&gt;&#10;                        &lt;path d='M2 1L8 5L2 9' fill='none' stroke='#3730A3' strokeWidth='1.5' strokeLinecap='round' strokeLinejoin='round' /&gt;&#10;                    &lt;/marker&gt;&#10;                    &lt;marker id='arl2' viewBox='0 0 10 10' refX='8' refY='5' markerWidth='6' markerHeight='6' orient='auto-start-reverse'&gt;&#10;                        &lt;path d='M2 1L8 5L2 9' fill='none' stroke='#0EA5E9' strokeWidth='1.5' strokeLinecap='round' strokeLinejoin='round' /&gt;&#10;                    &lt;/marker&gt;&#10;                &lt;/defs&gt;&#10;&#10;                &lt;text x='16' y='48' fontSize='15' fontWeight='bold' fill='#3730A3'&gt;项目里的知识闭环：上一轮的产出是下一轮的输入&lt;/text&gt;&#10;&#10;                &lt;rect x='16' y='120' width='120' height='68' rx='12' fill='#EEEDFE' stroke='#3730A3' strokeWidth='1' /&gt;&#10;                &lt;text x='76' y='152' fontSize='15' fontWeight='bold' fill='#1F2430' textAnchor='middle'&gt;挖掘&lt;/text&gt;&#10;                &lt;text x='76' y='174' fontSize='12' fill='#6B7280' textAnchor='middle'&gt;L1&lt;/text&gt;&#10;&#10;                &lt;rect x='148' y='120' width='120' height='68' rx='12' fill='#EEEDFE' stroke='#3730A3' strokeWidth='1' /&gt;&#10;                &lt;text x='208' y='152' fontSize='15' fontWeight='bold' fill='#1F2430' textAnchor='middle'&gt;冲突检测&lt;/text&gt;&#10;                &lt;text x='208' y='174' fontSize='12' fill='#6B7280' textAnchor='middle'&gt;L2&lt;/text&gt;&#10;&#10;                &lt;rect x='280' y='120' width='120' height='68' rx='12' fill='#EEEDFE' stroke='#3730A3' strokeWidth='1' /&gt;&#10;                &lt;text x='340' y='152' fontSize='15' fontWeight='bold' fill='#1F2430' textAnchor='middle'&gt;周简报&lt;/text&gt;&#10;                &lt;text x='340' y='174' fontSize='12' fill='#6B7280' textAnchor='middle'&gt;L3&lt;/text&gt;&#10;&#10;                &lt;rect x='412' y='120' width='120' height='68' rx='12' fill='#EEEDFE' stroke='#3730A3' strokeWidth='1' /&gt;&#10;                &lt;text x='472' y='152' fontSize='15' fontWeight='bold' fill='#1F2430' textAnchor='middle'&gt;计划修正&lt;/text&gt;&#10;                &lt;text x='472' y='174' fontSize='12' fill='#6B7280' textAnchor='middle'&gt;L4&lt;/text&gt;&#10;&#10;                &lt;rect x='544' y='120' width='120' height='68' rx='12' fill='#EEEDFE' stroke='#3730A3' strokeWidth='1' /&gt;&#10;                &lt;text x='604' y='152' fontSize='15' fontWeight='bold' fill='#1F2430' textAnchor='middle'&gt;偏误诊断&lt;/text&gt;&#10;                &lt;text x='604' y='174' fontSize='12' fill='#6B7280' textAnchor='middle'&gt;L5&lt;/text&gt;&#10;&#10;                &lt;line x1='138' y1='154' x2='144' y2='154' stroke='#3730A3' strokeWidth='1.5' markerEnd='url(#arl)' /&gt;&#10;                &lt;line x1='270' y1='154' x2='276' y2='154' stroke='#3730A3' strokeWidth='1.5' markerEnd='url(#arl)' /&gt;&#10;                &lt;line x1='402' y1='154' x2='408' y2='154' stroke='#3730A3' strokeWidth='1.5' markerEnd='url(#arl)' /&gt;&#10;                &lt;line x1='534' y1='154' x2='540' y2='154' stroke='#3730A3' strokeWidth='1.5' markerEnd='url(#arl)' /&gt;&#10;&#10;                &lt;path d='M 604 188 L 604 300 L 76 300 L 76 196' fill='none' stroke='#0EA5E9' strokeWidth='1.5' strokeDasharray='5 4' markerEnd='url(#arl2)' /&gt;&#10;                &lt;rect x='250' y='286' width='180' height='28' rx='6' fill='#F6F7FB' /&gt;&#10;                &lt;text x='340' y='305' fontSize='13' fill='#6B7280' textAnchor='middle'&gt;产出成为下一轮输入&lt;/text&gt;&#10;&#10;                &lt;rect x='16' y='340' width='648' height='150' rx='12' fill='#FFFFFF' stroke='#E5E7EB' strokeWidth='1' /&gt;&#10;                &lt;text x='36' y='370' fontSize='15' fontWeight='bold' fill='#3730A3'&gt;刹车：三处必须有，否则循环会空转&lt;/text&gt;&#10;                &lt;text x='36' y='400' fontSize='14' fill='#1F2430'&gt;① 迭代上限与预算　　② 重试 3 次仍失败才切备用，且模拟结果绝不冒充真实结果&lt;/text&gt;&#10;                &lt;text x='36' y='428' fontSize='14' fill='#1F2430'&gt;③ 完成检查：评估护栏断言 recall@5 ≥ 0.95、recall@1 ≥ 0.75&lt;/text&gt;&#10;                &lt;text x='36' y='460' fontSize='13' fill='#6B7280'&gt;不满足就停下、落成失败卡；不满足却继续转圈，才是 Loop 最贵的失败形态。&lt;/text&gt;&#10;            &lt;/svg&gt;&#10;        &lt;/Box&gt;&#10;&#10;        &lt;Box style={{ flex: 1, height: '100%', flexDirection: 'column' }}&gt;&#10;            &lt;Text style={{ fontSize: 18, fontWeight: 'bold', color: '#1F2430' }}&gt;Loop 管的是目标生命周期&lt;/Text&gt;&#10;&#10;            &lt;Box style={{ flexDirection: 'column', gap: 12, marginTop: 16 }}&gt;&#10;                &lt;Box style={{ height: 124, background: '#F6F7FB', borderRadius: 12, padding: '14px 16px', flexDirection: 'column' }}&gt;&#10;                    &lt;Text style={{ fontSize: 15, fontWeight: 'bold', color: '#3730A3' }}&gt;迭代与幂等&lt;/Text&gt;&#10;                    &lt;Text style={{ fontSize: 14, color: '#1F2430', lineHeight: 1.55, marginTop: 8 }}&gt;复用项目已有的后台任务框架，自带幂等、重试与死信；不新造队列，也不让同一件事被执行两次。&lt;/Text&gt;&#10;                &lt;/Box&gt;&#10;                &lt;Box style={{ height: 124, background: '#F6F7FB', borderRadius: 12, padding: '14px 16px', flexDirection: 'column' }}&gt;&#10;                    &lt;Text style={{ fontSize: 15, fontWeight: 'bold', color: '#3730A3' }}&gt;回退的边界&lt;/Text&gt;&#10;                    &lt;Text style={{ fontSize: 14, color: '#1F2430', lineHeight: 1.55, marginTop: 8 }}&gt;切备用必须同时换模型名并重算输出约束；成本按实际服务的模型名记账，否则一笔整笔错记。&lt;/Text&gt;&#10;                &lt;/Box&gt;&#10;                &lt;Box style={{ height: 124, background: '#F6F7FB', borderRadius: 12, padding: '14px 16px', flexDirection: 'column' }}&gt;&#10;                    &lt;Text style={{ fontSize: 15, fontWeight: 'bold', color: '#3730A3' }}&gt;进度怎么算「真的推进了」&lt;/Text&gt;&#10;                    &lt;Text style={{ fontSize: 14, color: '#1F2430', lineHeight: 1.55, marginTop: 8 }}&gt;定时扫描原本是固定间隔轮询，改成可被唤醒的事件等待；否则「异步」会退化成纯等待。&lt;/Text&gt;&#10;                &lt;/Box&gt;&#10;            &lt;/Box&gt;&#10;&#10;            &lt;Box style={{ marginTop: 'auto', background: '#EEEDFE', borderLeft: '3px solid #0EA5E9', borderRadius: 8, padding: '14px 16px' }}&gt;&#10;                &lt;Text style={{ fontSize: 15, color: '#1F2430', lineHeight: 1.6 }}&gt;判断：没有完成检查的 Loop 不是自治，是空转。&lt;/Text&gt;&#10;            &lt;/Box&gt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09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Loop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：决定要不要再来一轮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0439400" y="733425"/>
            <a:ext cx="1066800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闭环不等于完成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85800" y="1314450"/>
            <a:ext cx="6477000" cy="4991100"/>
          </a:xfrm>
          <a:prstGeom prst="roundRect">
            <a:avLst>
              <a:gd name="adj" fmla="val 3053"/>
            </a:avLst>
          </a:prstGeom>
          <a:solidFill>
            <a:srgbClr val="F6F7FB"/>
          </a:solidFill>
          <a:ln/>
        </p:spPr>
        <p:txBody>
          <a:bodyPr/>
          <a:p/>
        </p:txBody>
      </p:sp>
      <p:pic>
        <p:nvPicPr>
          <p:cNvPr id="3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314450"/>
            <a:ext cx="6477000" cy="4953000"/>
          </a:xfrm>
          <a:prstGeom prst="rect">
            <a:avLst/>
          </a:prstGeom>
          <a:ln/>
        </p:spPr>
      </p:pic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391400" y="1314450"/>
            <a:ext cx="411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Loop </a:t>
            </a: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管的是目标生命周期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7391400" y="1676400"/>
            <a:ext cx="4114800" cy="1181100"/>
          </a:xfrm>
          <a:prstGeom prst="roundRect">
            <a:avLst>
              <a:gd name="adj" fmla="val 9677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543800" y="18097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迭代与幂等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543800" y="2057400"/>
            <a:ext cx="3810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复用项目已有的后台任务框架，自带幂等、重试与死信；不新造队列，也不让同一件事被执行两次。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391400" y="2971800"/>
            <a:ext cx="4114800" cy="1181100"/>
          </a:xfrm>
          <a:prstGeom prst="roundRect">
            <a:avLst>
              <a:gd name="adj" fmla="val 9677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543800" y="31051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回退的边界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543800" y="3352800"/>
            <a:ext cx="3810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切备用必须同时换模型名并重算输出约束；成本按实际服务的模型名记账，否则一笔整笔错记。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7391400" y="4267200"/>
            <a:ext cx="4114800" cy="1181100"/>
          </a:xfrm>
          <a:prstGeom prst="roundRect">
            <a:avLst>
              <a:gd name="adj" fmla="val 9677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543800" y="44005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进度怎么算「真的推进了」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543800" y="4648200"/>
            <a:ext cx="3810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定时扫描原本是固定间隔轮询，改成可被唤醒的事件等待；否则「异步」会退化成纯等待。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7419975" y="5762625"/>
            <a:ext cx="4114800" cy="542925"/>
          </a:xfrm>
          <a:prstGeom prst="roundRect">
            <a:avLst>
              <a:gd name="adj" fmla="val 14035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7419975" y="5762625"/>
            <a:ext cx="4114800" cy="542925"/>
          </a:xfrm>
          <a:custGeom>
            <a:pathLst>
              <a:path w="432" h="5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2"/>
                </a:lnTo>
                <a:cubicBezTo>
                  <a:pt x="3" y="54"/>
                  <a:pt x="5" y="56"/>
                  <a:pt x="7" y="57"/>
                </a:cubicBezTo>
                <a:cubicBezTo>
                  <a:pt x="3" y="56"/>
                  <a:pt x="0" y="53"/>
                  <a:pt x="0" y="4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572375" y="5895975"/>
            <a:ext cx="37814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判断：没有完成检查的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Loop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不是自治，是空转。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" name="" descr="&lt;Slide style={{ width: 1280, height: 720, position: 'relative', background: 'linear-gradient(120deg, #1B1856 0%, #3730A3 52%, #4F46E5 100%)', overflow: 'hidden', padding: 0, fontFamily: &quot;'Source Han Sans SC', 'Noto Sans SC', 'Microsoft YaHei', sans-serif&quot; }}&gt;&#10;&#10;    &lt;svg width={1280} height={720} viewBox='0 0 1280 720' style={{ position: 'absolute', top: 0, left: 0 }}&gt;&#10;        &lt;circle cx='1010' cy='300' r='268' fill='none' stroke='#A5B4FC' strokeWidth='1' opacity='0.16' /&gt;&#10;        &lt;circle cx='1010' cy='300' r='190' fill='none' stroke='#A5B4FC' strokeWidth='1' opacity='0.12' /&gt;&#10;        &lt;circle cx='1010' cy='300' r='112' fill='none' stroke='#0EA5E9' strokeWidth='1.5' opacity='0.35' /&gt;&#10;        &lt;rect x='92' y='132' width='64' height='3' fill='#0EA5E9' /&gt;&#10;    &lt;/svg&gt;&#10;&#10;    &lt;Text style={{ position: 'absolute', right: 78, top: 118, fontSize: 300, fontWeight: 'bold', color: '#FFFFFF', opacity: 0.12, lineHeight: 1, fontFamily: &quot;'JetBrains Mono', Consolas, monospace&quot; }}&gt;03&lt;/Text&gt;&#10;&#10;    &lt;Box style={{ position: 'absolute', left: 92, top: 296, flexDirection: 'column' }}&gt;&#10;        &lt;Text style={{ fontSize: 13, color: '#0EA5E9', letterSpacing: 4, fontFamily: &quot;'JetBrains Mono', Consolas, monospace&quot; }}&gt;SECTION 03&lt;/Text&gt;&#10;        &lt;Text style={{ fontSize: 60, fontWeight: 'bold', color: '#FFFFFF', letterSpacing: 1, marginTop: 18 }}&gt;MCP：把外部工具接进来&lt;/Text&gt;&#10;        &lt;Box style={{ height: 3, width: 88, background: '#0EA5E9', marginTop: 26 }} /&gt;&#10;        &lt;Text style={{ fontSize: 19, color: '#C7D2FE', marginTop: 24 }}&gt;一次协议，多处复用&lt;/Text&gt;&#10;    &lt;/Box&gt;&#10;&#10;    &lt;Text style={{ position: 'absolute', right: 72, bottom: 24, fontSize: 13, color: '#7C8CD8', fontFamily: &quot;'JetBrains Mono', Consolas, monospace&quot; }}&gt;10 / 16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856"/>
              </a:gs>
              <a:gs pos="52000">
                <a:srgbClr val="3730A3"/>
              </a:gs>
              <a:gs pos="100000">
                <a:srgbClr val="4F46E5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305800" y="1123950"/>
            <a:ext cx="314325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2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76300" y="2819400"/>
            <a:ext cx="640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0EA5E9"/>
                </a:solidFill>
                <a:latin typeface="JetBrains Mono"/>
                <a:ea typeface="JetBrains Mono"/>
              </a:rPr>
              <a:t>SECTION 03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76300" y="3143250"/>
            <a:ext cx="64008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 spc="75">
                <a:solidFill>
                  <a:srgbClr val="FFFFFF"/>
                </a:solidFill>
                <a:latin typeface="Source Han Sans SC"/>
                <a:ea typeface="Source Han Sans SC"/>
              </a:rPr>
              <a:t>MCP</a:t>
            </a:r>
            <a:r>
              <a:rPr lang="zh-CN" sz="4500" b="1" spc="75">
                <a:solidFill>
                  <a:srgbClr val="FFFFFF"/>
                </a:solidFill>
                <a:latin typeface="Source Han Sans SC"/>
                <a:ea typeface="Source Han Sans SC"/>
              </a:rPr>
              <a:t>：把外部工具接进来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76300" y="4076700"/>
            <a:ext cx="8382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76300" y="4333875"/>
            <a:ext cx="640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7D2FE"/>
                </a:solidFill>
                <a:latin typeface="Source Han Sans SC"/>
                <a:ea typeface="Source Han Sans SC"/>
              </a:rPr>
              <a:t>一次协议，多处复用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020425" y="64770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C8CD8"/>
                </a:solidFill>
                <a:latin typeface="JetBrains Mono"/>
                <a:ea typeface="JetBrains Mono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3&lt;/Text&gt;&#10;            &lt;Text style={{ fontSize: 34, fontWeight: 'bold', color: '#1F2430', letterSpacing: 0.5 }}&gt;MCP 解决的是「接什么」和「怎么接」&lt;/Text&gt;&#10;        &lt;/Box&gt;&#10;        &lt;Text style={{ fontSize: 16, color: '#6B7280', paddingBottom: 6 }}&gt;Model Context Protocol&lt;/Text&gt;&#10;    &lt;/Box&gt;&#10;&#10;    &lt;Box style={{ height: 544, paddingTop: 20, flexDirection: 'row', gap: 24 }}&gt;&#10;&#10;        &lt;Box style={{ width: 660, height: '100%', background: '#F6F7FB', borderRadius: 16 }}&gt;&#10;            &lt;svg width={660} height={520} viewBox='0 0 660 520'&gt;&#10;                &lt;text x='36' y='40' fontSize='15' fontWeight='bold' fill='#3730A3'&gt;改造前：N × M 直连&lt;/text&gt;&#10;                &lt;text x='36' y='62' fontSize='12' fill='#6B7280'&gt;每个数据源 × 每种用法，各写一套适配&lt;/text&gt;&#10;&#10;                &lt;rect x='40' y='78' width='110' height='36' rx='8' fill='#FFFFFF' stroke='#E5E7EB' strokeWidth='1' /&gt;&#10;                &lt;text x='95' y='101' fontSize='13' fill='#1F2430' textAnchor='middle'&gt;本地书籍&lt;/text&gt;&#10;                &lt;rect x='40' y='128' width='110' height='36' rx='8' fill='#FFFFFF' stroke='#E5E7EB' strokeWidth='1' /&gt;&#10;                &lt;text x='95' y='151' fontSize='13' fill='#1F2430' textAnchor='middle'&gt;微信读书&lt;/text&gt;&#10;                &lt;rect x='40' y='178' width='110' height='36' rx='8' fill='#FFFFFF' stroke='#E5E7EB' strokeWidth='1' /&gt;&#10;                &lt;text x='95' y='201' fontSize='13' fill='#1F2430' textAnchor='middle'&gt;文档文件&lt;/text&gt;&#10;&#10;                &lt;rect x='510' y='78' width='110' height='36' rx='8' fill='#FFFFFF' stroke='#E5E7EB' strokeWidth='1' /&gt;&#10;                &lt;text x='565' y='101' fontSize='13' fill='#1F2430' textAnchor='middle'&gt;挖掘&lt;/text&gt;&#10;                &lt;rect x='510' y='128' width='110' height='36' rx='8' fill='#FFFFFF' stroke='#E5E7EB' strokeWidth='1' /&gt;&#10;                &lt;text x='565' y='151' fontSize='13' fill='#1F2430' textAnchor='middle'&gt;冲突检测&lt;/text&gt;&#10;                &lt;rect x='510' y='178' width='110' height='36' rx='8' fill='#FFFFFF' stroke='#E5E7EB' strokeWidth='1' /&gt;&#10;                &lt;text x='565' y='201' fontSize='13' fill='#1F2430' textAnchor='middle'&gt;简报 / 诊断&lt;/text&gt;&#10;&#10;                &lt;line x1='150' y1='96' x2='510' y2='96' stroke='#C7D2FE' strokeWidth='1' /&gt;&#10;                &lt;line x1='150' y1='96' x2='510' y2='146' stroke='#C7D2FE' strokeWidth='1' /&gt;&#10;                &lt;line x1='150' y1='96' x2='510' y2='196' stroke='#C7D2FE' strokeWidth='1' /&gt;&#10;                &lt;line x1='150' y1='146' x2='510' y2='96' stroke='#C7D2FE' strokeWidth='1' /&gt;&#10;                &lt;line x1='150' y1='146' x2='510' y2='146' stroke='#C7D2FE' strokeWidth='1' /&gt;&#10;                &lt;line x1='150' y1='146' x2='510' y2='196' stroke='#C7D2FE' strokeWidth='1' /&gt;&#10;                &lt;line x1='150' y1='196' x2='510' y2='96' stroke='#C7D2FE' strokeWidth='1' /&gt;&#10;                &lt;line x1='150' y1='196' x2='510' y2='146' stroke='#C7D2FE' strokeWidth='1' /&gt;&#10;                &lt;line x1='150' y1='196' x2='510' y2='196' stroke='#C7D2FE' strokeWidth='1' /&gt;&#10;&#10;                &lt;line x1='36' y1='252' x2='624' y2='252' stroke='#E5E7EB' strokeWidth='1' /&gt;&#10;&#10;                &lt;text x='36' y='288' fontSize='15' fontWeight='bold' fill='#0EA5E9'&gt;接入 MCP：收敛成 N + M&lt;/text&gt;&#10;                &lt;text x='36' y='310' fontSize='12' fill='#6B7280'&gt;数据源只说清自己有什么，用法只说清自己要什么&lt;/text&gt;&#10;&#10;                &lt;rect x='40' y='326' width='110' height='36' rx='8' fill='#FFFFFF' stroke='#E5E7EB' strokeWidth='1' /&gt;&#10;                &lt;text x='95' y='349' fontSize='13' fill='#1F2430' textAnchor='middle'&gt;本地书籍&lt;/text&gt;&#10;                &lt;rect x='40' y='376' width='110' height='36' rx='8' fill='#FFFFFF' stroke='#E5E7EB' strokeWidth='1' /&gt;&#10;                &lt;text x='95' y='399' fontSize='13' fill='#1F2430' textAnchor='middle'&gt;微信读书&lt;/text&gt;&#10;                &lt;rect x='40' y='426' width='110' height='36' rx='8' fill='#FFFFFF' stroke='#E5E7EB' strokeWidth='1' /&gt;&#10;                &lt;text x='95' y='449' fontSize='13' fill='#1F2430' textAnchor='middle'&gt;文档文件&lt;/text&gt;&#10;&#10;                &lt;rect x='510' y='326' width='110' height='36' rx='8' fill='#FFFFFF' stroke='#E5E7EB' strokeWidth='1' /&gt;&#10;                &lt;text x='565' y='349' fontSize='13' fill='#1F2430' textAnchor='middle'&gt;挖掘&lt;/text&gt;&#10;                &lt;rect x='510' y='376' width='110' height='36' rx='8' fill='#FFFFFF' stroke='#E5E7EB' strokeWidth='1' /&gt;&#10;                &lt;text x='565' y='399' fontSize='13' fill='#1F2430' textAnchor='middle'&gt;冲突检测&lt;/text&gt;&#10;                &lt;rect x='510' y='426' width='110' height='36' rx='8' fill='#FFFFFF' stroke='#E5E7EB' strokeWidth='1' /&gt;&#10;                &lt;text x='565' y='449' fontSize='13' fill='#1F2430' textAnchor='middle'&gt;简报 / 诊断&lt;/text&gt;&#10;&#10;                &lt;rect x='272' y='348' width='116' height='104' rx='16' fill='#0EA5E9' /&gt;&#10;                &lt;text x='330' y='392' fontSize='19' fontWeight='bold' fill='#FFFFFF' textAnchor='middle'&gt;MCP&lt;/text&gt;&#10;                &lt;text x='330' y='416' fontSize='12' fill='#E6F6FE' textAnchor='middle'&gt;工具 / 资源 / 提示&lt;/text&gt;&#10;&#10;                &lt;line x1='150' y1='344' x2='268' y2='392' stroke='#0EA5E9' strokeWidth='1.2' /&gt;&#10;                &lt;line x1='150' y1='394' x2='268' y2='398' stroke='#0EA5E9' strokeWidth='1.2' /&gt;&#10;                &lt;line x1='150' y1='444' x2='268' y2='406' stroke='#0EA5E9' strokeWidth='1.2' /&gt;&#10;                &lt;line x1='392' y1='392' x2='510' y2='344' stroke='#0EA5E9' strokeWidth='1.2' /&gt;&#10;                &lt;line x1='392' y1='398' x2='510' y2='394' stroke='#0EA5E9' strokeWidth='1.2' /&gt;&#10;                &lt;line x1='392' y1='406' x2='510' y2='444' stroke='#0EA5E9' strokeWidth='1.2' /&gt;&#10;            &lt;/svg&gt;&#10;        &lt;/Box&gt;&#10;&#10;        &lt;Box style={{ flex: 1, height: '100%', flexDirection: 'column' }}&gt;&#10;            &lt;Text style={{ fontSize: 18, fontWeight: 'bold', color: '#1F2430' }}&gt;它到底标准化了什么&lt;/Text&gt;&#10;            &lt;Text style={{ fontSize: 15, color: '#1F2430', lineHeight: 1.7, marginTop: 12 }}&gt;把「模型 / 智能体 ↔ 外部工具与数据源」的连接定成一套协议：工具、资源、提示三类能力走同一套接口，连接方和被连接方各自只实现一次。&lt;/Text&gt;&#10;&#10;            &lt;Text style={{ fontSize: 18, fontWeight: 'bold', color: '#1F2430', marginTop: 20 }}&gt;项目里的两处用法&lt;/Text&gt;&#10;&#10;            &lt;Box style={{ flexDirection: 'column', gap: 12, marginTop: 12 }}&gt;&#10;                &lt;Box style={{ background: '#F6F7FB', borderRadius: 12, padding: '14px 16px', flexDirection: 'column' }}&gt;&#10;                    &lt;Text style={{ fontSize: 15, fontWeight: 'bold', color: '#3730A3' }}&gt;文档流水线：按目的选工具&lt;/Text&gt;&#10;                    &lt;Text style={{ fontSize: 14, color: '#1F2430', lineHeight: 1.6, marginTop: 6 }}&gt;要「定位」就走 MCP 读既有 docx 的标题、段落与表格结构；要「迁移全文」改用一次性只读提取——同一份文件、两种目的，不硬用同一把工具。&lt;/Text&gt;&#10;                &lt;/Box&gt;&#10;                &lt;Box style={{ background: '#F6F7FB', borderRadius: 12, padding: '14px 16px', flexDirection: 'column' }}&gt;&#10;                    &lt;Text style={{ fontSize: 15, fontWeight: 'bold', color: '#3730A3' }}&gt;微信读书：接官方技能包&lt;/Text&gt;&#10;                    &lt;Text style={{ fontSize: 14, color: '#1F2430', lineHeight: 1.6, marginTop: 6 }}&gt;阅读数据通过官方技能包同步；本周修的就是它的版本校验——服务端对版本做强制校验，落后即要求升级。&lt;/Text&gt;&#10;                &lt;/Box&gt;&#10;            &lt;/Box&gt;&#10;&#10;            &lt;Box style={{ marginTop: 'auto', background: '#EEEDFE', borderLeft: '3px solid #0EA5E9', borderRadius: 8, padding: '14px 16px' }}&gt;&#10;                &lt;Text style={{ fontSize: 15, color: '#1F2430', lineHeight: 1.6 }}&gt;判断：MCP 的收益不在「能连」，而在把 N × M 的适配收敛成 N + M。&lt;/Text&gt;&#10;            &lt;/Box&gt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11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5667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MCP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解决的是「接什么」和「怎么接」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934575" y="733425"/>
            <a:ext cx="1571625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200">
                <a:solidFill>
                  <a:srgbClr val="6B7280"/>
                </a:solidFill>
                <a:latin typeface="Source Han Sans SC"/>
                <a:ea typeface="Source Han Sans SC"/>
              </a:rPr>
              <a:t>Model Context Protocol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5800" y="1314450"/>
            <a:ext cx="6286500" cy="4991100"/>
          </a:xfrm>
          <a:prstGeom prst="roundRect">
            <a:avLst>
              <a:gd name="adj" fmla="val 3053"/>
            </a:avLst>
          </a:prstGeom>
          <a:solidFill>
            <a:srgbClr val="F6F7FB"/>
          </a:solidFill>
          <a:ln/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314450"/>
            <a:ext cx="6286500" cy="495300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00900" y="13144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它到底标准化了什么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00900" y="1638300"/>
            <a:ext cx="43053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把「模型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智能体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↔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外部工具与数据源」的连接定成一套协议：工具、资源、提示三类能力走同一套接口，连接方和被连接方各自只实现一次。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200900" y="270510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项目里的两处用法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200900" y="3028950"/>
            <a:ext cx="4305300" cy="1266825"/>
          </a:xfrm>
          <a:prstGeom prst="roundRect">
            <a:avLst>
              <a:gd name="adj" fmla="val 9023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353300" y="316230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文档流水线：按目的选工具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353300" y="3390900"/>
            <a:ext cx="40005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要「定位」就走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MCP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读既有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docx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的标题、段落与表格结构；要「迁移全文」改用一次性只读提取——同一份文件、两种目的，不硬用同一把工具。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200900" y="4410075"/>
            <a:ext cx="4305300" cy="1009650"/>
          </a:xfrm>
          <a:prstGeom prst="roundRect">
            <a:avLst>
              <a:gd name="adj" fmla="val 11321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353300" y="45434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微信读书：接官方技能包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353300" y="4772025"/>
            <a:ext cx="4000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阅读数据通过官方技能包同步；本周修的就是它的版本校验——服务端对版本做强制校验，落后即要求升级。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229475" y="5486400"/>
            <a:ext cx="4305300" cy="819150"/>
          </a:xfrm>
          <a:prstGeom prst="roundRect">
            <a:avLst>
              <a:gd name="adj" fmla="val 9302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7229475" y="5486400"/>
            <a:ext cx="4305300" cy="819150"/>
          </a:xfrm>
          <a:custGeom>
            <a:pathLst>
              <a:path w="452" h="8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1"/>
                </a:lnTo>
                <a:cubicBezTo>
                  <a:pt x="3" y="83"/>
                  <a:pt x="5" y="85"/>
                  <a:pt x="7" y="86"/>
                </a:cubicBezTo>
                <a:cubicBezTo>
                  <a:pt x="3" y="85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381875" y="5619750"/>
            <a:ext cx="39719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判断：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MCP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的收益不在「能连」，而在把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N × M 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的适配收敛成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N + M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1280, height: 720, position: 'relative', background: 'linear-gradient(120deg, #1B1856 0%, #3730A3 52%, #4F46E5 100%)', overflow: 'hidden', padding: 0, fontFamily: &quot;'Source Han Sans SC', 'Noto Sans SC', 'Microsoft YaHei', sans-serif&quot; }}&gt;&#10;&#10;    &lt;svg width={1280} height={720} viewBox='0 0 1280 720' style={{ position: 'absolute', top: 0, left: 0 }}&gt;&#10;        &lt;circle cx='1010' cy='300' r='268' fill='none' stroke='#A5B4FC' strokeWidth='1' opacity='0.16' /&gt;&#10;        &lt;circle cx='1010' cy='300' r='190' fill='none' stroke='#A5B4FC' strokeWidth='1' opacity='0.12' /&gt;&#10;        &lt;circle cx='1010' cy='300' r='112' fill='none' stroke='#0EA5E9' strokeWidth='1.5' opacity='0.35' /&gt;&#10;        &lt;rect x='92' y='132' width='64' height='3' fill='#0EA5E9' /&gt;&#10;    &lt;/svg&gt;&#10;&#10;    &lt;Text style={{ position: 'absolute', right: 78, top: 118, fontSize: 300, fontWeight: 'bold', color: '#FFFFFF', opacity: 0.12, lineHeight: 1, fontFamily: &quot;'JetBrains Mono', Consolas, monospace&quot; }}&gt;04&lt;/Text&gt;&#10;&#10;    &lt;Box style={{ position: 'absolute', left: 92, top: 296, flexDirection: 'column' }}&gt;&#10;        &lt;Text style={{ fontSize: 13, color: '#0EA5E9', letterSpacing: 4, fontFamily: &quot;'JetBrains Mono', Consolas, monospace&quot; }}&gt;SECTION 04&lt;/Text&gt;&#10;        &lt;Text style={{ fontSize: 60, fontWeight: 'bold', color: '#FFFFFF', letterSpacing: 1, marginTop: 18 }}&gt;手机端改造与边界&lt;/Text&gt;&#10;        &lt;Box style={{ height: 3, width: 88, background: '#0EA5E9', marginTop: 26 }} /&gt;&#10;        &lt;Text style={{ fontSize: 19, color: '#C7D2FE', marginTop: 24 }}&gt;结论先给：能迁，成本在适配不在移植&lt;/Text&gt;&#10;    &lt;/Box&gt;&#10;&#10;    &lt;Text style={{ position: 'absolute', right: 72, bottom: 24, fontSize: 13, color: '#7C8CD8', fontFamily: &quot;'JetBrains Mono', Consolas, monospace&quot; }}&gt;12 / 16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856"/>
              </a:gs>
              <a:gs pos="52000">
                <a:srgbClr val="3730A3"/>
              </a:gs>
              <a:gs pos="100000">
                <a:srgbClr val="4F46E5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05800" y="1123950"/>
            <a:ext cx="314325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2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76300" y="281940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0EA5E9"/>
                </a:solidFill>
                <a:latin typeface="JetBrains Mono"/>
                <a:ea typeface="JetBrains Mono"/>
              </a:rPr>
              <a:t>SECTION 04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76300" y="3143250"/>
            <a:ext cx="46482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 spc="75">
                <a:solidFill>
                  <a:srgbClr val="FFFFFF"/>
                </a:solidFill>
                <a:latin typeface="Source Han Sans SC"/>
                <a:ea typeface="Source Han Sans SC"/>
              </a:rPr>
              <a:t>手机端改造与边界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76300" y="4076700"/>
            <a:ext cx="8382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76300" y="4333875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7D2FE"/>
                </a:solidFill>
                <a:latin typeface="Source Han Sans SC"/>
                <a:ea typeface="Source Han Sans SC"/>
              </a:rPr>
              <a:t>结论先给：能迁，成本在适配不在移植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020425" y="64770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C8CD8"/>
                </a:solidFill>
                <a:latin typeface="JetBrains Mono"/>
                <a:ea typeface="JetBrains Mono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4&lt;/Text&gt;&#10;            &lt;Text style={{ fontSize: 34, fontWeight: 'bold', color: '#1F2430', letterSpacing: 0.5 }}&gt;6 个提交 · 5 个里程碑 · 接口零改动&lt;/Text&gt;&#10;        &lt;/Box&gt;&#10;        &lt;Text style={{ fontSize: 16, color: '#6B7280', paddingBottom: 6 }}&gt;阶段 1：手机可用&lt;/Text&gt;&#10;    &lt;/Box&gt;&#10;&#10;    &lt;Box style={{ height: 544, paddingTop: 20, flexDirection: 'column' }}&gt;&#10;&#10;        &lt;Box style={{ height: 200, flexDirection: 'row', gap: 20 }}&gt;&#10;&#10;            &lt;Box style={{ width: 420, height: '100%', background: '#F6F7FB', borderRadius: 16, padding: '18px 26px', flexDirection: 'column', justifyContent: 'center' }}&gt;&#10;                &lt;Text style={{ fontSize: 96, fontWeight: 'bold', color: '#0EA5E9', lineHeight: 1.0, letterSpacing: -3, fontFamily: &quot;'JetBrains Mono', Consolas, monospace&quot; }}&gt;6&lt;/Text&gt;&#10;                &lt;Text style={{ fontSize: 18, fontWeight: 'bold', color: '#1F2430', marginTop: 10 }}&gt;个串行提交，全部落地&lt;/Text&gt;&#10;                &lt;Text style={{ fontSize: 14, color: '#6B7280', marginTop: 6 }}&gt;阶段 1 计划拆成 M1–M5 五个里程碑，一共六个 commit&lt;/Text&gt;&#10;            &lt;/Box&gt;&#10;&#10;            &lt;Box style={{ flex: 1, height: '100%', background: '#F6F7FB', borderRadius: 16 }}&gt;&#10;                &lt;svg width={692} height={200} viewBox='0 0 692 200'&gt;&#10;                    &lt;text x='28' y='34' fontSize='15' fontWeight='bold' fill='#3730A3'&gt;阶段 1 的六个提交：一次只动一层，随时可停&lt;/text&gt;&#10;&#10;                    &lt;rect x='28' y='72' width='98' height='40' rx='6' fill='#3730A3' opacity='0.38' /&gt;&#10;                    &lt;rect x='134' y='72' width='98' height='40' rx='6' fill='#3730A3' opacity='0.52' /&gt;&#10;                    &lt;rect x='240' y='72' width='98' height='40' rx='6' fill='#3730A3' opacity='0.65' /&gt;&#10;                    &lt;rect x='346' y='72' width='98' height='40' rx='6' fill='#3730A3' opacity='0.78' /&gt;&#10;                    &lt;rect x='452' y='72' width='98' height='40' rx='6' fill='#3730A3' opacity='0.9' /&gt;&#10;                    &lt;rect x='558' y='72' width='98' height='40' rx='6' fill='#0EA5E9' /&gt;&#10;&#10;                    &lt;text x='77' y='62' fontSize='11' fill='#6B7280' textAnchor='middle' fontFamily='monospace'&gt;M1&lt;/text&gt;&#10;                    &lt;text x='183' y='62' fontSize='11' fill='#6B7280' textAnchor='middle' fontFamily='monospace'&gt;M2a&lt;/text&gt;&#10;                    &lt;text x='289' y='62' fontSize='11' fill='#6B7280' textAnchor='middle' fontFamily='monospace'&gt;M2b&lt;/text&gt;&#10;                    &lt;text x='395' y='62' fontSize='11' fill='#6B7280' textAnchor='middle' fontFamily='monospace'&gt;M3&lt;/text&gt;&#10;                    &lt;text x='501' y='62' fontSize='11' fill='#6B7280' textAnchor='middle' fontFamily='monospace'&gt;M4&lt;/text&gt;&#10;                    &lt;text x='607' y='62' fontSize='11' fill='#6B7280' textAnchor='middle' fontFamily='monospace'&gt;M5&lt;/text&gt;&#10;&#10;                    &lt;text x='77' y='134' fontSize='12' fill='#1F2430' textAnchor='middle'&gt;全局骨架&lt;/text&gt;&#10;                    &lt;text x='183' y='134' fontSize='12' fill='#1F2430' textAnchor='middle'&gt;高频三页&lt;/text&gt;&#10;                    &lt;text x='289' y='134' fontSize='12' fill='#1F2430' textAnchor='middle'&gt;其余八页&lt;/text&gt;&#10;                    &lt;text x='395' y='134' fontSize='12' fill='#1F2430' textAnchor='middle'&gt;阅读器&lt;/text&gt;&#10;                    &lt;text x='501' y='134' fontSize='12' fill='#1F2430' textAnchor='middle'&gt;PWA&lt;/text&gt;&#10;                    &lt;text x='607' y='134' fontSize='12' fill='#1F2430' textAnchor='middle'&gt;局域网&lt;/text&gt;&#10;&#10;                    &lt;text x='28' y='176' fontSize='13' fill='#6B7280'&gt;执行期用例 650 → 660 项；桌面端布局零变化&lt;/text&gt;&#10;                    &lt;rect x='512' y='156' width='144' height='28' rx='14' fill='#EEEDFE' /&gt;&#10;                    &lt;text x='584' y='175' fontSize='13' fill='#3730A3' textAnchor='middle'&gt;接口零改动&lt;/text&gt;&#10;                &lt;/svg&gt;&#10;            &lt;/Box&gt;&#10;&#10;        &lt;/Box&gt;&#10;&#10;        &lt;Box style={{ height: 60, marginTop: 16, flexDirection: 'row', alignItems: 'center', gap: 22, padding: '0px 24px', background: '#EEEDFE', borderRadius: 10 }}&gt;&#10;            &lt;Text style={{ fontSize: 34, fontWeight: 'bold', color: '#3730A3', fontFamily: &quot;'JetBrains Mono', Consolas, monospace&quot; }}&gt;5&lt;/Text&gt;&#10;            &lt;Text style={{ fontSize: 15, color: '#1F2430' }}&gt;个里程碑（M1 → M5）&lt;/Text&gt;&#10;            &lt;Box style={{ width: 1, height: 26, background: '#C7D2FE' }} /&gt;&#10;            &lt;Text style={{ fontSize: 34, fontWeight: 'bold', color: '#3730A3', fontFamily: &quot;'JetBrains Mono', Consolas, monospace&quot; }}&gt;0&lt;/Text&gt;&#10;            &lt;Text style={{ fontSize: 15, color: '#1F2430' }}&gt;处接口改动&lt;/Text&gt;&#10;            &lt;Box style={{ width: 1, height: 26, background: '#C7D2FE' }} /&gt;&#10;            &lt;Text style={{ fontSize: 34, fontWeight: 'bold', color: '#3730A3', fontFamily: &quot;'JetBrains Mono', Consolas, monospace&quot; }}&gt;660&lt;/Text&gt;&#10;            &lt;Text style={{ fontSize: 15, color: '#1F2430' }}&gt;项全量用例（执行期 +10）&lt;/Text&gt;&#10;        &lt;/Box&gt;&#10;&#10;        &lt;Box style={{ height: 232, marginTop: 16, flexDirection: 'column' }}&gt;&#10;            &lt;Text style={{ fontSize: 15, color: '#1F2430', lineHeight: 1.6, background: '#F6F7FB', borderLeft: '3px solid #0EA5E9', borderRadius: 8, padding: '12px 16px' }}&gt;纯 Web 底子（13 个页面 + REST + JWT）天然多端复用，所以花掉的是适配成本，不是移植成本。&lt;/Text&gt;&#10;&#10;            &lt;Box style={{ flexDirection: 'row', alignItems: 'stretch', gap: 12, marginTop: 16 }}&gt;&#10;                &lt;Box style={{ flex: 1.4, background: '#3730A3', borderRadius: 12, padding: '16px 18px', flexDirection: 'column' }}&gt;&#10;                    &lt;Text style={{ fontSize: 13, color: '#A5B4FC', fontFamily: &quot;'JetBrains Mono', Consolas, monospace&quot; }}&gt;PHASE 1　已落地&lt;/Text&gt;&#10;                    &lt;Text style={{ fontSize: 17, fontWeight: 'bold', color: '#FFFFFF', marginTop: 10 }}&gt;手机可用&lt;/Text&gt;&#10;                    &lt;Text style={{ fontSize: 14, color: '#C7D2FE', lineHeight: 1.6, marginTop: 8 }}&gt;响应式 + PWA + 局域网可达；等真机验收&lt;/Text&gt;&#10;                &lt;/Box&gt;&#10;                &lt;Box style={{ flex: 1.1, background: '#F6F7FB', borderRadius: 12, padding: '16px 18px', flexDirection: 'column' }}&gt;&#10;                    &lt;Text style={{ fontSize: 13, color: '#6B7280', fontFamily: &quot;'JetBrains Mono', Consolas, monospace&quot; }}&gt;PHASE 2&lt;/Text&gt;&#10;                    &lt;Text style={{ fontSize: 17, fontWeight: 'bold', color: '#1F2430', marginTop: 10 }}&gt;随身好用&lt;/Text&gt;&#10;                    &lt;Text style={{ fontSize: 14, color: '#6B7280', lineHeight: 1.6, marginTop: 8 }}&gt;通知角标 + 可选外发 + 云部署，待真机反馈排期&lt;/Text&gt;&#10;                &lt;/Box&gt;&#10;                &lt;Box style={{ flex: 0.9, background: '#F6F7FB', borderRadius: 12, padding: '16px 18px', flexDirection: 'column' }}&gt;&#10;                    &lt;Text style={{ fontSize: 13, color: '#6B7280', fontFamily: &quot;'JetBrains Mono', Consolas, monospace&quot; }}&gt;PHASE 3&lt;/Text&gt;&#10;                    &lt;Text style={{ fontSize: 17, fontWeight: 'bold', color: '#1F2430', marginTop: 10 }}&gt;按需再议&lt;/Text&gt;&#10;                    &lt;Text style={{ fontSize: 14, color: '#6B7280', lineHeight: 1.6, marginTop: 8 }}&gt;Capacitor 壳 / 小程序&lt;/Text&gt;&#10;                &lt;/Box&gt;&#10;            &lt;/Box&gt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13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5410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6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个提交</a:t>
            </a: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· 5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个里程碑</a:t>
            </a:r>
            <a:r>
              <a:rPr lang="en-US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接口零改动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325100" y="733425"/>
            <a:ext cx="1181100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1</a:t>
            </a: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：手机可用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5800" y="1314450"/>
            <a:ext cx="4000500" cy="19050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33450" y="1457325"/>
            <a:ext cx="35052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0EA5E9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33450" y="2657475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个串行提交，全部落地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33450" y="2924175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阶段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计划拆成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M1–M5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五个里程碑，一共六个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commit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876800" y="1314450"/>
            <a:ext cx="6629400" cy="19050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/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76800" y="1314450"/>
            <a:ext cx="6591300" cy="1905000"/>
          </a:xfrm>
          <a:prstGeom prst="rect">
            <a:avLst/>
          </a:prstGeom>
          <a:ln/>
        </p:spPr>
      </p:pic>
      <p:sp>
        <p:nvSpPr>
          <p:cNvPr id="63" name=""/>
          <p:cNvSpPr/>
          <p:nvPr/>
        </p:nvSpPr>
        <p:spPr>
          <a:xfrm rot="0" flipH="0" flipV="0">
            <a:off x="685800" y="3371850"/>
            <a:ext cx="10820400" cy="57150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14400" y="3467100"/>
            <a:ext cx="18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730A3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304925" y="357187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个里程碑（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>M1 → M5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2952750" y="3533775"/>
            <a:ext cx="9525" cy="247650"/>
          </a:xfrm>
          <a:prstGeom prst="rect">
            <a:avLst/>
          </a:prstGeom>
          <a:solidFill>
            <a:srgbClr val="C7D2FE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171825" y="3467100"/>
            <a:ext cx="18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730A3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562350" y="35718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处接口改动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486275" y="3533775"/>
            <a:ext cx="9525" cy="247650"/>
          </a:xfrm>
          <a:prstGeom prst="rect">
            <a:avLst/>
          </a:prstGeom>
          <a:solidFill>
            <a:srgbClr val="C7D2FE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705350" y="3467100"/>
            <a:ext cx="542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730A3"/>
                </a:solidFill>
                <a:latin typeface="JetBrains Mono"/>
                <a:ea typeface="JetBrains Mono"/>
              </a:rPr>
              <a:t>660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457825" y="357187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项全量用例（执行期</a:t>
            </a:r>
            <a:r>
              <a:rPr lang="en-US" sz="1125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+10</a:t>
            </a:r>
            <a:r>
              <a:rPr lang="zh-CN" sz="1125">
                <a:solidFill>
                  <a:srgbClr val="1F2430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714375" y="4095750"/>
            <a:ext cx="10820400" cy="504825"/>
          </a:xfrm>
          <a:prstGeom prst="roundRect">
            <a:avLst>
              <a:gd name="adj" fmla="val 15094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14375" y="4095750"/>
            <a:ext cx="10791825" cy="504825"/>
          </a:xfrm>
          <a:prstGeom prst="rect"/>
        </p:spPr>
        <p:txBody>
          <a:bodyPr wrap="none" lIns="114300" tIns="85725" rIns="114300" bIns="85725"/>
          <a:p>
            <a:pPr>
              <a:lnSpc>
                <a:spcPct val="160000"/>
              </a:lnSpc>
            </a:pPr>
            <a:r>
              <a:rPr lang="zh-CN" sz="1125">
                <a:solidFill>
                  <a:srgbClr val="1F2430"/>
                </a:solidFill>
                <a:highlight>
                  <a:srgbClr val="F6F7FB"/>
                </a:highlight>
                <a:latin typeface="Source Han Sans SC"/>
                <a:ea typeface="Source Han Sans SC"/>
              </a:rPr>
              <a:t>纯</a:t>
            </a:r>
            <a:r>
              <a:rPr lang="en-US" sz="1125">
                <a:solidFill>
                  <a:srgbClr val="1F2430"/>
                </a:solidFill>
                <a:highlight>
                  <a:srgbClr val="F6F7FB"/>
                </a:highlight>
                <a:latin typeface="Source Han Sans SC"/>
                <a:ea typeface="Source Han Sans SC"/>
              </a:rPr>
              <a:t xml:space="preserve"> Web </a:t>
            </a:r>
            <a:r>
              <a:rPr lang="zh-CN" sz="1125">
                <a:solidFill>
                  <a:srgbClr val="1F2430"/>
                </a:solidFill>
                <a:highlight>
                  <a:srgbClr val="F6F7FB"/>
                </a:highlight>
                <a:latin typeface="Source Han Sans SC"/>
                <a:ea typeface="Source Han Sans SC"/>
              </a:rPr>
              <a:t>底子（</a:t>
            </a:r>
            <a:r>
              <a:rPr lang="en-US" sz="1125">
                <a:solidFill>
                  <a:srgbClr val="1F2430"/>
                </a:solidFill>
                <a:highlight>
                  <a:srgbClr val="F6F7FB"/>
                </a:highlight>
                <a:latin typeface="Source Han Sans SC"/>
                <a:ea typeface="Source Han Sans SC"/>
              </a:rPr>
              <a:t xml:space="preserve">13 </a:t>
            </a:r>
            <a:r>
              <a:rPr lang="zh-CN" sz="1125">
                <a:solidFill>
                  <a:srgbClr val="1F2430"/>
                </a:solidFill>
                <a:highlight>
                  <a:srgbClr val="F6F7FB"/>
                </a:highlight>
                <a:latin typeface="Source Han Sans SC"/>
                <a:ea typeface="Source Han Sans SC"/>
              </a:rPr>
              <a:t>个页面</a:t>
            </a:r>
            <a:r>
              <a:rPr lang="en-US" sz="1125">
                <a:solidFill>
                  <a:srgbClr val="1F2430"/>
                </a:solidFill>
                <a:highlight>
                  <a:srgbClr val="F6F7FB"/>
                </a:highlight>
                <a:latin typeface="Source Han Sans SC"/>
                <a:ea typeface="Source Han Sans SC"/>
              </a:rPr>
              <a:t xml:space="preserve"> + REST + JWT</a:t>
            </a:r>
            <a:r>
              <a:rPr lang="zh-CN" sz="1125">
                <a:solidFill>
                  <a:srgbClr val="1F2430"/>
                </a:solidFill>
                <a:highlight>
                  <a:srgbClr val="F6F7FB"/>
                </a:highlight>
                <a:latin typeface="Source Han Sans SC"/>
                <a:ea typeface="Source Han Sans SC"/>
              </a:rPr>
              <a:t>）天然多端复用，所以花掉的是适配成本，不是移植成本。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85800" y="4752975"/>
            <a:ext cx="4362450" cy="1085850"/>
          </a:xfrm>
          <a:prstGeom prst="roundRect">
            <a:avLst>
              <a:gd name="adj" fmla="val 10526"/>
            </a:avLst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57250" y="4905375"/>
            <a:ext cx="4019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5B4FC"/>
                </a:solidFill>
                <a:latin typeface="JetBrains Mono"/>
                <a:ea typeface="JetBrains Mono"/>
              </a:rPr>
              <a:t>PHASE 1</a:t>
            </a:r>
            <a:r>
              <a:rPr lang="zh-CN" sz="975">
                <a:solidFill>
                  <a:srgbClr val="A5B4FC"/>
                </a:solidFill>
                <a:latin typeface="JetBrains Mono"/>
                <a:ea typeface="JetBrains Mono"/>
              </a:rPr>
              <a:t>　已落地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57250" y="5153025"/>
            <a:ext cx="4019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手机可用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57250" y="5429250"/>
            <a:ext cx="40195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7D2FE"/>
                </a:solidFill>
                <a:latin typeface="Source Han Sans SC"/>
                <a:ea typeface="Source Han Sans SC"/>
              </a:rPr>
              <a:t>响应式</a:t>
            </a:r>
            <a:r>
              <a:rPr lang="en-US" sz="1050">
                <a:solidFill>
                  <a:srgbClr val="C7D2FE"/>
                </a:solidFill>
                <a:latin typeface="Source Han Sans SC"/>
                <a:ea typeface="Source Han Sans SC"/>
              </a:rPr>
              <a:t xml:space="preserve"> + PWA + </a:t>
            </a:r>
            <a:r>
              <a:rPr lang="zh-CN" sz="1050">
                <a:solidFill>
                  <a:srgbClr val="C7D2FE"/>
                </a:solidFill>
                <a:latin typeface="Source Han Sans SC"/>
                <a:ea typeface="Source Han Sans SC"/>
              </a:rPr>
              <a:t>局域网可达；等真机验收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162550" y="4752975"/>
            <a:ext cx="3429000" cy="1085850"/>
          </a:xfrm>
          <a:prstGeom prst="roundRect">
            <a:avLst>
              <a:gd name="adj" fmla="val 10526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34000" y="4905375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PHASE 2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34000" y="5153025"/>
            <a:ext cx="3086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430"/>
                </a:solidFill>
                <a:latin typeface="Source Han Sans SC"/>
                <a:ea typeface="Source Han Sans SC"/>
              </a:rPr>
              <a:t>随身好用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334000" y="54292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通知角标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可选外发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云部署，待真机反馈排期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705850" y="4752975"/>
            <a:ext cx="2800350" cy="1085850"/>
          </a:xfrm>
          <a:prstGeom prst="roundRect">
            <a:avLst>
              <a:gd name="adj" fmla="val 10526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877300" y="4905375"/>
            <a:ext cx="2457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PHASE 3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877300" y="5153025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430"/>
                </a:solidFill>
                <a:latin typeface="Source Han Sans SC"/>
                <a:ea typeface="Source Han Sans SC"/>
              </a:rPr>
              <a:t>按需再议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877300" y="5429250"/>
            <a:ext cx="2457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Capacitor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壳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小程序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4&lt;/Text&gt;&#10;            &lt;Text style={{ fontSize: 34, fontWeight: 'bold', color: '#1F2430', letterSpacing: 0.5 }}&gt;四个关键取舍：布局、触控、手势、缓存&lt;/Text&gt;&#10;        &lt;/Box&gt;&#10;        &lt;Text style={{ fontSize: 16, color: '#6B7280', paddingBottom: 6 }}&gt;每条都给了判据，不是「已适配」&lt;/Text&gt;&#10;    &lt;/Box&gt;&#10;&#10;    &lt;Box style={{ height: 544, paddingTop: 20, flexDirection: 'row', gap: 20 }}&gt;&#10;&#10;        &lt;Box style={{ width: 300, height: '100%', background: '#3730A3', borderRadius: 16, padding: '26px 24px', flexDirection: 'column' }}&gt;&#10;            &lt;Text style={{ fontSize: 12, color: '#A5B4FC', letterSpacing: 2, fontFamily: &quot;'JetBrains Mono', Consolas, monospace&quot; }}&gt;MOBILE PHASE 1&lt;/Text&gt;&#10;            &lt;Text style={{ fontSize: 96, fontWeight: 'bold', color: '#0EA5E9', lineHeight: 1.0, letterSpacing: -3, marginTop: 18, fontFamily: &quot;'JetBrains Mono', Consolas, monospace&quot; }}&gt;4&lt;/Text&gt;&#10;            &lt;Text style={{ fontSize: 26, fontWeight: 'bold', color: '#FFFFFF', marginTop: 10 }}&gt;个关键取舍&lt;/Text&gt;&#10;            &lt;Box style={{ height: 2, width: 56, background: '#0EA5E9', marginTop: 20 }} /&gt;&#10;            &lt;Text style={{ fontSize: 15, color: '#C7D2FE', lineHeight: 1.75, marginTop: 20 }}&gt;移动端的问题不是「变小了」，是「输入方式换了」——手指、软键盘、断网、隐私，四件事都不在桌面端的设计假设里。&lt;/Text&gt;&#10;        &lt;/Box&gt;&#10;&#10;        &lt;Box style={{ flex: 1, height: '100%', flexDirection: 'column', gap: 18 }}&gt;&#10;&#10;            &lt;Box style={{ height: 104, background: '#F6F7FB', borderRadius: 12, padding: '14px 18px', flexDirection: 'column' }}&gt;&#10;                &lt;Text style={{ fontSize: 15, fontWeight: 'bold', color: '#3730A3' }}&gt;① 布局：底部导航&lt;/Text&gt;&#10;                &lt;Text style={{ fontSize: 14, color: '#1F2430', lineHeight: 1.6, marginTop: 8 }}&gt;顶栏导航脱出为 fixed 横滑条，scroll-snap + 刘海安全区避让；纯 CSS、零 JS、零 HTML 改动，桌面端布局完全不变。&lt;/Text&gt;&#10;            &lt;/Box&gt;&#10;&#10;            &lt;Box style={{ height: 104, background: '#F6F7FB', borderRadius: 12, padding: '14px 18px', flexDirection: 'column' }}&gt;&#10;                &lt;Text style={{ fontSize: 15, fontWeight: 'bold', color: '#3730A3' }}&gt;② 触控：目标与字号&lt;/Text&gt;&#10;                &lt;Text style={{ fontSize: 14, color: '#1F2430', lineHeight: 1.6, marginTop: 8 }}&gt;按钮与输入 ≥ 44px；输入框 16px 防 iOS 聚焦缩放；阅读器字号三档（15 / 18 / 22），旧连续值载入时吸附最近档。&lt;/Text&gt;&#10;            &lt;/Box&gt;&#10;&#10;            &lt;Box style={{ height: 104, background: '#F6F7FB', borderRadius: 12, padding: '14px 18px', flexDirection: 'column' }}&gt;&#10;                &lt;Text style={{ fontSize: 15, fontWeight: 'bold', color: '#3730A3' }}&gt;③ 手势：与滚动共存&lt;/Text&gt;&#10;                &lt;Text style={{ fontSize: 14, color: '#1F2430', lineHeight: 1.6, marginTop: 8 }}&gt;翻章要求水平位移 ≥ 60px 且 &amp;gt; 1.5 倍垂直位移才触发；抽屉上滑关闭只挂不滚动的头部——绑在滚动容器上必然误触。&lt;/Text&gt;&#10;            &lt;/Box&gt;&#10;&#10;            &lt;Box style={{ height: 104, background: '#F6F7FB', borderRadius: 12, padding: '14px 18px', flexDirection: 'column' }}&gt;&#10;                &lt;Text style={{ fontSize: 15, fontWeight: 'bold', color: '#3730A3' }}&gt;④ 缓存：PWA 的边界&lt;/Text&gt;&#10;                &lt;Text style={{ fontSize: 14, color: '#1F2430', lineHeight: 1.6, marginTop: 8 }}&gt;Service Worker 走网络优先，缓存只做断网兜底；/api/ 带 JWT 绝不进缓存；且必须挂根路径，放 /assets 下整站不受控。&lt;/Text&gt;&#10;            &lt;/Box&gt;&#10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14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5915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四个关键取舍：布局、触控、手势、缓存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220200" y="733425"/>
            <a:ext cx="2286000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每条都给了判据，不是「已适配」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85800" y="1314450"/>
            <a:ext cx="2857500" cy="4991100"/>
          </a:xfrm>
          <a:prstGeom prst="roundRect">
            <a:avLst>
              <a:gd name="adj" fmla="val 5333"/>
            </a:avLst>
          </a:prstGeom>
          <a:solidFill>
            <a:srgbClr val="3730A3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2400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A5B4FC"/>
                </a:solidFill>
                <a:latin typeface="JetBrains Mono"/>
                <a:ea typeface="JetBrains Mono"/>
              </a:rPr>
              <a:t>MOBILE PHASE 1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14400" y="1876425"/>
            <a:ext cx="24003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0EA5E9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14400" y="3076575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Source Han Sans SC"/>
                <a:ea typeface="Source Han Sans SC"/>
              </a:rPr>
              <a:t>个关键取舍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914400" y="3571875"/>
            <a:ext cx="533400" cy="1905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14400" y="3781425"/>
            <a:ext cx="24003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C7D2FE"/>
                </a:solidFill>
                <a:latin typeface="Source Han Sans SC"/>
                <a:ea typeface="Source Han Sans SC"/>
              </a:rPr>
              <a:t>移动端的问题不是「变小了」，是「输入方式换了」——手指、软键盘、断网、隐私，四件事都不在桌面端的设计假设里。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733800" y="1314450"/>
            <a:ext cx="7772400" cy="990600"/>
          </a:xfrm>
          <a:prstGeom prst="roundRect">
            <a:avLst>
              <a:gd name="adj" fmla="val 11538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905250" y="1447800"/>
            <a:ext cx="742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730A3"/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布局：底部导航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905250" y="1695450"/>
            <a:ext cx="7429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顶栏导航脱出为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fixed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横滑条，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scroll-snap +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刘海安全区避让；纯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CSS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、零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JS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、零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HTML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改动，桌面端布局完全不变。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3733800" y="2476500"/>
            <a:ext cx="7772400" cy="990600"/>
          </a:xfrm>
          <a:prstGeom prst="roundRect">
            <a:avLst>
              <a:gd name="adj" fmla="val 11538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905250" y="2609850"/>
            <a:ext cx="742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730A3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触控：目标与字号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905250" y="2857500"/>
            <a:ext cx="7429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按钮与输入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≥ 44px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；输入框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16px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防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iOS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聚焦缩放；阅读器字号三档（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>15 / 18 / 22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），旧连续值载入时吸附最近档。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733800" y="3638550"/>
            <a:ext cx="7772400" cy="990600"/>
          </a:xfrm>
          <a:prstGeom prst="roundRect">
            <a:avLst>
              <a:gd name="adj" fmla="val 11538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905250" y="3771900"/>
            <a:ext cx="742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730A3"/>
                </a:solidFill>
                <a:latin typeface="Source Han Sans SC"/>
                <a:ea typeface="Source Han Sans SC"/>
              </a:rPr>
              <a:t xml:space="preserve">③ </a:t>
            </a: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手势：与滚动共存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905250" y="4019550"/>
            <a:ext cx="7429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翻章要求水平位移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≥ 60px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且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&gt; 1.5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倍垂直位移才触发；抽屉上滑关闭只挂不滚动的头部——绑在滚动容器上必然误触。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733800" y="4800600"/>
            <a:ext cx="7772400" cy="990600"/>
          </a:xfrm>
          <a:prstGeom prst="roundRect">
            <a:avLst>
              <a:gd name="adj" fmla="val 11538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905250" y="4933950"/>
            <a:ext cx="742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730A3"/>
                </a:solidFill>
                <a:latin typeface="Source Han Sans SC"/>
                <a:ea typeface="Source Han Sans SC"/>
              </a:rPr>
              <a:t xml:space="preserve">④ </a:t>
            </a: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缓存：</a:t>
            </a:r>
            <a:r>
              <a:rPr lang="en-US" sz="1125" b="1">
                <a:solidFill>
                  <a:srgbClr val="3730A3"/>
                </a:solidFill>
                <a:latin typeface="Source Han Sans SC"/>
                <a:ea typeface="Source Han Sans SC"/>
              </a:rPr>
              <a:t xml:space="preserve">PWA </a:t>
            </a:r>
            <a:r>
              <a:rPr lang="zh-CN" sz="1125" b="1">
                <a:solidFill>
                  <a:srgbClr val="3730A3"/>
                </a:solidFill>
                <a:latin typeface="Source Han Sans SC"/>
                <a:ea typeface="Source Han Sans SC"/>
              </a:rPr>
              <a:t>的边界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905250" y="5181600"/>
            <a:ext cx="7429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Service Worker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走网络优先，缓存只做断网兜底；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/api/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带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绝不进缓存；且必须挂根路径，放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/assets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下整站不受控。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4" name="" descr="&lt;Slide style={{ width: 1280, height: 720, padding: '34px 72px 22px 72px', background: '#FFFFFF', flexDirection: 'column', fontFamily: &quot;'Source Han Sans SC', 'Noto Sans SC', 'Microsoft YaHei', sans-serif&quot; }}&gt;&#10;&#10;    &lt;Box style={{ height: 84, flexDirection: 'row', alignItems: 'flex-end', justifyContent: 'space-between', borderBottom: '1px solid #E5E7EB', paddingBottom: 14 }}&gt;&#10;        &lt;Box style={{ flexDirection: 'row', alignItems: 'baseline', gap: 14 }}&gt;&#10;            &lt;Text style={{ fontSize: 13, fontWeight: 'bold', color: '#3730A3', fontFamily: &quot;'JetBrains Mono', Consolas, monospace&quot; }}&gt;04&lt;/Text&gt;&#10;            &lt;Text style={{ fontSize: 34, fontWeight: 'bold', color: '#1F2430', letterSpacing: 0.5 }}&gt;安全边界与下一步&lt;/Text&gt;&#10;        &lt;/Box&gt;&#10;        &lt;Text style={{ fontSize: 16, color: '#6B7280', paddingBottom: 6 }}&gt;能到哪儿、不到哪儿，先说清楚&lt;/Text&gt;&#10;    &lt;/Box&gt;&#10;&#10;    &lt;Box style={{ height: 544, paddingTop: 20, flexDirection: 'row', gap: 24 }}&gt;&#10;&#10;        &lt;Box style={{ width: 680, height: '100%', background: '#F6F7FB', borderRadius: 16 }}&gt;&#10;            &lt;svg width={680} height={520} viewBox='0 0 680 520'&gt;&#10;                &lt;text x='40' y='40' fontSize='15' fontWeight='bold' fill='#3730A3'&gt;可达范围分三层，每一层的信任假设不同&lt;/text&gt;&#10;&#10;                &lt;rect x='40' y='60' width='600' height='90' rx='12' fill='#EEEDFE' stroke='#3730A3' strokeWidth='1' /&gt;&#10;                &lt;text x='66' y='96' fontSize='17' fontWeight='bold' fill='#3730A3'&gt;本机 / localhost&lt;/text&gt;&#10;                &lt;text x='66' y='124' fontSize='13' fill='#6B7280'&gt;攻击面最小；start_server_local.bat 只绑 127.0.0.1&lt;/text&gt;&#10;&#10;                &lt;rect x='40' y='165' width='600' height='110' rx='12' fill='#FFFFFF' stroke='#E5E7EB' strokeWidth='1' /&gt;&#10;                &lt;text x='66' y='201' fontSize='17' fontWeight='bold' fill='#1F2430'&gt;家庭局域网 / 0.0.0.0&lt;/text&gt;&#10;                &lt;text x='66' y='228' fontSize='13' fill='#6B7280'&gt;明文 HTTP，同网段可嗅探 JWT —— 信任模型就限定在这里&lt;/text&gt;&#10;                &lt;text x='66' y='250' fontSize='13' fill='#6B7280'&gt;start_server.bat 绑 0.0.0.0 供手机可达，防火墙只勾专用网络&lt;/text&gt;&#10;&#10;                &lt;rect x='40' y='290' width='600' height='110' rx='12' fill='#FFFFFF' stroke='#0EA5E9' strokeWidth='1.5' /&gt;&#10;                &lt;text x='66' y='326' fontSize='17' fontWeight='bold' fill='#0EA5E9'&gt;出门：Tailscale 加密隧道&lt;/text&gt;&#10;                &lt;text x='66' y='353' fontSize='13' fill='#6B7280'&gt;tailscale serve 反代 HTTPS，tailnet 自动证书&lt;/text&gt;&#10;                &lt;text x='66' y='375' fontSize='13' fill='#6B7280'&gt;顺带满足 PWA 安装所需的安全上下文（HTTPS 或 localhost）&lt;/text&gt;&#10;&#10;                &lt;rect x='40' y='418' width='600' height='52' rx='12' fill='#FFFFFF' stroke='#E5E7EB' strokeWidth='1' strokeDasharray='5 4' /&gt;&#10;                &lt;text x='66' y='450' fontSize='14' fill='#1F2430'&gt;明确不做：路由器端口映射 / 公网直暴露 —— 收益配不上风险&lt;/text&gt;&#10;            &lt;/svg&gt;&#10;        &lt;/Box&gt;&#10;&#10;        &lt;Box style={{ flex: 1, height: '100%', flexDirection: 'column' }}&gt;&#10;            &lt;Text style={{ fontSize: 18, fontWeight: 'bold', color: '#1F2430' }}&gt;安全边界的三句话&lt;/Text&gt;&#10;            &lt;Box style={{ flexDirection: 'column', gap: 8, marginTop: 12 }}&gt;&#10;                &lt;Box style={{ height: 64, background: '#F6F7FB', borderRadius: 10, padding: '0px 16px', flexDirection: 'row', alignItems: 'center' }}&gt;&#10;                    &lt;Text style={{ fontSize: 14, color: '#1F2430', lineHeight: 1.5 }}&gt;明文 HTTP 下 JWT 可被同网段嗅探，所以信任模型&lt;span style={{ fontWeight: 'bold' }}&gt;只到家庭私人网络&lt;/span&gt;。&lt;/Text&gt;&#10;                &lt;/Box&gt;&#10;                &lt;Box style={{ height: 64, background: '#F6F7FB', borderRadius: 10, padding: '0px 16px', flexDirection: 'row', alignItems: 'center' }}&gt;&#10;                    &lt;Text style={{ fontSize: 14, color: '#1F2430', lineHeight: 1.5 }}&gt;两个启动脚本并存：局域网可达版与仅本机版，默认不一刀切。&lt;/Text&gt;&#10;                &lt;/Box&gt;&#10;                &lt;Box style={{ height: 64, background: '#F6F7FB', borderRadius: 10, padding: '0px 16px', flexDirection: 'row', alignItems: 'center' }}&gt;&#10;                    &lt;Text style={{ fontSize: 14, color: '#1F2430', lineHeight: 1.5 }}&gt;出门一律加密隧道；不做端口映射，也不做公网直暴露。&lt;/Text&gt;&#10;                &lt;/Box&gt;&#10;            &lt;/Box&gt;&#10;&#10;            &lt;Text style={{ fontSize: 18, fontWeight: 'bold', color: '#1F2430', marginTop: 18 }}&gt;下一步&lt;/Text&gt;&#10;            &lt;Box style={{ flexDirection: 'column', gap: 8, marginTop: 12 }}&gt;&#10;                &lt;Box style={{ height: 64, background: '#FFFFFF', border: '1px solid #E5E7EB', borderRadius: 10, padding: '0px 16px', flexDirection: 'row', alignItems: 'center' }}&gt;&#10;                    &lt;Text style={{ fontSize: 14, color: '#1F2430', lineHeight: 1.5 }}&gt;&lt;span style={{ fontWeight: 'bold', color: '#3730A3' }}&gt;真机验收　&lt;/span&gt;底部导航横滑 / 对话贴底 / 阅读器手势与划词 / PWA 安装引导。&lt;/Text&gt;&#10;                &lt;/Box&gt;&#10;                &lt;Box style={{ height: 64, background: '#FFFFFF', border: '1px solid #E5E7EB', borderRadius: 10, padding: '0px 16px', flexDirection: 'row', alignItems: 'center' }}&gt;&#10;                    &lt;Text style={{ fontSize: 14, color: '#1F2430', lineHeight: 1.5 }}&gt;&lt;span style={{ fontWeight: 'bold', color: '#3730A3' }}&gt;重立基线　&lt;/span&gt;评测基线以 deepseek-flash 重跑，历史基线换供应商后不再可比。&lt;/Text&gt;&#10;                &lt;/Box&gt;&#10;                &lt;Box style={{ height: 64, background: '#FFFFFF', border: '1px solid #E5E7EB', borderRadius: 10, padding: '0px 16px', flexDirection: 'row', alignItems: 'center' }}&gt;&#10;                    &lt;Text style={{ fontSize: 14, color: '#1F2430', lineHeight: 1.5 }}&gt;&lt;span style={{ fontWeight: 'bold', color: '#3730A3' }}&gt;阶段 2　&lt;/span&gt;通知角标、可选外发与云部署，按真机反馈排期。&lt;/Text&gt;&#10;                &lt;/Box&gt;&#10;            &lt;/Box&gt;&#10;        &lt;/Box&gt;&#10;&#10;    &lt;/Box&gt;&#10;&#10;    &lt;Box style={{ height: 36, flexDirection: 'row', alignItems: 'center', justifyContent: 'space-between' }}&gt;&#10;        &lt;Text style={{ fontSize: 13, color: '#6B7280' }}&gt;认知副驾 · 周技术汇报&lt;/Text&gt;&#10;        &lt;Text style={{ fontSize: 13, color: '#6B7280', fontFamily: &quot;'JetBrains Mono', Consolas, monospace&quot; }}&gt;15 / 1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85800" y="323850"/>
            <a:ext cx="10820400" cy="800100"/>
          </a:xfrm>
          <a:custGeom>
            <a:pathLst>
              <a:path w="1136" h="84">
                <a:moveTo>
                  <a:pt x="0" y="83"/>
                </a:moveTo>
                <a:lnTo>
                  <a:pt x="1136" y="83"/>
                </a:lnTo>
                <a:lnTo>
                  <a:pt x="1136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5800" y="590550"/>
            <a:ext cx="142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730A3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62025" y="590550"/>
            <a:ext cx="2628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1F2430"/>
                </a:solidFill>
                <a:latin typeface="Source Han Sans SC"/>
                <a:ea typeface="Source Han Sans SC"/>
              </a:rPr>
              <a:t>安全边界与下一步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372600" y="733425"/>
            <a:ext cx="2133600" cy="2476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280"/>
                </a:solidFill>
                <a:latin typeface="Source Han Sans SC"/>
                <a:ea typeface="Source Han Sans SC"/>
              </a:rPr>
              <a:t>能到哪儿、不到哪儿，先说清楚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85800" y="1314450"/>
            <a:ext cx="6477000" cy="4991100"/>
          </a:xfrm>
          <a:prstGeom prst="roundRect">
            <a:avLst>
              <a:gd name="adj" fmla="val 3053"/>
            </a:avLst>
          </a:prstGeom>
          <a:solidFill>
            <a:srgbClr val="F6F7FB"/>
          </a:solidFill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314450"/>
            <a:ext cx="6477000" cy="49530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391400" y="1314450"/>
            <a:ext cx="411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安全边界的三句话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391400" y="1638300"/>
            <a:ext cx="4114800" cy="609600"/>
          </a:xfrm>
          <a:prstGeom prst="roundRect">
            <a:avLst>
              <a:gd name="adj" fmla="val 15625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543800" y="1704975"/>
            <a:ext cx="3810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明文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HTTP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下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可被同网段嗅探，所以信任模型</a:t>
            </a:r>
            <a:r>
              <a:rPr lang="zh-CN" sz="1050" b="1">
                <a:solidFill>
                  <a:srgbClr val="1F2430"/>
                </a:solidFill>
                <a:latin typeface="Source Han Sans SC"/>
                <a:ea typeface="Source Han Sans SC"/>
              </a:rPr>
              <a:t>只到家庭私人网络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391400" y="2324100"/>
            <a:ext cx="4114800" cy="609600"/>
          </a:xfrm>
          <a:prstGeom prst="roundRect">
            <a:avLst>
              <a:gd name="adj" fmla="val 15625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543800" y="250507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两个启动脚本并存：局域网可达版与仅本机版，默认不一刀切。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391400" y="3009900"/>
            <a:ext cx="4114800" cy="609600"/>
          </a:xfrm>
          <a:prstGeom prst="roundRect">
            <a:avLst>
              <a:gd name="adj" fmla="val 15625"/>
            </a:avLst>
          </a:prstGeom>
          <a:solidFill>
            <a:srgbClr val="F6F7F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543800" y="3190875"/>
            <a:ext cx="3333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出门一律加密隧道；不做端口映射，也不做公网直暴露。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391400" y="3790950"/>
            <a:ext cx="411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430"/>
                </a:solidFill>
                <a:latin typeface="Source Han Sans SC"/>
                <a:ea typeface="Source Han Sans SC"/>
              </a:rPr>
              <a:t>下一步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391400" y="4114800"/>
            <a:ext cx="41148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543800" y="4181475"/>
            <a:ext cx="3810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3730A3"/>
                </a:solidFill>
                <a:latin typeface="Source Han Sans SC"/>
                <a:ea typeface="Source Han Sans SC"/>
              </a:rPr>
              <a:t>真机验收　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底部导航横滑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对话贴底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阅读器手势与划词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/ PWA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安装引导。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391400" y="4800600"/>
            <a:ext cx="41148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543800" y="4867275"/>
            <a:ext cx="3810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3730A3"/>
                </a:solidFill>
                <a:latin typeface="Source Han Sans SC"/>
                <a:ea typeface="Source Han Sans SC"/>
              </a:rPr>
              <a:t>重立基线　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评测基线以</a:t>
            </a:r>
            <a:r>
              <a:rPr lang="en-US" sz="1050">
                <a:solidFill>
                  <a:srgbClr val="1F2430"/>
                </a:solidFill>
                <a:latin typeface="Source Han Sans SC"/>
                <a:ea typeface="Source Han Sans SC"/>
              </a:rPr>
              <a:t xml:space="preserve"> deepseek-flash 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重跑，历史基线换供应商后不再可比。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391400" y="5486400"/>
            <a:ext cx="41148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543800" y="566737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3730A3"/>
                </a:solidFill>
                <a:latin typeface="Source Han Sans SC"/>
                <a:ea typeface="Source Han Sans SC"/>
              </a:rPr>
              <a:t>阶段</a:t>
            </a:r>
            <a:r>
              <a:rPr lang="en-US" sz="1050" b="1">
                <a:solidFill>
                  <a:srgbClr val="3730A3"/>
                </a:solidFill>
                <a:latin typeface="Source Han Sans SC"/>
                <a:ea typeface="Source Han Sans SC"/>
              </a:rPr>
              <a:t xml:space="preserve"> 2</a:t>
            </a:r>
            <a:r>
              <a:rPr lang="zh-CN" sz="1050" b="1">
                <a:solidFill>
                  <a:srgbClr val="3730A3"/>
                </a:solidFill>
                <a:latin typeface="Source Han Sans SC"/>
                <a:ea typeface="Source Han Sans SC"/>
              </a:rPr>
              <a:t>　</a:t>
            </a:r>
            <a:r>
              <a:rPr lang="zh-CN" sz="1050">
                <a:solidFill>
                  <a:srgbClr val="1F2430"/>
                </a:solidFill>
                <a:latin typeface="Source Han Sans SC"/>
                <a:ea typeface="Source Han Sans SC"/>
              </a:rPr>
              <a:t>通知角标、可选外发与云部署，按真机反馈排期。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5800" y="64008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认知副驾</a:t>
            </a:r>
            <a:r>
              <a:rPr lang="en-US" sz="97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020425" y="64008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280"/>
                </a:solidFill>
                <a:latin typeface="JetBrains Mono"/>
                <a:ea typeface="JetBrains Mono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8" name="" descr="&lt;Slide style={{ width: 1280, height: 720, position: 'relative', background: 'linear-gradient(120deg, #1B1856 0%, #3730A3 52%, #4F46E5 100%)', overflow: 'hidden', padding: 0, fontFamily: &quot;'Source Han Sans SC', 'Noto Sans SC', 'Microsoft YaHei', sans-serif&quot; }}&gt;&#10;&#10;    &lt;svg width={1280} height={720} viewBox='0 0 1280 720' style={{ position: 'absolute', top: 0, left: 0 }}&gt;&#10;        &lt;rect x='140' y='176' width='170' height='48' rx='10' fill='none' stroke='#A5B4FC' strokeWidth='1' opacity='0.6' /&gt;&#10;        &lt;rect x='386' y='176' width='170' height='48' rx='10' fill='none' stroke='#A5B4FC' strokeWidth='1' opacity='0.6' /&gt;&#10;        &lt;rect x='632' y='176' width='170' height='48' rx='10' fill='none' stroke='#A5B4FC' strokeWidth='1' opacity='0.6' /&gt;&#10;        &lt;rect x='878' y='176' width='170' height='48' rx='10' fill='none' stroke='#0EA5E9' strokeWidth='1.5' opacity='0.9' /&gt;&#10;&#10;        &lt;text x='225' y='206' fontSize='16' fill='#C7D2FE' textAnchor='middle'&gt;Prompt&lt;/text&gt;&#10;        &lt;text x='471' y='206' fontSize='16' fill='#C7D2FE' textAnchor='middle'&gt;Context&lt;/text&gt;&#10;        &lt;text x='717' y='206' fontSize='16' fill='#C7D2FE' textAnchor='middle'&gt;Harness&lt;/text&gt;&#10;        &lt;text x='963' y='206' fontSize='16' fill='#E6F6FE' textAnchor='middle'&gt;Loop&lt;/text&gt;&#10;&#10;        &lt;line x1='225' y1='224' x2='626' y2='300' fill='none' stroke='#A5B4FC' strokeWidth='1' opacity='0.55' /&gt;&#10;        &lt;line x1='471' y1='224' x2='632' y2='300' fill='none' stroke='#A5B4FC' strokeWidth='1' opacity='0.55' /&gt;&#10;        &lt;line x1='717' y1='224' x2='648' y2='300' fill='none' stroke='#A5B4FC' strokeWidth='1' opacity='0.55' /&gt;&#10;        &lt;line x1='963' y1='224' x2='654' y2='300' fill='none' stroke='#0EA5E9' strokeWidth='1.5' opacity='0.85' /&gt;&#10;&#10;        &lt;circle cx='640' cy='304' r='7' fill='#0EA5E9' /&gt;&#10;        &lt;line x1='640' y1='311' x2='640' y2='352' stroke='#0EA5E9' strokeWidth='2' /&gt;&#10;&#10;        &lt;circle cx='1090' cy='120' r='150' fill='none' stroke='#A5B4FC' strokeWidth='1' opacity='0.12' /&gt;&#10;    &lt;/svg&gt;&#10;&#10;    &lt;Box style={{ position: 'absolute', left: 72, top: 368, width: 1136, flexDirection: 'column', alignItems: 'center' }}&gt;&#10;        &lt;Text style={{ fontSize: 40, fontWeight: 'bold', color: '#FFFFFF', lineHeight: 1.4, letterSpacing: 2, textAlign: 'center' }}&gt;不是记住四个名词，&lt;br /&gt;是知道出问题时该往哪一层修。&lt;/Text&gt;&#10;        &lt;Box style={{ height: 3, width: 88, background: '#0EA5E9', marginTop: 30 }} /&gt;&#10;        &lt;Text style={{ fontSize: 17, color: '#A5B4FC', marginTop: 28, textAlign: 'center' }}&gt;概念只是地图；这一周真正拿到的，是一张定位表。&lt;/Text&gt;&#10;    &lt;/Box&gt;&#10;&#10;    &lt;Text style={{ position: 'absolute', left: 92, bottom: 64, fontSize: 14, color: '#93A6E6' }}&gt;汇报人：（待填）　·　2026-10-15　·　认知副驾 · 周技术汇报&lt;/Text&gt;&#10;    &lt;Text style={{ position: 'absolute', right: 72, bottom: 24, fontSize: 13, color: '#7C8CD8', fontFamily: &quot;'JetBrains Mono', Consolas, monospace&quot; }}&gt;16 / 16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856"/>
              </a:gs>
              <a:gs pos="52000">
                <a:srgbClr val="3730A3"/>
              </a:gs>
              <a:gs pos="100000">
                <a:srgbClr val="4F46E5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295650" y="3505200"/>
            <a:ext cx="5600700" cy="12858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3000" b="1" spc="150">
                <a:solidFill>
                  <a:srgbClr val="FFFFFF"/>
                </a:solidFill>
                <a:latin typeface="Source Han Sans SC"/>
                <a:ea typeface="Source Han Sans SC"/>
              </a:rPr>
              <a:t>不是记住四个名词，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000" b="1" spc="150">
                <a:solidFill>
                  <a:srgbClr val="FFFFFF"/>
                </a:solidFill>
                <a:latin typeface="Source Han Sans SC"/>
                <a:ea typeface="Source Han Sans SC"/>
              </a:rPr>
              <a:t>是知道出问题时该往哪一层修。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5676900" y="5076825"/>
            <a:ext cx="8382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238625" y="5372100"/>
            <a:ext cx="37242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A5B4FC"/>
                </a:solidFill>
                <a:latin typeface="Source Han Sans SC"/>
                <a:ea typeface="Source Han Sans SC"/>
              </a:rPr>
              <a:t>概念只是地图；这一周真正拿到的，是一张定位表。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76300" y="60864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3A6E6"/>
                </a:solidFill>
                <a:latin typeface="Source Han Sans SC"/>
                <a:ea typeface="Source Han Sans SC"/>
              </a:rPr>
              <a:t>汇报人：（待填）　·　</a:t>
            </a:r>
            <a:r>
              <a:rPr lang="en-US" sz="1050">
                <a:solidFill>
                  <a:srgbClr val="93A6E6"/>
                </a:solidFill>
                <a:latin typeface="Source Han Sans SC"/>
                <a:ea typeface="Source Han Sans SC"/>
              </a:rPr>
              <a:t>2026-10-15</a:t>
            </a:r>
            <a:r>
              <a:rPr lang="zh-CN" sz="1050">
                <a:solidFill>
                  <a:srgbClr val="93A6E6"/>
                </a:solidFill>
                <a:latin typeface="Source Han Sans SC"/>
                <a:ea typeface="Source Han Sans SC"/>
              </a:rPr>
              <a:t>　·　认知副驾</a:t>
            </a:r>
            <a:r>
              <a:rPr lang="en-US" sz="1050">
                <a:solidFill>
                  <a:srgbClr val="93A6E6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93A6E6"/>
                </a:solidFill>
                <a:latin typeface="Source Han Sans SC"/>
                <a:ea typeface="Source Han Sans SC"/>
              </a:rPr>
              <a:t>周技术汇报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020425" y="64770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C8CD8"/>
                </a:solidFill>
                <a:latin typeface="JetBrains Mono"/>
                <a:ea typeface="JetBrains Mono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2026-10-15T08:33:58Z</dcterms:created>
  <dcterms:modified xsi:type="dcterms:W3CDTF">2026-10-15T08:33:58Z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{"AIGC":{"Label":"1","ContentProducer":"00119111010856365494821B355","ProduceID":"11ce5c9ae7be4755bf643ad2e3a9f503","ReservedCode1":"","ContentPropagator":"00119111010856365494821B355","PropagateID":"11ce5c9ae7be4755bf643ad2e3a9f503","ReservedCode2":""}}</vt:lpwstr>
  </property>
</Properties>
</file>