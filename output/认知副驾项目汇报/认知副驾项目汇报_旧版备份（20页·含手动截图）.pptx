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72" r:id="rId17"/>
    <p:sldId id="274" r:id="rId18"/>
    <p:sldId id="273" r:id="rId19"/>
    <p:sldId id="275" r:id="rId20"/>
    <p:sldId id="269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220' cy='60' r='260' fill='#1E4FA8' opacity='0.35' /&gt;&#10;        &lt;circle cx='120' cy='680' r='300' fill='none' stroke='#FFFFFF' strokeWidth='1' opacity='0.12' /&gt;&#10;        &lt;circle cx='120' cy='680' r='220' fill='none' stroke='#FFFFFF' strokeWidth='1' opacity='0.08' /&gt;&#10;    &lt;/svg&gt;&#10;    &lt;Box style={{ position: 'absolute', top: 96, left: 0, width: '100%', flexDirection: 'row', justifyContent: 'center' }}&gt;&#10;        &lt;Box style={{ flexDirection: 'row', alignItems: 'center', gap: 14 }}&gt;&#10;            &lt;Box style={{ width: 34, height: 3, background: '#FFC107' }} /&gt;&#10;            &lt;Text style={{ fontSize: 20, color: '#BBD0F0', letterSpacing: 4 }}&gt;24 级 · AI 智能体软件开发项目 · 工作室汇报&lt;/Text&gt;&#10;            &lt;Box style={{ width: 34, height: 3, background: '#FFC107' }} /&gt;&#10;        &lt;/Box&gt;&#10;    &lt;/Box&gt;&#10;    &lt;Box style={{ position: 'absolute', top: 168, left: 0, width: '100%', alignItems: 'center' }}&gt;&#10;        &lt;Text style={{ fontSize: 92, fontWeight: 'bold', color: '#FFFFFF', letterSpacing: 10 }}&gt;认知副驾&lt;/Text&gt;&#10;        &lt;Text style={{ fontSize: 30, color: '#9FBCE8', marginTop: 14, fontFamily: 'Georgia, serif', letterSpacing: 3 }}&gt;Cognitive Copilot&lt;/Text&gt;&#10;        &lt;Text style={{ fontSize: 26, color: '#E8EFF8', marginTop: 30 }}&gt;个人知识学习 AI 智能体 —— 把「收藏的碎片」转化为「可调用的认知」&lt;/Text&gt;&#10;    &lt;/Box&gt;&#10;    &lt;Box style={{ position: 'absolute', top: 452, left: 240, width: 800, padding: '20px 32px', background: 'rgba(255,255,255,0.08)', borderRadius: 10, border: '1px solid rgba(255,255,255,0.25)', alignItems: 'center' }}&gt;&#10;        &lt;Text style={{ fontSize: 24, color: '#FFFFFF', textAlign: 'center', lineHeight: 1.6 }}&gt;&#10;            信息系统帮你&lt;span style={{ fontWeight: 'bold', color: '#FFC107' }}&gt;「管住」已知&lt;/span&gt;；认知副驾帮你&lt;span style={{ fontWeight: 'bold', color: '#FFC107' }}&gt;「照亮」未知&lt;/span&gt;，并&lt;span style={{ fontWeight: 'bold', color: '#FFC107' }}&gt;「逼你」修正&lt;/span&gt;&#10;        &lt;/Text&gt;&#10;    &lt;/Box&gt;&#10;    &lt;Box style={{ position: 'absolute', bottom: 64, left: 0, width: '100%', flexDirection: 'row', justifyContent: 'center', gap: 28, alignItems: 'center' }}&gt;&#10;        &lt;Text style={{ fontSize: 18, color: '#BBD0F0' }}&gt;江西师范大学&lt;/Text&gt;&#10;        &lt;Box style={{ width: 4, height: 4, borderRadius: 2, background: '#9FBCE8' }} /&gt;&#10;        &lt;Text style={{ fontSize: 18, color: '#BBD0F0' }}&gt;工作室软件项目 · 从 0 到现在&lt;/Text&gt;&#10;        &lt;Box style={{ width: 4, height: 4, borderRadius: 2, background: '#9FBCE8' }} /&gt;&#10;        &lt;Text style={{ fontSize: 18, color: '#BBD0F0' }}&gt;2026 年 9 月 30 日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图形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矩形 3"/>
          <p:cNvSpPr/>
          <p:nvPr/>
        </p:nvSpPr>
        <p:spPr>
          <a:xfrm>
            <a:off x="3276600" y="1019175"/>
            <a:ext cx="32385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3733800" y="914400"/>
            <a:ext cx="4733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BBD0F0"/>
                </a:solidFill>
                <a:latin typeface="Microsoft YaHei"/>
                <a:ea typeface="Microsoft YaHei"/>
              </a:rPr>
              <a:t>24 </a:t>
            </a:r>
            <a:r>
              <a:rPr lang="zh-CN" sz="1500" spc="300">
                <a:solidFill>
                  <a:srgbClr val="BBD0F0"/>
                </a:solidFill>
                <a:latin typeface="Microsoft YaHei"/>
                <a:ea typeface="Microsoft YaHei"/>
              </a:rPr>
              <a:t>级</a:t>
            </a:r>
            <a:r>
              <a:rPr lang="en-US" sz="1500" spc="300">
                <a:solidFill>
                  <a:srgbClr val="BBD0F0"/>
                </a:solidFill>
                <a:latin typeface="Microsoft YaHei"/>
                <a:ea typeface="Microsoft YaHei"/>
              </a:rPr>
              <a:t> · AI </a:t>
            </a:r>
            <a:r>
              <a:rPr lang="zh-CN" sz="1500" spc="300">
                <a:solidFill>
                  <a:srgbClr val="BBD0F0"/>
                </a:solidFill>
                <a:latin typeface="Microsoft YaHei"/>
                <a:ea typeface="Microsoft YaHei"/>
              </a:rPr>
              <a:t>智能体软件开发项目</a:t>
            </a:r>
            <a:r>
              <a:rPr lang="en-US" sz="1500" spc="300">
                <a:solidFill>
                  <a:srgbClr val="BBD0F0"/>
                </a:solidFill>
                <a:latin typeface="Microsoft YaHei"/>
                <a:ea typeface="Microsoft YaHei"/>
              </a:rPr>
              <a:t> · </a:t>
            </a:r>
            <a:r>
              <a:rPr lang="zh-CN" sz="1500" spc="300">
                <a:solidFill>
                  <a:srgbClr val="BBD0F0"/>
                </a:solidFill>
                <a:latin typeface="Microsoft YaHei"/>
                <a:ea typeface="Microsoft YaHei"/>
              </a:rPr>
              <a:t>工作室汇报</a:t>
            </a:r>
            <a:endParaRPr/>
          </a:p>
        </p:txBody>
      </p:sp>
      <p:sp>
        <p:nvSpPr>
          <p:cNvPr id="6" name="矩形 5"/>
          <p:cNvSpPr/>
          <p:nvPr/>
        </p:nvSpPr>
        <p:spPr>
          <a:xfrm>
            <a:off x="8601075" y="1019175"/>
            <a:ext cx="32385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4152900" y="1600200"/>
            <a:ext cx="3886200" cy="1057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6900" b="1" spc="750">
                <a:solidFill>
                  <a:srgbClr val="FFFFFF"/>
                </a:solidFill>
                <a:latin typeface="Microsoft YaHei"/>
                <a:ea typeface="Microsoft YaHei"/>
              </a:rPr>
              <a:t>认知副驾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762500" y="2790825"/>
            <a:ext cx="26765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spc="225">
                <a:solidFill>
                  <a:srgbClr val="9FBCE8"/>
                </a:solidFill>
                <a:latin typeface="Georgia"/>
                <a:ea typeface="Georgia"/>
              </a:rPr>
              <a:t>Cognitive Copilot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2095500" y="3419475"/>
            <a:ext cx="80105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>
                <a:solidFill>
                  <a:srgbClr val="E8EFF8"/>
                </a:solidFill>
                <a:latin typeface="Microsoft YaHei"/>
                <a:ea typeface="Microsoft YaHei"/>
              </a:rPr>
              <a:t>个人知识学习</a:t>
            </a:r>
            <a:r>
              <a:rPr lang="en-US" sz="1950">
                <a:solidFill>
                  <a:srgbClr val="E8EFF8"/>
                </a:solidFill>
                <a:latin typeface="Microsoft YaHei"/>
                <a:ea typeface="Microsoft YaHei"/>
              </a:rPr>
              <a:t> AI </a:t>
            </a:r>
            <a:r>
              <a:rPr lang="zh-CN" sz="1950">
                <a:solidFill>
                  <a:srgbClr val="E8EFF8"/>
                </a:solidFill>
                <a:latin typeface="Microsoft YaHei"/>
                <a:ea typeface="Microsoft YaHei"/>
              </a:rPr>
              <a:t>智能体</a:t>
            </a:r>
            <a:r>
              <a:rPr lang="en-US" sz="1950">
                <a:solidFill>
                  <a:srgbClr val="E8EFF8"/>
                </a:solidFill>
                <a:latin typeface="Microsoft YaHei"/>
                <a:ea typeface="Microsoft YaHei"/>
              </a:rPr>
              <a:t> —— </a:t>
            </a:r>
            <a:r>
              <a:rPr lang="zh-CN" sz="1950">
                <a:solidFill>
                  <a:srgbClr val="E8EFF8"/>
                </a:solidFill>
                <a:latin typeface="Microsoft YaHei"/>
                <a:ea typeface="Microsoft YaHei"/>
              </a:rPr>
              <a:t>把「收藏的碎片」转化为「可调用的认知」</a:t>
            </a:r>
            <a:endParaRPr/>
          </a:p>
        </p:txBody>
      </p:sp>
      <p:sp>
        <p:nvSpPr>
          <p:cNvPr id="10" name="矩形: 圆角 9"/>
          <p:cNvSpPr/>
          <p:nvPr/>
        </p:nvSpPr>
        <p:spPr>
          <a:xfrm>
            <a:off x="2286000" y="4305300"/>
            <a:ext cx="7620000" cy="1266825"/>
          </a:xfrm>
          <a:prstGeom prst="roundRect">
            <a:avLst>
              <a:gd name="adj" fmla="val 75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2590800" y="4495800"/>
            <a:ext cx="70104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信息系统帮你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「管住」已知</a:t>
            </a: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；认知副驾帮你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「照亮」未知</a:t>
            </a: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，并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「逼你」修正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3152775" y="6038850"/>
            <a:ext cx="102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江西师范大学</a:t>
            </a:r>
            <a:endParaRPr/>
          </a:p>
        </p:txBody>
      </p:sp>
      <p:sp>
        <p:nvSpPr>
          <p:cNvPr id="13" name="矩形: 圆角 12"/>
          <p:cNvSpPr/>
          <p:nvPr/>
        </p:nvSpPr>
        <p:spPr>
          <a:xfrm>
            <a:off x="4448175" y="61245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9FB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752975" y="6038850"/>
            <a:ext cx="22383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工作室软件项目</a:t>
            </a:r>
            <a:r>
              <a:rPr lang="en-US" sz="1350">
                <a:solidFill>
                  <a:srgbClr val="BBD0F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从</a:t>
            </a:r>
            <a:r>
              <a:rPr lang="en-US" sz="1350">
                <a:solidFill>
                  <a:srgbClr val="BBD0F0"/>
                </a:solidFill>
                <a:latin typeface="Microsoft YaHei"/>
                <a:ea typeface="Microsoft YaHei"/>
              </a:rPr>
              <a:t> 0 </a:t>
            </a: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到现在</a:t>
            </a:r>
            <a:endParaRPr/>
          </a:p>
        </p:txBody>
      </p:sp>
      <p:sp>
        <p:nvSpPr>
          <p:cNvPr id="15" name="矩形: 圆角 14"/>
          <p:cNvSpPr/>
          <p:nvPr/>
        </p:nvSpPr>
        <p:spPr>
          <a:xfrm>
            <a:off x="7258050" y="61245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9FB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7562850" y="6038850"/>
            <a:ext cx="14763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BBD0F0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BBD0F0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BBD0F0"/>
                </a:solidFill>
                <a:latin typeface="Microsoft YaHei"/>
                <a:ea typeface="Microsoft YaHei"/>
              </a:rPr>
              <a:t> 30 </a:t>
            </a: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row' }}&gt;&#10;    &lt;Box style={{ width: 384, height: 720, background: '#0E3F8C', padding: '96px 48px', justifyContent: 'space-between' }}&gt;&#10;        &lt;Box&gt;&#10;            &lt;Text style={{ fontSize: 44, fontWeight: 'bold', color: '#FFFFFF', letterSpacing: 6 }}&gt;汇报框架&lt;/Text&gt;&#10;            &lt;Box style={{ width: 56, height: 4, background: '#FFC107', marginTop: 18 }} /&gt;&#10;            &lt;Text style={{ fontSize: 20, color: '#BBD0F0', marginTop: 26, lineHeight: 1.7 }}&gt;按评价标准的六个维度组织：每个维度先亮分值，再给对应证据。&lt;/Text&gt;&#10;        &lt;/Box&gt;&#10;        &lt;Text style={{ fontSize: 16, color: '#9FBCE8', fontFamily: 'Georgia, serif', letterSpacing: 2 }}&gt;CONTENTS&lt;/Text&gt;&#10;    &lt;/Box&gt;&#10;    &lt;Box style={{ flex: 1, padding: '84px 56px 60px 56px', justifyContent: 'space-between' }}&gt;&#10;        &lt;Box style={{ flexDirection: 'row', alignItems: 'center', gap: 24, padding: '26px 30px', background: '#F7F9FC', borderRadius: 10, border: '1px solid #D6DCE5' }}&gt;&#10;            &lt;Box style={{ width: 64, height: 64, background: '#1E4FA8', borderRadius: 8, justifyContent: 'center', alignItems: 'center' }}&gt;&#10;                &lt;Text style={{ fontSize: 26, fontWeight: 'bold', color: '#FFFFFF' }}&gt;01&lt;/Text&gt;&#10;            &lt;/Box&gt;&#10;            &lt;Box style={{ flex: 1 }}&gt;&#10;                &lt;Text style={{ fontSize: 26, fontWeight: 'bold', color: '#1A2230' }}&gt;项目是什么&lt;/Text&gt;&#10;                &lt;Text style={{ fontSize: 18, color: '#4A5568', marginTop: 6 }}&gt;要解决的问题、项目定位与五层能力全貌&lt;/Text&gt;&#10;            &lt;/Box&gt;&#10;        &lt;/Box&gt;&#10;        &lt;Box style={{ flexDirection: 'row', alignItems: 'center', gap: 24, padding: '26px 30px', background: '#F7F9FC', borderRadius: 10, border: '1px solid #D6DCE5' }}&gt;&#10;            &lt;Box style={{ width: 64, height: 64, background: '#1E4FA8', borderRadius: 8, justifyContent: 'center', alignItems: 'center' }}&gt;&#10;                &lt;Text style={{ fontSize: 26, fontWeight: 'bold', color: '#FFFFFF' }}&gt;02&lt;/Text&gt;&#10;            &lt;/Box&gt;&#10;            &lt;Box style={{ flex: 1 }}&gt;&#10;                &lt;Text style={{ fontSize: 26, fontWeight: 'bold', color: '#1A2230' }}&gt;从 0 到现在&lt;/Text&gt;&#10;                &lt;Text style={{ fontSize: 18, color: '#4A5568', marginTop: 6 }}&gt;24 天、154 次提交的演进过程与数据&lt;/Text&gt;&#10;            &lt;/Box&gt;&#10;        &lt;/Box&gt;&#10;        &lt;Box style={{ flexDirection: 'row', alignItems: 'center', gap: 24, padding: '26px 30px', background: '#F7F9FC', borderRadius: 10, border: '1px solid #D6DCE5' }}&gt;&#10;            &lt;Box style={{ width: 64, height: 64, background: '#1E4FA8', borderRadius: 8, justifyContent: 'center', alignItems: 'center' }}&gt;&#10;                &lt;Text style={{ fontSize: 26, fontWeight: 'bold', color: '#FFFFFF' }}&gt;03&lt;/Text&gt;&#10;            &lt;/Box&gt;&#10;            &lt;Box style={{ flex: 1 }}&gt;&#10;                &lt;Text style={{ fontSize: 26, fontWeight: 'bold', color: '#1A2230' }}&gt;对照评价标准 · 逐维度汇报&lt;/Text&gt;&#10;                &lt;Text style={{ fontSize: 18, color: '#4A5568', marginTop: 6 }}&gt;实用性 / 创新性 / 技术先进性 / 功能完善性 / 工作量，逐项给证据&lt;/Text&gt;&#10;            &lt;/Box&gt;&#10;        &lt;/Box&gt;&#10;        &lt;Box style={{ flexDirection: 'row', alignItems: 'center', gap: 24, padding: '26px 30px', background: '#F7F9FC', borderRadius: 10, border: '1px solid #D6DCE5' }}&gt;&#10;            &lt;Box style={{ width: 64, height: 64, background: '#1E4FA8', borderRadius: 8, justifyContent: 'center', alignItems: 'center' }}&gt;&#10;                &lt;Text style={{ fontSize: 26, fontWeight: 'bold', color: '#FFFFFF' }}&gt;04&lt;/Text&gt;&#10;            &lt;/Box&gt;&#10;            &lt;Box style={{ flex: 1 }}&gt;&#10;                &lt;Text style={{ fontSize: 26, fontWeight: 'bold', color: '#1A2230' }}&gt;演示与总结&lt;/Text&gt;&#10;                &lt;Text style={{ fontSize: 18, color: '#4A5568', marginTop: 6 }}&gt;系统现场演示路线、备份预案与三句话方法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 1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矩形 157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57200" y="914400"/>
            <a:ext cx="27432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 spc="450">
                <a:solidFill>
                  <a:srgbClr val="FFFFFF"/>
                </a:solidFill>
                <a:latin typeface="Microsoft YaHei"/>
                <a:ea typeface="Microsoft YaHei"/>
              </a:rPr>
              <a:t>汇报框架</a:t>
            </a:r>
            <a:endParaRPr/>
          </a:p>
        </p:txBody>
      </p:sp>
      <p:sp>
        <p:nvSpPr>
          <p:cNvPr id="160" name="矩形 159"/>
          <p:cNvSpPr/>
          <p:nvPr/>
        </p:nvSpPr>
        <p:spPr>
          <a:xfrm>
            <a:off x="457200" y="159067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457200" y="1876425"/>
            <a:ext cx="274320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500">
                <a:solidFill>
                  <a:srgbClr val="BBD0F0"/>
                </a:solidFill>
                <a:latin typeface="Microsoft YaHei"/>
                <a:ea typeface="Microsoft YaHei"/>
              </a:rPr>
              <a:t>按评价标准的六个维度组织：每个维度先亮分值，再给对应证据。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457200" y="5753100"/>
            <a:ext cx="2743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9FBCE8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163" name="矩形: 圆角 162"/>
          <p:cNvSpPr/>
          <p:nvPr/>
        </p:nvSpPr>
        <p:spPr>
          <a:xfrm>
            <a:off x="4191000" y="800100"/>
            <a:ext cx="7467600" cy="1104900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矩形: 圆角 163"/>
          <p:cNvSpPr/>
          <p:nvPr/>
        </p:nvSpPr>
        <p:spPr>
          <a:xfrm>
            <a:off x="4476750" y="10477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4629150" y="1200150"/>
            <a:ext cx="3143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314950" y="1066800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项目是什么</a:t>
            </a:r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5314950" y="1428750"/>
            <a:ext cx="6057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要解决的问题、项目定位与五层能力全貌</a:t>
            </a:r>
            <a:endParaRPr/>
          </a:p>
        </p:txBody>
      </p:sp>
      <p:sp>
        <p:nvSpPr>
          <p:cNvPr id="168" name="矩形: 圆角 167"/>
          <p:cNvSpPr/>
          <p:nvPr/>
        </p:nvSpPr>
        <p:spPr>
          <a:xfrm>
            <a:off x="4191000" y="2257425"/>
            <a:ext cx="7467600" cy="1104900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矩形: 圆角 168"/>
          <p:cNvSpPr/>
          <p:nvPr/>
        </p:nvSpPr>
        <p:spPr>
          <a:xfrm>
            <a:off x="4476750" y="2505075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4629150" y="2657475"/>
            <a:ext cx="3143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5314950" y="2524125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从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0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到现在</a:t>
            </a:r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5314950" y="2886075"/>
            <a:ext cx="6057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24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天、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154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次提交的演进过程与数据</a:t>
            </a:r>
            <a:endParaRPr/>
          </a:p>
        </p:txBody>
      </p:sp>
      <p:sp>
        <p:nvSpPr>
          <p:cNvPr id="173" name="矩形: 圆角 172"/>
          <p:cNvSpPr/>
          <p:nvPr/>
        </p:nvSpPr>
        <p:spPr>
          <a:xfrm>
            <a:off x="4191000" y="3724275"/>
            <a:ext cx="7467600" cy="1104900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4" name="矩形: 圆角 173"/>
          <p:cNvSpPr/>
          <p:nvPr/>
        </p:nvSpPr>
        <p:spPr>
          <a:xfrm>
            <a:off x="4476750" y="3971925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629150" y="4124325"/>
            <a:ext cx="3143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5314950" y="3990975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对照评价标准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逐维度汇报</a:t>
            </a:r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5314950" y="4352925"/>
            <a:ext cx="6057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实用性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创新性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技术先进性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功能完善性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工作量，逐项给证据</a:t>
            </a:r>
            <a:endParaRPr/>
          </a:p>
        </p:txBody>
      </p:sp>
      <p:sp>
        <p:nvSpPr>
          <p:cNvPr id="178" name="矩形: 圆角 177"/>
          <p:cNvSpPr/>
          <p:nvPr/>
        </p:nvSpPr>
        <p:spPr>
          <a:xfrm>
            <a:off x="4191000" y="5181600"/>
            <a:ext cx="7467600" cy="1104900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4476750" y="54292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4629150" y="5581650"/>
            <a:ext cx="3143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5314950" y="5448300"/>
            <a:ext cx="6057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演示与总结</a:t>
            </a:r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314950" y="5810250"/>
            <a:ext cx="6057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系统现场演示路线、备份预案与三句话方法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180' cy='140' r='300' fill='#1E4FA8' opacity='0.3' /&gt;&#10;    &lt;/svg&gt;&#10;    &lt;Box style={{ position: 'absolute', top: 108, left: 96, flexDirection: 'row', alignItems: 'flex-end', gap: 32 }}&gt;&#10;        &lt;Text style={{ fontSize: 200, fontWeight: 'bold', color: '#FFFFFF', opacity: 0.28, lineHeight: 1 }}&gt;01&lt;/Text&gt;&#10;        &lt;Box style={{ paddingBottom: 26 }}&gt;&#10;            &lt;Text style={{ fontSize: 52, fontWeight: 'bold', color: '#FFFFFF', letterSpacing: 4 }}&gt;从 0 到现在&lt;/Text&gt;&#10;            &lt;Box style={{ width: 64, height: 4, background: '#FFC107', marginTop: 16 }} /&gt;&#10;        &lt;/Box&gt;&#10;    &lt;/Box&gt;&#10;    &lt;Box style={{ position: 'absolute', top: 448, left: 96, width: 1080 }}&gt;&#10;        &lt;Text style={{ fontSize: 24, color: '#E8EFF8', lineHeight: 1.8 }}&gt;&#10;            项目始于 9 月 6 日的第一次提交，到今天共 &lt;span style={{ fontWeight: 'bold', color: '#FFC107' }}&gt;24 天、154 次提交&lt;/span&gt;。&#10;            中间经历三个阶段：先用最小骨架验证「一次模型调用全链路可追踪、可计费」，&#10;            再把五层能力逐层做成闭环，最后进入判定质量与自主性的深水区。&#10;        &lt;/Text&gt;&#10;    &lt;/Box&gt;&#10;    &lt;Box style={{ position: 'absolute', bottom: 84, left: 96, flexDirection: 'row', gap: 20, alignItems: 'center' }}&gt;&#10;        &lt;Box style={{ padding: '12px 28px', background: '#1E4FA8', borderRadius: 24, border: '1px solid #3D7BD9' }}&gt;&#10;            &lt;Text style={{ fontSize: 20, color: '#FFFFFF' }}&gt;阶段一 · 骨架验证&lt;/Text&gt;&#10;        &lt;/Box&gt;&#10;        &lt;Box style={{ flexDirection: 'row', alignItems: 'center' }}&gt;&#10;            &lt;FAIcon name='arrow-right' style={{ fill: '#9FBCE8', width: 22, height: 22 }} /&gt;&#10;        &lt;/Box&gt;&#10;        &lt;Box style={{ padding: '12px 28px', background: '#1E4FA8', borderRadius: 24, border: '1px solid #3D7BD9' }}&gt;&#10;            &lt;Text style={{ fontSize: 20, color: '#FFFFFF' }}&gt;阶段二 · 能力闭环&lt;/Text&gt;&#10;        &lt;/Box&gt;&#10;        &lt;Box style={{ flexDirection: 'row', alignItems: 'center' }}&gt;&#10;            &lt;FAIcon name='arrow-right' style={{ fill: '#9FBCE8', width: 22, height: 22 }} /&gt;&#10;        &lt;/Box&gt;&#10;        &lt;Box style={{ padding: '12px 28px', background: '#1E4FA8', borderRadius: 24, border: '1px solid #3D7BD9' }}&gt;&#10;            &lt;Text style={{ fontSize: 20, color: '#FFFFFF' }}&gt;阶段三 · 深度与自主性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5" name="图形 1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3571875" y="2276475"/>
            <a:ext cx="2857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lang="en-US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 0 </a:t>
            </a: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到现在</a:t>
            </a:r>
            <a:endParaRPr/>
          </a:p>
        </p:txBody>
      </p:sp>
      <p:sp>
        <p:nvSpPr>
          <p:cNvPr id="187" name="矩形 186"/>
          <p:cNvSpPr/>
          <p:nvPr/>
        </p:nvSpPr>
        <p:spPr>
          <a:xfrm>
            <a:off x="3571875" y="30289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914400" y="1028700"/>
            <a:ext cx="2352675" cy="2286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914400" y="4267200"/>
            <a:ext cx="10287000" cy="1485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项目始于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9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月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6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日的第一次提交，到今天共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24 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天、</a:t>
            </a: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154 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次提交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。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中间经历三个阶段：先用最小骨架验证「一次模型调用全链路可追踪、可计费」，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再把五层能力逐层做成闭环，最后进入判定质量与自主性的深水区。</a:t>
            </a:r>
            <a:endParaRPr/>
          </a:p>
        </p:txBody>
      </p:sp>
      <p:sp>
        <p:nvSpPr>
          <p:cNvPr id="190" name="矩形: 圆角 189"/>
          <p:cNvSpPr/>
          <p:nvPr/>
        </p:nvSpPr>
        <p:spPr>
          <a:xfrm>
            <a:off x="914400" y="5600700"/>
            <a:ext cx="2028825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181100" y="5715000"/>
            <a:ext cx="14954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阶段一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骨架验证</a:t>
            </a:r>
            <a:endParaRPr/>
          </a:p>
        </p:txBody>
      </p:sp>
      <p:pic>
        <p:nvPicPr>
          <p:cNvPr id="192" name="图形 19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3725" y="5724525"/>
            <a:ext cx="209550" cy="209550"/>
          </a:xfrm>
          <a:prstGeom prst="rect">
            <a:avLst/>
          </a:prstGeom>
          <a:ln/>
        </p:spPr>
      </p:pic>
      <p:sp>
        <p:nvSpPr>
          <p:cNvPr id="193" name="矩形: 圆角 192"/>
          <p:cNvSpPr/>
          <p:nvPr/>
        </p:nvSpPr>
        <p:spPr>
          <a:xfrm>
            <a:off x="3533775" y="5600700"/>
            <a:ext cx="2028825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3800475" y="5715000"/>
            <a:ext cx="14954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阶段二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能力闭环</a:t>
            </a:r>
            <a:endParaRPr/>
          </a:p>
        </p:txBody>
      </p:sp>
      <p:pic>
        <p:nvPicPr>
          <p:cNvPr id="195" name="图形 19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3100" y="5724525"/>
            <a:ext cx="209550" cy="209550"/>
          </a:xfrm>
          <a:prstGeom prst="rect">
            <a:avLst/>
          </a:prstGeom>
          <a:ln/>
        </p:spPr>
      </p:pic>
      <p:sp>
        <p:nvSpPr>
          <p:cNvPr id="196" name="矩形: 圆角 195"/>
          <p:cNvSpPr/>
          <p:nvPr/>
        </p:nvSpPr>
        <p:spPr>
          <a:xfrm>
            <a:off x="6153150" y="5600700"/>
            <a:ext cx="2409825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419850" y="5715000"/>
            <a:ext cx="18764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阶段三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深度与自主性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26px 40px 16px 40px' }}&gt;&#10;        &lt;Text style={{ fontSize: 34, fontWeight: 'bold', color: '#0E3F8C' }}&gt;项目是什么 · 解决什么问题&lt;/Text&gt;&#10;        &lt;Text style={{ fontSize: 17, color: '#8B97A8' }}&gt;项目概览&lt;/Text&gt;&#10;    &lt;/Box&gt;&#10;    &lt;Box style={{ flex: 1, flexDirection: 'row', gap: 24, padding: '0 40px' }}&gt;&#10;        &lt;Box style={{ width: 700, flexDirection: 'column', justifyContent: 'space-between' }}&gt;&#10;            &lt;Box style={{ height: 176, padding: '24px 28px', background: '#F7F9FC', borderRadius: 10, border: '1px solid #D6DCE5', borderLeft: '5px solid #1E4FA8' }}&gt;&#10;                &lt;Box style={{ flexDirection: 'row', alignItems: 'center', gap: 14 }}&gt;&#10;                    &lt;FAIcon name='bookmark' style={{ fill: '#1E4FA8', width: 30, height: 30 }} /&gt;&#10;                    &lt;Text style={{ fontSize: 26, fontWeight: 'bold', color: '#1A2230' }}&gt;收藏即遗忘&lt;/Text&gt;&#10;                &lt;/Box&gt;&#10;                &lt;Text style={{ fontSize: 21, color: '#4A5568', marginTop: 12, lineHeight: 1.6 }}&gt;&#10;                    书签、收藏夹、稍后读越堆越厚；真要用的时候只记得「橙色封面、好像讲拖延症」，精准搜索返回的却是「未找到」。&#10;                &lt;/Text&gt;&#10;            &lt;/Box&gt;&#10;            &lt;Box style={{ height: 176, padding: '24px 28px', background: '#F7F9FC', borderRadius: 10, border: '1px solid #D6DCE5', borderLeft: '5px solid #1E4FA8' }}&gt;&#10;                &lt;Box style={{ flexDirection: 'row', alignItems: 'center', gap: 14 }}&gt;&#10;                    &lt;FAIcon name='book' style={{ fill: '#1E4FA8', width: 30, height: 30 }} /&gt;&#10;                    &lt;Text style={{ fontSize: 26, fontWeight: 'bold', color: '#1A2230' }}&gt;阅读未消化&lt;/Text&gt;&#10;                &lt;/Box&gt;&#10;                &lt;Text style={{ fontSize: 21, color: '#4A5568', marginTop: 12, lineHeight: 1.6 }}&gt;&#10;                    划线划了很多，读完还是说不出这本书主张什么、和自己的想法哪里不一样——阅读行为发生了，认知没有发生。&#10;                &lt;/Text&gt;&#10;            &lt;/Box&gt;&#10;            &lt;Box style={{ height: 176, padding: '24px 28px', background: '#F7F9FC', borderRadius: 10, border: '1px solid #D6DCE5', borderLeft: '5px solid #1E4FA8' }}&gt;&#10;                &lt;Box style={{ flexDirection: 'row', alignItems: 'center', gap: 14 }}&gt;&#10;                    &lt;FAIcon name='puzzle-piece' style={{ fill: '#1E4FA8', width: 30, height: 30 }} /&gt;&#10;                    &lt;Text style={{ fontSize: 26, fontWeight: 'bold', color: '#1A2230' }}&gt;积累无体系&lt;/Text&gt;&#10;                &lt;/Box&gt;&#10;                &lt;Text style={{ fontSize: 21, color: '#4A5568', marginTop: 12, lineHeight: 1.6 }}&gt;&#10;                    笔记散落在各个工具里，半年前收藏的和昨天收藏的观点可能正好相反——自己不知道，更没有人提醒。&#10;                &lt;/Text&gt;&#10;            &lt;/Box&gt;&#10;        &lt;/Box&gt;&#10;        &lt;Box style={{ flex: 1, height: 568, background: '#0E3F8C', borderRadius: 10, padding: '40px 36px', justifyContent: 'space-between' }}&gt;&#10;            &lt;Box&gt;&#10;                &lt;Text style={{ fontSize: 20, color: '#9FBCE8', letterSpacing: 3 }}&gt;定位宣言&lt;/Text&gt;&#10;                &lt;Text style={{ fontSize: 32, fontWeight: 'bold', color: '#FFFFFF', marginTop: 18, lineHeight: 1.5 }}&gt;&#10;                    认知副驾&lt;br /&gt;不是又一个笔记软件&#10;                &lt;/Text&gt;&#10;                &lt;Box style={{ width: 48, height: 3, background: '#FFC107', marginTop: 20 }} /&gt;&#10;            &lt;/Box&gt;&#10;            &lt;Text style={{ fontSize: 22, color: '#E8EFF8', lineHeight: 1.75 }}&gt;&#10;                笔记软件和信息系统帮你&lt;span style={{ fontWeight: 'bold', color: '#FFC107' }}&gt;「管住」已知&lt;/span&gt;；&#10;                认知副驾做的是另一半：&lt;span style={{ fontWeight: 'bold', color: '#FFC107' }}&gt;「照亮」未知&lt;/span&gt;——&#10;                你的矛盾在哪、盲区在哪、病根在哪，并&lt;span style={{ fontWeight: 'bold', color: '#FFC107' }}&gt;「逼你」修正&lt;/span&gt;。&#10;            &lt;/Text&gt;&#10;            &lt;Box style={{ padding: '16px 20px', background: 'rgba(255,255,255,0.08)', borderRadius: 8 }}&gt;&#10;                &lt;Text style={{ fontSize: 19, color: '#BBD0F0', lineHeight: 1.6 }}&gt;&#10;                    实现方式：五层能力梯度（L1–L5），从被动响应到主动诊断，每一层都做信息系统做不到的事。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0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矩形 1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0" name="矩形 19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381000" y="323850"/>
            <a:ext cx="39052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项目是什么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11163300" y="514350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203" name="矩形: 圆角 202"/>
          <p:cNvSpPr/>
          <p:nvPr/>
        </p:nvSpPr>
        <p:spPr>
          <a:xfrm>
            <a:off x="428625" y="866775"/>
            <a:ext cx="66675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4" name="任意多边形: 形状 203"/>
          <p:cNvSpPr/>
          <p:nvPr/>
        </p:nvSpPr>
        <p:spPr>
          <a:xfrm>
            <a:off x="428625" y="866775"/>
            <a:ext cx="6667500" cy="1676400"/>
          </a:xfrm>
          <a:custGeom>
            <a:avLst/>
            <a:gdLst/>
            <a:ahLst/>
            <a:cxnLst/>
            <a:rect l="0" t="0" r="0" b="0"/>
            <a:pathLst>
              <a:path w="700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5" name="图形 20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" y="1104900"/>
            <a:ext cx="285750" cy="285750"/>
          </a:xfrm>
          <a:prstGeom prst="rect">
            <a:avLst/>
          </a:prstGeom>
          <a:ln/>
        </p:spPr>
      </p:pic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114425" y="1095375"/>
            <a:ext cx="12382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收藏即遗忘</a:t>
            </a:r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695325" y="1514475"/>
            <a:ext cx="60864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书签、收藏夹、稍后读越堆越厚；真要用的时候只记得「橙色封面、好像讲拖延症」，精准搜索返回的却是「未找到」。</a:t>
            </a:r>
            <a:endParaRPr/>
          </a:p>
        </p:txBody>
      </p:sp>
      <p:sp>
        <p:nvSpPr>
          <p:cNvPr id="208" name="矩形: 圆角 207"/>
          <p:cNvSpPr/>
          <p:nvPr/>
        </p:nvSpPr>
        <p:spPr>
          <a:xfrm>
            <a:off x="428625" y="2809875"/>
            <a:ext cx="66675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9" name="任意多边形: 形状 208"/>
          <p:cNvSpPr/>
          <p:nvPr/>
        </p:nvSpPr>
        <p:spPr>
          <a:xfrm>
            <a:off x="428625" y="2809875"/>
            <a:ext cx="6667500" cy="1676400"/>
          </a:xfrm>
          <a:custGeom>
            <a:avLst/>
            <a:gdLst/>
            <a:ahLst/>
            <a:cxnLst/>
            <a:rect l="0" t="0" r="0" b="0"/>
            <a:pathLst>
              <a:path w="700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0" name="图形 20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3048000"/>
            <a:ext cx="285750" cy="285750"/>
          </a:xfrm>
          <a:prstGeom prst="rect">
            <a:avLst/>
          </a:prstGeom>
          <a:ln/>
        </p:spPr>
      </p:pic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1114425" y="3038475"/>
            <a:ext cx="12382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阅读未消化</a:t>
            </a:r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95325" y="3457575"/>
            <a:ext cx="60864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划线划了很多，读完还是说不出这本书主张什么、和自己的想法哪里不一样——阅读行为发生了，认知没有发生。</a:t>
            </a:r>
            <a:endParaRPr/>
          </a:p>
        </p:txBody>
      </p:sp>
      <p:sp>
        <p:nvSpPr>
          <p:cNvPr id="213" name="矩形: 圆角 212"/>
          <p:cNvSpPr/>
          <p:nvPr/>
        </p:nvSpPr>
        <p:spPr>
          <a:xfrm>
            <a:off x="428625" y="4752975"/>
            <a:ext cx="66675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4" name="任意多边形: 形状 213"/>
          <p:cNvSpPr/>
          <p:nvPr/>
        </p:nvSpPr>
        <p:spPr>
          <a:xfrm>
            <a:off x="428625" y="4752975"/>
            <a:ext cx="6667500" cy="1676400"/>
          </a:xfrm>
          <a:custGeom>
            <a:avLst/>
            <a:gdLst/>
            <a:ahLst/>
            <a:cxnLst/>
            <a:rect l="0" t="0" r="0" b="0"/>
            <a:pathLst>
              <a:path w="700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5" name="图形 2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5" y="4991100"/>
            <a:ext cx="285750" cy="285750"/>
          </a:xfrm>
          <a:prstGeom prst="rect">
            <a:avLst/>
          </a:prstGeom>
          <a:ln/>
        </p:spPr>
      </p:pic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114425" y="4981575"/>
            <a:ext cx="12382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积累无体系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695325" y="5400675"/>
            <a:ext cx="60864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笔记散落在各个工具里，半年前收藏的和昨天收藏的观点可能正好相反——自己不知道，更没有人提醒。</a:t>
            </a:r>
            <a:endParaRPr/>
          </a:p>
        </p:txBody>
      </p:sp>
      <p:sp>
        <p:nvSpPr>
          <p:cNvPr id="218" name="矩形: 圆角 217"/>
          <p:cNvSpPr/>
          <p:nvPr/>
        </p:nvSpPr>
        <p:spPr>
          <a:xfrm>
            <a:off x="7277100" y="866775"/>
            <a:ext cx="4533900" cy="5410200"/>
          </a:xfrm>
          <a:prstGeom prst="roundRect">
            <a:avLst>
              <a:gd name="adj" fmla="val 2101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620000" y="1247775"/>
            <a:ext cx="38481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9FBCE8"/>
                </a:solidFill>
                <a:latin typeface="Microsoft YaHei"/>
                <a:ea typeface="Microsoft YaHei"/>
              </a:rPr>
              <a:t>定位宣言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7620000" y="1647825"/>
            <a:ext cx="3848100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认知副驾</a:t>
            </a:r>
            <a:endParaRPr/>
          </a:p>
          <a:p>
            <a:pPr>
              <a:lnSpc>
                <a:spcPct val="15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不是又一个笔记软件</a:t>
            </a:r>
            <a:endParaRPr/>
          </a:p>
        </p:txBody>
      </p:sp>
      <p:sp>
        <p:nvSpPr>
          <p:cNvPr id="221" name="矩形 220"/>
          <p:cNvSpPr/>
          <p:nvPr/>
        </p:nvSpPr>
        <p:spPr>
          <a:xfrm>
            <a:off x="7620000" y="2943225"/>
            <a:ext cx="4572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7620000" y="2971800"/>
            <a:ext cx="3848100" cy="1762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笔记软件和信息系统帮你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「管住」已知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；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认知副驾做的是另一半：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「照亮」未知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——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你的矛盾在哪、盲区在哪、病根在哪，并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「逼你」修正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3" name="矩形: 圆角 222"/>
          <p:cNvSpPr/>
          <p:nvPr/>
        </p:nvSpPr>
        <p:spPr>
          <a:xfrm>
            <a:off x="7620000" y="4733925"/>
            <a:ext cx="3848100" cy="1352550"/>
          </a:xfrm>
          <a:prstGeom prst="roundRect">
            <a:avLst>
              <a:gd name="adj" fmla="val 563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7810500" y="4886325"/>
            <a:ext cx="346710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实现方式：五层能力梯度（</a:t>
            </a:r>
            <a:r>
              <a:rPr lang="en-US" sz="1425">
                <a:solidFill>
                  <a:srgbClr val="BBD0F0"/>
                </a:solidFill>
                <a:latin typeface="Microsoft YaHei"/>
                <a:ea typeface="Microsoft YaHei"/>
              </a:rPr>
              <a:t>L1–L5</a:t>
            </a: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），从被动响应到主动诊断，每一层都做信息系统做不到的事。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381000" y="654367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113538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24 天 · 从 0 到可用系统&lt;/Text&gt;&#10;        &lt;Text style={{ fontSize: 17, color: '#8B97A8' }}&gt;2026-09-06 首次提交 → 09-29&lt;/Text&gt;&#10;    &lt;/Box&gt;&#10;    &lt;Box style={{ flex: 1, flexDirection: 'row', gap: 40, padding: '6px 40px 0 40px', alignItems: 'center' }}&gt;&#10;        &lt;Box style={{ width: 470, height: 430, background: '#0E3F8C', borderRadius: 12, padding: '44px 44px', justifyContent: 'space-between' }}&gt;&#10;            &lt;Box&gt;&#10;                &lt;Text style={{ fontSize: 22, color: '#9FBCE8', letterSpacing: 2 }}&gt;Git 提交&lt;/Text&gt;&#10;                &lt;Text style={{ fontSize: 132, fontWeight: 'bold', color: '#FFFFFF', lineHeight: 1.05, marginTop: 8 }}&gt;154&lt;/Text&gt;&#10;                &lt;Text style={{ fontSize: 24, color: '#FFC107', fontWeight: 'bold', marginTop: 4 }}&gt;次&lt;/Text&gt;&#10;            &lt;/Box&gt;&#10;            &lt;Text style={{ fontSize: 21, color: '#E8EFF8', lineHeight: 1.7 }}&gt;&#10;                其中 &lt;span style={{ fontWeight: 'bold', color: '#FFC107' }}&gt;20 天&lt;/span&gt;有提交记录，粒度真实、主题明确——过程可追溯，工作量可核查。&#10;            &lt;/Text&gt;&#10;        &lt;/Box&gt;&#10;        &lt;Box style={{ flex: 1, height: 430, flexDirection: 'column', justifyContent: 'space-between' }}&gt;&#10;            &lt;Box style={{ flexDirection: 'row', alignItems: 'flex-end', gap: 20, padding: '0 0 18px 0', borderBottom: '2px solid #E8EFF8' }}&gt;&#10;                &lt;Text style={{ fontSize: 76, fontWeight: 'bold', color: '#1E4FA8', lineHeight: 1 }}&gt;647&lt;/Text&gt;&#10;                &lt;Text style={{ fontSize: 22, color: '#4A5568', paddingBottom: 8 }}&gt;项自动化测试全绿&lt;/Text&gt;&#10;                &lt;Text style={{ fontSize: 20, color: '#8B97A8', paddingBottom: 8, marginLeft: 'auto' }}&gt;起点 7 项 · 92 倍&lt;/Text&gt;&#10;            &lt;/Box&gt;&#10;            &lt;Box style={{ flexDirection: 'row', alignItems: 'flex-end', gap: 20, padding: '0 0 18px 0', borderBottom: '2px solid #E8EFF8' }}&gt;&#10;                &lt;Text style={{ fontSize: 76, fontWeight: 'bold', color: '#1E4FA8', lineHeight: 1 }}&gt;10&lt;span style={{ fontSize: 40 }}&gt; 项&lt;/span&gt;&lt;/Text&gt;&#10;                &lt;Text style={{ fontSize: 22, color: '#4A5568', paddingBottom: 8 }}&gt;能力全部接入对话入口&lt;/Text&gt;&#10;                &lt;Text style={{ fontSize: 20, color: '#8B97A8', paddingBottom: 8, marginLeft: 'auto' }}&gt;对话即入口 · 一句话调用&lt;/Text&gt;&#10;            &lt;/Box&gt;&#10;            &lt;Box style={{ flexDirection: 'row', alignItems: 'flex-end', gap: 20 }}&gt;&#10;                &lt;Text style={{ fontSize: 76, fontWeight: 'bold', color: '#1E4FA8', lineHeight: 1 }}&gt;5&lt;span style={{ fontSize: 40 }}&gt; 层&lt;/span&gt;&lt;/Text&gt;&#10;                &lt;Text style={{ fontSize: 22, color: '#4A5568', paddingBottom: 8 }}&gt;能力全部闭环 L1–L5&lt;/Text&gt;&#10;                &lt;Text style={{ fontSize: 20, color: '#8B97A8', paddingBottom: 8, marginLeft: 'auto' }}&gt;46 个接口 · 15+ 张数据表&lt;/Text&gt;&#10;            &lt;/Box&gt;&#10;        &lt;/Box&gt;&#10;    &lt;/Box&gt;&#10;    &lt;Box style={{ margin: '12px 40px 0 40px', padding: '14px 26px', background: '#F0F5FC', borderRadius: 8, borderLeft: '5px solid #1E4FA8' }}&gt;&#10;        &lt;Text style={{ fontSize: 21, color: '#1A2230', lineHeight: 1.6 }}&gt;&#10;            &lt;span style={{ fontWeight: 'bold', color: '#0E3F8C' }}&gt;这个规模的含义：&lt;/span&gt;不是最后一周突击出来的，而是 24 天里每天都有提交、测试与开发日志的持续迭代——工作量维度可以直接按提交记录核查。&#10;        &lt;/Text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矩形 22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381000" y="247650"/>
            <a:ext cx="34956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24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天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从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0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到可用系统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9505950" y="438150"/>
            <a:ext cx="23050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2026-09-06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首次提交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→ 09-29</a:t>
            </a:r>
            <a:endParaRPr/>
          </a:p>
        </p:txBody>
      </p:sp>
      <p:sp>
        <p:nvSpPr>
          <p:cNvPr id="232" name="矩形: 圆角 231"/>
          <p:cNvSpPr/>
          <p:nvPr/>
        </p:nvSpPr>
        <p:spPr>
          <a:xfrm>
            <a:off x="381000" y="990600"/>
            <a:ext cx="4476750" cy="4095750"/>
          </a:xfrm>
          <a:prstGeom prst="roundRect">
            <a:avLst>
              <a:gd name="adj" fmla="val 2791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800100" y="1409700"/>
            <a:ext cx="3638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spc="150">
                <a:solidFill>
                  <a:srgbClr val="9FBCE8"/>
                </a:solidFill>
                <a:latin typeface="Microsoft YaHei"/>
                <a:ea typeface="Microsoft YaHei"/>
              </a:rPr>
              <a:t>Git </a:t>
            </a:r>
            <a:r>
              <a:rPr lang="zh-CN" sz="1650" spc="150">
                <a:solidFill>
                  <a:srgbClr val="9FBCE8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800100" y="1743075"/>
            <a:ext cx="3638550" cy="1590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5000"/>
              </a:lnSpc>
            </a:pPr>
            <a:r>
              <a:rPr lang="en-US" sz="9900" b="1">
                <a:solidFill>
                  <a:srgbClr val="FFFFFF"/>
                </a:solidFill>
                <a:latin typeface="Microsoft YaHei"/>
                <a:ea typeface="Microsoft YaHei"/>
              </a:rPr>
              <a:t>154</a:t>
            </a:r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800100" y="3371850"/>
            <a:ext cx="3638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800100" y="3848100"/>
            <a:ext cx="36385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其中</a:t>
            </a:r>
            <a:r>
              <a:rPr lang="en-US" sz="1575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20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天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有提交记录，粒度真实、主题明确——过程可追溯，工作量可核查。</a:t>
            </a:r>
            <a:endParaRPr/>
          </a:p>
        </p:txBody>
      </p:sp>
      <p:sp>
        <p:nvSpPr>
          <p:cNvPr id="237" name="任意多边形: 形状 236"/>
          <p:cNvSpPr/>
          <p:nvPr/>
        </p:nvSpPr>
        <p:spPr>
          <a:xfrm>
            <a:off x="5238750" y="990600"/>
            <a:ext cx="6572250" cy="1085850"/>
          </a:xfrm>
          <a:custGeom>
            <a:avLst/>
            <a:gdLst/>
            <a:ahLst/>
            <a:cxnLst/>
            <a:rect l="0" t="0" r="0" b="0"/>
            <a:pathLst>
              <a:path w="690" h="114">
                <a:moveTo>
                  <a:pt x="0" y="112"/>
                </a:moveTo>
                <a:lnTo>
                  <a:pt x="690" y="112"/>
                </a:lnTo>
                <a:lnTo>
                  <a:pt x="69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5238750" y="990600"/>
            <a:ext cx="1343025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647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772275" y="1533525"/>
            <a:ext cx="1676400" cy="33337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项自动化测试全绿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10382250" y="1562100"/>
            <a:ext cx="1428750" cy="304800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起点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7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项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· 92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241" name="任意多边形: 形状 240"/>
          <p:cNvSpPr/>
          <p:nvPr/>
        </p:nvSpPr>
        <p:spPr>
          <a:xfrm>
            <a:off x="5238750" y="2600325"/>
            <a:ext cx="6572250" cy="1085850"/>
          </a:xfrm>
          <a:custGeom>
            <a:avLst/>
            <a:gdLst/>
            <a:ahLst/>
            <a:cxnLst/>
            <a:rect l="0" t="0" r="0" b="0"/>
            <a:pathLst>
              <a:path w="690" h="114">
                <a:moveTo>
                  <a:pt x="0" y="112"/>
                </a:moveTo>
                <a:lnTo>
                  <a:pt x="690" y="112"/>
                </a:lnTo>
                <a:lnTo>
                  <a:pt x="69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5238750" y="2600325"/>
            <a:ext cx="1390650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 </a:t>
            </a:r>
            <a:r>
              <a:rPr lang="zh-CN" sz="3000" b="1">
                <a:solidFill>
                  <a:srgbClr val="1E4FA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819900" y="3143250"/>
            <a:ext cx="2095500" cy="33337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能力全部接入对话入口</a:t>
            </a:r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9744075" y="3171825"/>
            <a:ext cx="2066925" cy="304800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对话即入口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一句话调用</a:t>
            </a:r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5238750" y="4210050"/>
            <a:ext cx="942975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5</a:t>
            </a: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 </a:t>
            </a:r>
            <a:r>
              <a:rPr lang="zh-CN" sz="3000" b="1">
                <a:solidFill>
                  <a:srgbClr val="1E4FA8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6372225" y="4752975"/>
            <a:ext cx="1895475" cy="33337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能力全部闭环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L1–L5</a:t>
            </a:r>
            <a:endParaRPr/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9610725" y="4781550"/>
            <a:ext cx="2200275" cy="304800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46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个接口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· 15+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张数据表</a:t>
            </a:r>
            <a:endParaRPr/>
          </a:p>
        </p:txBody>
      </p:sp>
      <p:sp>
        <p:nvSpPr>
          <p:cNvPr id="248" name="矩形: 圆角 247"/>
          <p:cNvSpPr/>
          <p:nvPr/>
        </p:nvSpPr>
        <p:spPr>
          <a:xfrm>
            <a:off x="428625" y="5391150"/>
            <a:ext cx="11430000" cy="1038225"/>
          </a:xfrm>
          <a:prstGeom prst="roundRect">
            <a:avLst>
              <a:gd name="adj" fmla="val 7339"/>
            </a:avLst>
          </a:prstGeom>
          <a:solidFill>
            <a:srgbClr val="F0F5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任意多边形: 形状 248"/>
          <p:cNvSpPr/>
          <p:nvPr/>
        </p:nvSpPr>
        <p:spPr>
          <a:xfrm>
            <a:off x="428625" y="5391150"/>
            <a:ext cx="11430000" cy="1038225"/>
          </a:xfrm>
          <a:custGeom>
            <a:avLst/>
            <a:gdLst/>
            <a:ahLst/>
            <a:cxnLst/>
            <a:rect l="0" t="0" r="0" b="0"/>
            <a:pathLst>
              <a:path w="1200" h="10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06"/>
                </a:lnTo>
                <a:cubicBezTo>
                  <a:pt x="5" y="108"/>
                  <a:pt x="6" y="109"/>
                  <a:pt x="8" y="109"/>
                </a:cubicBezTo>
                <a:cubicBezTo>
                  <a:pt x="3" y="109"/>
                  <a:pt x="0" y="105"/>
                  <a:pt x="0" y="10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676275" y="5524500"/>
            <a:ext cx="108870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这个规模的含义：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不是最后一周突击出来的，而是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24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天里每天都有提交、测试与开发日志的持续迭代——工作量维度可以直接按提交记录核查。</a:t>
            </a:r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381000" y="654367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113538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20px 40px 12px 40px' }}&gt;&#10;        &lt;Text style={{ fontSize: 34, fontWeight: 'bold', color: '#0E3F8C' }}&gt;系统全貌 · 五层能力梯度&lt;/Text&gt;&#10;        &lt;Text style={{ fontSize: 17, color: '#8B97A8' }}&gt;从被动响应到主动诊断&lt;/Text&gt;&#10;    &lt;/Box&gt;&#10;    &lt;Box style={{ flex: 1, flexDirection: 'row', gap: 32, padding: '4px 40px 0 40px' }}&gt;&#10;        &lt;Box style={{ width: 640, alignItems: 'center', justifyContent: 'center' }}&gt;&#10;            &lt;svg width={620} height={470} viewBox='0 0 620 470'&gt;&#10;                &lt;text x='12' y='24' fontSize='19' fill='#4A5568'&gt;被动响应&lt;/text&gt;&#10;                &lt;text x='500' y='24' fontSize='19' fill='#1E4FA8' fontWeight='bold'&gt;主动诊断&lt;/text&gt;&#10;                &lt;line x1='120' y1='30' x2='480' y2='30' stroke='#D6DCE5' strokeWidth='1.5' /&gt;&#10;                &lt;polygon points='480,24 494,30 480,36' fill='#1E4FA8' /&gt;&#10;                &lt;rect x='10' y='278' width='104' height='160' rx='6' fill='#BBD0F0' /&gt;&#10;                &lt;text x='62' y='312' fontSize='24' fontWeight='bold' fill='#0E3F8C' textAnchor='middle'&gt;L1&lt;/text&gt;&#10;                &lt;text x='62' y='342' fontSize='19' fill='#0E3F8C' textAnchor='middle'&gt;模糊挖掘&lt;/text&gt;&#10;                &lt;rect x='130' y='210' width='104' height='228' rx='6' fill='#8FB0E4' /&gt;&#10;                &lt;text x='182' y='244' fontSize='24' fontWeight='bold' fill='#0E3F8C' textAnchor='middle'&gt;L2&lt;/text&gt;&#10;                &lt;text x='182' y='274' fontSize='19' fill='#0E3F8C' textAnchor='middle'&gt;冲突检测&lt;/text&gt;&#10;                &lt;rect x='250' y='142' width='104' height='296' rx='6' fill='#5C8AD4' /&gt;&#10;                &lt;text x='302' y='176' fontSize='24' fontWeight='bold' fill='#FFFFFF' textAnchor='middle'&gt;L3&lt;/text&gt;&#10;                &lt;text x='302' y='206' fontSize='19' fill='#FFFFFF' textAnchor='middle'&gt;认知助产&lt;/text&gt;&#10;                &lt;rect x='370' y='74' width='104' height='364' rx='6' fill='#3D7BD9' /&gt;&#10;                &lt;text x='422' y='108' fontSize='24' fontWeight='bold' fill='#FFFFFF' textAnchor='middle'&gt;L4&lt;/text&gt;&#10;                &lt;text x='422' y='138' fontSize='19' fill='#FFFFFF' textAnchor='middle'&gt;路径修正&lt;/text&gt;&#10;                &lt;rect x='490' y='6' width='104' height='432' rx='6' fill='#1E4FA8' /&gt;&#10;                &lt;text x='542' y='40' fontSize='24' fontWeight='bold' fill='#FFFFFF' textAnchor='middle'&gt;L5&lt;/text&gt;&#10;                &lt;text x='542' y='70' fontSize='19' fill='#FFFFFF' textAnchor='middle'&gt;偏误诊断&lt;/text&gt;&#10;                &lt;line x1='0' y1='442' x2='620' y2='442' stroke='#0E3F8C' strokeWidth='2' /&gt;&#10;                &lt;text x='10' y='466' fontSize='17' fill='#8B97A8'&gt;认知加工深度递增：从「帮你找回」到「替你看病」&lt;/text&gt;&#10;            &lt;/svg&gt;&#10;        &lt;/Box&gt;&#10;        &lt;Box style={{ flex: 1, flexDirection: 'column', justifyContent: 'space-between', padding: '6px 0' }}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1&lt;/Text&gt;&#10;                &lt;/Box&gt;&#10;                &lt;Text style={{ fontSize: 20, color: '#4A5568', lineHeight: 1.5 }}&gt;凭模糊线索找回知识，线索不足主动追问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2&lt;/Text&gt;&#10;                &lt;/Box&gt;&#10;                &lt;Text style={{ fontSize: 20, color: '#4A5568', lineHeight: 1.5 }}&gt;发现知识体系里的「内战」：对立主张自动识别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3&lt;/Text&gt;&#10;                &lt;/Box&gt;&#10;                &lt;Text style={{ fontSize: 20, color: '#4A5568', lineHeight: 1.5 }}&gt;生成你「该问但没问」的问题，点名结构性盲区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4&lt;/Text&gt;&#10;                &lt;/Box&gt;&#10;                &lt;Text style={{ fontSize: 20, color: '#4A5568', lineHeight: 1.5 }}&gt;计划赶不上变化时自主重排，偏离信号本地计算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5&lt;/Text&gt;&#10;                &lt;/Box&gt;&#10;                &lt;Text style={{ fontSize: 20, color: '#4A5568', lineHeight: 1.5 }}&gt;链式归因解释行为背后的「病根」，建议回写计划&lt;/Text&gt;&#10;            &lt;/Box&gt;&#10;            &lt;Box style={{ padding: '14px 20px', background: '#F0F5FC', borderRadius: 8, borderLeft: '4px solid #1E4FA8' }}&gt;&#10;                &lt;Text style={{ fontSize: 18, color: '#1A2230', lineHeight: 1.6 }}&gt;&#10;                    &lt;span style={{ fontWeight: 'bold', color: '#0E3F8C' }}&gt;四块基础设施：&lt;/span&gt;统一模型网关 · 异步任务框架（幂等/重试/死信）· 行为埋点 · 推送与调度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06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矩形 2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5" name="矩形 25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381000" y="266700"/>
            <a:ext cx="3581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系统全貌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五层能力梯度</a:t>
            </a:r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10191750" y="457200"/>
            <a:ext cx="1619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从被动响应到主动诊断</a:t>
            </a:r>
            <a:endParaRPr/>
          </a:p>
        </p:txBody>
      </p:sp>
      <p:pic>
        <p:nvPicPr>
          <p:cNvPr id="258" name="图形 2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1381125"/>
            <a:ext cx="5905500" cy="4476750"/>
          </a:xfrm>
          <a:prstGeom prst="rect">
            <a:avLst/>
          </a:prstGeom>
          <a:ln/>
        </p:spPr>
      </p:pic>
      <p:sp>
        <p:nvSpPr>
          <p:cNvPr id="259" name="矩形: 圆角 258"/>
          <p:cNvSpPr/>
          <p:nvPr/>
        </p:nvSpPr>
        <p:spPr>
          <a:xfrm>
            <a:off x="6781800" y="87630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934200" y="942975"/>
            <a:ext cx="19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7410450" y="866775"/>
            <a:ext cx="3429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凭模糊线索找回知识，线索不足主动追问</a:t>
            </a:r>
            <a:endParaRPr/>
          </a:p>
        </p:txBody>
      </p:sp>
      <p:sp>
        <p:nvSpPr>
          <p:cNvPr id="262" name="矩形: 圆角 261"/>
          <p:cNvSpPr/>
          <p:nvPr/>
        </p:nvSpPr>
        <p:spPr>
          <a:xfrm>
            <a:off x="6781800" y="179070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934200" y="1857375"/>
            <a:ext cx="19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7410450" y="1781175"/>
            <a:ext cx="4000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发现知识体系里的「内战」：对立主张自动识别</a:t>
            </a:r>
            <a:endParaRPr/>
          </a:p>
        </p:txBody>
      </p:sp>
      <p:sp>
        <p:nvSpPr>
          <p:cNvPr id="265" name="矩形: 圆角 264"/>
          <p:cNvSpPr/>
          <p:nvPr/>
        </p:nvSpPr>
        <p:spPr>
          <a:xfrm>
            <a:off x="6781800" y="270510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934200" y="2771775"/>
            <a:ext cx="19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7410450" y="2695575"/>
            <a:ext cx="4000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生成你「该问但没问」的问题，点名结构性盲区</a:t>
            </a:r>
            <a:endParaRPr/>
          </a:p>
        </p:txBody>
      </p:sp>
      <p:sp>
        <p:nvSpPr>
          <p:cNvPr id="268" name="矩形: 圆角 267"/>
          <p:cNvSpPr/>
          <p:nvPr/>
        </p:nvSpPr>
        <p:spPr>
          <a:xfrm>
            <a:off x="6781800" y="361950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934200" y="3686175"/>
            <a:ext cx="19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7410450" y="3609975"/>
            <a:ext cx="4000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计划赶不上变化时自主重排，偏离信号本地计算</a:t>
            </a:r>
            <a:endParaRPr/>
          </a:p>
        </p:txBody>
      </p:sp>
      <p:sp>
        <p:nvSpPr>
          <p:cNvPr id="271" name="矩形: 圆角 270"/>
          <p:cNvSpPr/>
          <p:nvPr/>
        </p:nvSpPr>
        <p:spPr>
          <a:xfrm>
            <a:off x="6781800" y="453390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934200" y="4600575"/>
            <a:ext cx="190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7410450" y="4524375"/>
            <a:ext cx="4191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链式归因解释行为背后的「病根」，建议回写计划</a:t>
            </a:r>
            <a:endParaRPr/>
          </a:p>
        </p:txBody>
      </p:sp>
      <p:sp>
        <p:nvSpPr>
          <p:cNvPr id="274" name="矩形: 圆角 273"/>
          <p:cNvSpPr/>
          <p:nvPr/>
        </p:nvSpPr>
        <p:spPr>
          <a:xfrm>
            <a:off x="6819900" y="5438775"/>
            <a:ext cx="502920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5" name="任意多边形: 形状 274"/>
          <p:cNvSpPr/>
          <p:nvPr/>
        </p:nvSpPr>
        <p:spPr>
          <a:xfrm>
            <a:off x="6819900" y="5438775"/>
            <a:ext cx="5029200" cy="933450"/>
          </a:xfrm>
          <a:custGeom>
            <a:avLst/>
            <a:gdLst/>
            <a:ahLst/>
            <a:cxnLst/>
            <a:rect l="0" t="0" r="0" b="0"/>
            <a:pathLst>
              <a:path w="528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010400" y="5572125"/>
            <a:ext cx="46101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四块基础设施：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统一模型网关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异步任务框架（幂等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重试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死信）·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行为埋点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推送与调度</a:t>
            </a:r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381000" y="654367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13538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160' cy='600' r='320' fill='#1E4FA8' opacity='0.3' /&gt;&#10;    &lt;/svg&gt;&#10;    &lt;Box style={{ position: 'absolute', top: 96, left: 96, flexDirection: 'row', alignItems: 'flex-end', gap: 32 }}&gt;&#10;        &lt;Text style={{ fontSize: 200, fontWeight: 'bold', color: '#FFFFFF', opacity: 0.28, lineHeight: 1 }}&gt;02&lt;/Text&gt;&#10;        &lt;Box style={{ paddingBottom: 26 }}&gt;&#10;            &lt;Text style={{ fontSize: 52, fontWeight: 'bold', color: '#FFFFFF', letterSpacing: 4 }}&gt;对照评价标准 · 逐维度汇报&lt;/Text&gt;&#10;            &lt;Box style={{ width: 64, height: 4, background: '#FFC107', marginTop: 16 }} /&gt;&#10;            &lt;Text style={{ fontSize: 22, color: '#BBD0F0', marginTop: 18 }}&gt;按评分表顺序给证据：每个维度先亮分值，再讲做到了什么&lt;/Text&gt;&#10;        &lt;/Box&gt;&#10;    &lt;/Box&gt;&#10;    &lt;Box style={{ position: 'absolute', top: 470, left: 96, width: 1088, flexDirection: 'row', gap: 16 }}&gt;&#10;        &lt;Box style={{ flex: 1, padding: '22px 0', background: '#1E4FA8', borderRadius: 10, border: '1px solid #3D7BD9', alignItems: 'center' }}&gt;&#10;            &lt;Text style={{ fontSize: 34, fontWeight: 'bold', color: '#FFC107' }}&gt;20&lt;/Text&gt;&#10;            &lt;Text style={{ fontSize: 19, color: '#FFFFFF', marginTop: 8 }}&gt;实用性&lt;/Text&gt;&#10;        &lt;/Box&gt;&#10;        &lt;Box style={{ flex: 1, padding: '22px 0', background: '#1E4FA8', borderRadius: 10, border: '1px solid #3D7BD9', alignItems: 'center' }}&gt;&#10;            &lt;Text style={{ fontSize: 34, fontWeight: 'bold', color: '#FFC107' }}&gt;15&lt;/Text&gt;&#10;            &lt;Text style={{ fontSize: 19, color: '#FFFFFF', marginTop: 8 }}&gt;创新性&lt;/Text&gt;&#10;        &lt;/Box&gt;&#10;        &lt;Box style={{ flex: 1, padding: '22px 0', background: '#1E4FA8', borderRadius: 10, border: '1px solid #3D7BD9', alignItems: 'center' }}&gt;&#10;            &lt;Text style={{ fontSize: 34, fontWeight: 'bold', color: '#FFC107' }}&gt;20&lt;/Text&gt;&#10;            &lt;Text style={{ fontSize: 19, color: '#FFFFFF', marginTop: 8 }}&gt;技术先进性&lt;/Text&gt;&#10;        &lt;/Box&gt;&#10;        &lt;Box style={{ flex: 1, padding: '22px 0', background: '#1E4FA8', borderRadius: 10, border: '1px solid #3D7BD9', alignItems: 'center' }}&gt;&#10;            &lt;Text style={{ fontSize: 34, fontWeight: 'bold', color: '#FFC107' }}&gt;20&lt;/Text&gt;&#10;            &lt;Text style={{ fontSize: 19, color: '#FFFFFF', marginTop: 8 }}&gt;功能完善性&lt;/Text&gt;&#10;        &lt;/Box&gt;&#10;        &lt;Box style={{ flex: 1, padding: '22px 0', background: '#1E4FA8', borderRadius: 10, border: '1px solid #3D7BD9', alignItems: 'center' }}&gt;&#10;            &lt;Text style={{ fontSize: 34, fontWeight: 'bold', color: '#FFC107' }}&gt;10&lt;/Text&gt;&#10;            &lt;Text style={{ fontSize: 19, color: '#FFFFFF', marginTop: 8 }}&gt;开发工作量&lt;/Text&gt;&#10;        &lt;/Box&gt;&#10;        &lt;Box style={{ flex: 1, padding: '22px 0', background: '#1E4FA8', borderRadius: 10, border: '1px solid #3D7BD9', alignItems: 'center' }}&gt;&#10;            &lt;Text style={{ fontSize: 34, fontWeight: 'bold', color: '#FFC107' }}&gt;15&lt;/Text&gt;&#10;            &lt;Text style={{ fontSize: 19, color: '#FFFFFF', marginTop: 8 }}&gt;现场表现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1" name="图形 2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3571875" y="1733550"/>
            <a:ext cx="649605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对照评价标准</a:t>
            </a:r>
            <a:r>
              <a:rPr lang="en-US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逐维度汇报</a:t>
            </a:r>
            <a:endParaRPr/>
          </a:p>
        </p:txBody>
      </p:sp>
      <p:sp>
        <p:nvSpPr>
          <p:cNvPr id="283" name="矩形 282"/>
          <p:cNvSpPr/>
          <p:nvPr/>
        </p:nvSpPr>
        <p:spPr>
          <a:xfrm>
            <a:off x="3571875" y="24860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3571875" y="2695575"/>
            <a:ext cx="6496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BBD0F0"/>
                </a:solidFill>
                <a:latin typeface="Microsoft YaHei"/>
                <a:ea typeface="Microsoft YaHei"/>
              </a:rPr>
              <a:t>按评分表顺序给证据：每个维度先亮分值，再讲做到了什么</a:t>
            </a:r>
            <a:endParaRPr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914400" y="914400"/>
            <a:ext cx="2352675" cy="2286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86" name="矩形: 圆角 285"/>
          <p:cNvSpPr/>
          <p:nvPr/>
        </p:nvSpPr>
        <p:spPr>
          <a:xfrm>
            <a:off x="914400" y="4476750"/>
            <a:ext cx="16002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1514475" y="468630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1447800" y="5153025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实用性</a:t>
            </a:r>
            <a:endParaRPr/>
          </a:p>
        </p:txBody>
      </p:sp>
      <p:sp>
        <p:nvSpPr>
          <p:cNvPr id="289" name="矩形: 圆角 288"/>
          <p:cNvSpPr/>
          <p:nvPr/>
        </p:nvSpPr>
        <p:spPr>
          <a:xfrm>
            <a:off x="2667000" y="4476750"/>
            <a:ext cx="16002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3267075" y="468630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3200400" y="5153025"/>
            <a:ext cx="5429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创新性</a:t>
            </a:r>
            <a:endParaRPr/>
          </a:p>
        </p:txBody>
      </p:sp>
      <p:sp>
        <p:nvSpPr>
          <p:cNvPr id="292" name="矩形: 圆角 291"/>
          <p:cNvSpPr/>
          <p:nvPr/>
        </p:nvSpPr>
        <p:spPr>
          <a:xfrm>
            <a:off x="4419600" y="4476750"/>
            <a:ext cx="16002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019675" y="468630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4772025" y="5153025"/>
            <a:ext cx="904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技术先进性</a:t>
            </a:r>
            <a:endParaRPr/>
          </a:p>
        </p:txBody>
      </p:sp>
      <p:sp>
        <p:nvSpPr>
          <p:cNvPr id="295" name="矩形: 圆角 294"/>
          <p:cNvSpPr/>
          <p:nvPr/>
        </p:nvSpPr>
        <p:spPr>
          <a:xfrm>
            <a:off x="6172200" y="4476750"/>
            <a:ext cx="16002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772275" y="468630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6524625" y="5153025"/>
            <a:ext cx="904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功能完善性</a:t>
            </a:r>
            <a:endParaRPr/>
          </a:p>
        </p:txBody>
      </p:sp>
      <p:sp>
        <p:nvSpPr>
          <p:cNvPr id="298" name="矩形: 圆角 297"/>
          <p:cNvSpPr/>
          <p:nvPr/>
        </p:nvSpPr>
        <p:spPr>
          <a:xfrm>
            <a:off x="7924800" y="4476750"/>
            <a:ext cx="16002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524875" y="468630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277225" y="5153025"/>
            <a:ext cx="904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开发工作量</a:t>
            </a:r>
            <a:endParaRPr/>
          </a:p>
        </p:txBody>
      </p:sp>
      <p:sp>
        <p:nvSpPr>
          <p:cNvPr id="301" name="矩形: 圆角 300"/>
          <p:cNvSpPr/>
          <p:nvPr/>
        </p:nvSpPr>
        <p:spPr>
          <a:xfrm>
            <a:off x="9677400" y="4476750"/>
            <a:ext cx="16002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10277475" y="4686300"/>
            <a:ext cx="40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0115550" y="5153025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现场表现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: 1, flexDirection: 'row', gap: 28, padding: '24px 40px 0 40px' }}&gt;&#10;        &lt;Box style={{ width: 330, height: 590, background: '#0E3F8C', borderRadius: 10, padding: '36px 30px', justifyContent: 'space-between' }}&gt;&#10;            &lt;Box&gt;&#10;                &lt;Text style={{ fontSize: 18, color: '#9FBCE8', letterSpacing: 3 }}&gt;维度一&lt;/Text&gt;&#10;                &lt;Text style={{ fontSize: 40, fontWeight: 'bold', color: '#FFFFFF', marginTop: 12 }}&gt;实用性&lt;/Text&gt;&#10;                &lt;Box style={{ flexDirection: 'row', alignItems: 'flex-end', gap: 8, marginTop: 18 }}&gt;&#10;                    &lt;Text style={{ fontSize: 64, fontWeight: 'bold', color: '#FFC107', lineHeight: 1 }}&gt;20&lt;/Text&gt;&#10;                    &lt;Text style={{ fontSize: 22, color: '#BBD0F0', paddingBottom: 6 }}&gt;分&lt;/Text&gt;&#10;                &lt;/Box&gt;&#10;            &lt;/Box&gt;&#10;            &lt;Text style={{ fontSize: 21, color: '#E8EFF8', lineHeight: 1.75 }}&gt;&#10;                做得实的标准不是功能多，而是&lt;span style={{ fontWeight: 'bold', color: '#FFC107' }}&gt;每天真的在用&lt;/span&gt;：&#10;                数据源是真的、阅读量是真的、行为记录是真的。&#10;            &lt;/Text&gt;&#10;        &lt;/Box&gt;&#10;        &lt;Box style={{ flex: 1, flexDirection: 'column', justifyContent: 'space-between', padding: '4px 0' }}&gt;&#10;            &lt;Box style={{ padding: '10px 20px', background: '#FAFBFD', borderRadius: 10, border: '2px dashed #B0B9C8', alignItems: 'center', justifyContent: 'center', height: 112 }}&gt;&#10;                &lt;FAIcon name='image' style={{ fill: '#B0B9C8', width: 26, height: 26 }} /&gt;&#10;                &lt;Text style={{ fontSize: 19, fontWeight: 'bold', color: '#8B97A8', marginTop: 5 }}&gt;【预留】此处插入系统演示截图&lt;/Text&gt;&#10;                &lt;Text style={{ fontSize: 15, color: '#A8B2C0', marginTop: 3 }}&gt;对话工作台 · 能力卡片 · 微信读书同步界面&lt;/Text&gt;&#10;            &lt;/Box&gt;&#10;            &lt;Box style={{ flexDirection: 'row', alignItems: 'center', gap: 20, padding: '14px 22px', background: '#F7F9FC', borderRadius: 10, border: '1px solid #D6DCE5' }}&gt;&#10;                &lt;Box style={{ width: 60, height: 60, background: '#E8EFF8', borderRadius: 12, justifyContent: 'center', alignItems: 'center' }}&gt;&#10;                    &lt;FAIcon name='sync' style={{ fill: '#1E4FA8', width: 30, height: 30 }} /&gt;&#10;                &lt;/Box&gt;&#10;                &lt;Box style={{ flex: 1 }}&gt;&#10;                    &lt;Text style={{ fontSize: 24, fontWeight: 'bold', color: '#1A2230' }}&gt;真实数据源：微信读书官方接口同步&lt;/Text&gt;&#10;                    &lt;Text style={{ fontSize: 19, color: '#4A5568', marginTop: 6, lineHeight: 1.55 }}&gt;&#10;                        划线、想法、书评按官方只读接口进知识库，幂等去重、可跳回原文——与手写笔记同等参与后续全部能力&#10;                    &lt;/Text&gt;&#10;                &lt;/Box&gt;&#10;            &lt;/Box&gt;&#10;            &lt;Box style={{ flexDirection: 'row', alignItems: 'center', gap: 20, padding: '14px 22px', background: '#F7F9FC', borderRadius: 10, border: '1px solid #D6DCE5' }}&gt;&#10;                &lt;Box style={{ width: 60, height: 60, background: '#E8EFF8', borderRadius: 12, justifyContent: 'center', alignItems: 'center' }}&gt;&#10;                    &lt;FAIcon name='book' style={{ fill: '#1E4FA8', width: 30, height: 30 }} /&gt;&#10;                &lt;/Box&gt;&#10;                &lt;Box style={{ flex: 1 }}&gt;&#10;                    &lt;Text style={{ fontSize: 24, fontWeight: 'bold', color: '#1A2230' }}&gt;真实阅读量：4 本完整通读的书籍&lt;/Text&gt;&#10;                    &lt;Text style={{ fontSize: 19, color: '#4A5568', marginTop: 6, lineHeight: 1.55 }}&gt;&#10;                        单本最高 20.8 万字、零截断；txt / epub / pdf 解析成章节，阅读进度与划词想法全部落库&#10;                    &lt;/Text&gt;&#10;                &lt;/Box&gt;&#10;            &lt;/Box&gt;&#10;            &lt;Box style={{ flexDirection: 'row', alignItems: 'center', gap: 20, padding: '14px 22px', background: '#F7F9FC', borderRadius: 10, border: '1px solid #D6DCE5' }}&gt;&#10;                &lt;Box style={{ width: 60, height: 60, background: '#E8EFF8', borderRadius: 12, justifyContent: 'center', alignItems: 'center' }}&gt;&#10;                    &lt;FAIcon name='database' style={{ fill: '#1E4FA8', width: 30, height: 30 }} /&gt;&#10;                &lt;/Box&gt;&#10;                &lt;Box style={{ flex: 1 }}&gt;&#10;                    &lt;Text style={{ fontSize: 24, fontWeight: 'bold', color: '#1A2230' }}&gt;真实行为数据：支撑五层能力运转&lt;/Text&gt;&#10;                    &lt;Text style={{ fontSize: 19, color: '#4A5568', marginTop: 6, lineHeight: 1.55 }}&gt;&#10;                        知识条目、观点主张、589 条学习行为事件持续入库（09-23 快照），L1–L5 每一层都在真实数据上跑&#10;                    &lt;/Text&gt;&#10;                &lt;/Box&gt;&#10;            &lt;/Box&gt;&#10;            &lt;Box style={{ padding: '12px 20px', background: '#F0F5FC', borderRadius: 8, borderLeft: '5px solid #1E4FA8' }}&gt;&#10;                &lt;Text style={{ fontSize: 20, color: '#1A2230', lineHeight: 1.6 }}&gt;&#10;                    &lt;span style={{ fontWeight: 'bold', color: '#0E3F8C' }}&gt;佐证：&lt;/span&gt;项目连续 21 天开发日志、每日真实使用轨迹——这个系统先服务了开发者自己，才谈得上智能。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08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矩形: 圆角 306"/>
          <p:cNvSpPr/>
          <p:nvPr/>
        </p:nvSpPr>
        <p:spPr>
          <a:xfrm>
            <a:off x="381000" y="304800"/>
            <a:ext cx="3143250" cy="5619750"/>
          </a:xfrm>
          <a:prstGeom prst="roundRect">
            <a:avLst>
              <a:gd name="adj" fmla="val 303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666750" y="647700"/>
            <a:ext cx="2571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BCE8"/>
                </a:solidFill>
                <a:latin typeface="Microsoft YaHei"/>
                <a:ea typeface="Microsoft YaHei"/>
              </a:rPr>
              <a:t>维度一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666750" y="971550"/>
            <a:ext cx="25717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实用性</a:t>
            </a:r>
            <a:endParaRPr/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66750" y="1600200"/>
            <a:ext cx="7524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1495425" y="2019300"/>
            <a:ext cx="209550" cy="314325"/>
          </a:xfrm>
          <a:prstGeom prst="rect">
            <a:avLst/>
          </a:prstGeom>
        </p:spPr>
        <p:txBody>
          <a:bodyPr wrap="none" lIns="0" tIns="0" rIns="0" bIns="42863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666750" y="3895725"/>
            <a:ext cx="2571750" cy="1685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做得实的标准不是功能多，而是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每天真的在用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：</a:t>
            </a:r>
            <a:r>
              <a:rPr lang="en-US" sz="1575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数据源是真的、阅读量是真的、行为记录是真的。</a:t>
            </a:r>
            <a:endParaRPr/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6534150" y="819150"/>
            <a:ext cx="2533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6467475" y="1066800"/>
            <a:ext cx="2667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A8B2C0"/>
                </a:solidFill>
                <a:latin typeface="Microsoft YaHei"/>
                <a:ea typeface="Microsoft YaHei"/>
              </a:rPr>
              <a:t>对话工作台</a:t>
            </a:r>
            <a:r>
              <a:rPr lang="en-US" sz="1125" dirty="0">
                <a:solidFill>
                  <a:srgbClr val="A8B2C0"/>
                </a:solidFill>
                <a:latin typeface="Microsoft YaHei"/>
                <a:ea typeface="Microsoft YaHei"/>
              </a:rPr>
              <a:t> · </a:t>
            </a:r>
            <a:r>
              <a:rPr lang="zh-CN" sz="1125" dirty="0">
                <a:solidFill>
                  <a:srgbClr val="A8B2C0"/>
                </a:solidFill>
                <a:latin typeface="Microsoft YaHei"/>
                <a:ea typeface="Microsoft YaHei"/>
              </a:rPr>
              <a:t>能力卡片</a:t>
            </a:r>
            <a:r>
              <a:rPr lang="en-US" sz="1125" dirty="0">
                <a:solidFill>
                  <a:srgbClr val="A8B2C0"/>
                </a:solidFill>
                <a:latin typeface="Microsoft YaHei"/>
                <a:ea typeface="Microsoft YaHei"/>
              </a:rPr>
              <a:t> · </a:t>
            </a:r>
            <a:r>
              <a:rPr lang="zh-CN" sz="1125" dirty="0">
                <a:solidFill>
                  <a:srgbClr val="A8B2C0"/>
                </a:solidFill>
                <a:latin typeface="Microsoft YaHei"/>
                <a:ea typeface="Microsoft YaHei"/>
              </a:rPr>
              <a:t>微信读书同步界面</a:t>
            </a:r>
            <a:endParaRPr dirty="0"/>
          </a:p>
        </p:txBody>
      </p:sp>
      <p:sp>
        <p:nvSpPr>
          <p:cNvPr id="317" name="矩形: 圆角 316"/>
          <p:cNvSpPr/>
          <p:nvPr/>
        </p:nvSpPr>
        <p:spPr>
          <a:xfrm>
            <a:off x="3790950" y="1457325"/>
            <a:ext cx="8020050" cy="1276350"/>
          </a:xfrm>
          <a:prstGeom prst="roundRect">
            <a:avLst>
              <a:gd name="adj" fmla="val 74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8" name="矩形: 圆角 317"/>
          <p:cNvSpPr/>
          <p:nvPr/>
        </p:nvSpPr>
        <p:spPr>
          <a:xfrm>
            <a:off x="4000500" y="180975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9" name="图形 3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43375" y="1952625"/>
            <a:ext cx="285750" cy="285750"/>
          </a:xfrm>
          <a:prstGeom prst="rect">
            <a:avLst/>
          </a:prstGeom>
          <a:ln/>
        </p:spPr>
      </p:pic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4762500" y="1590675"/>
            <a:ext cx="68389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真实数据源：微信读书官方接口同步</a:t>
            </a:r>
            <a:endParaRPr/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762500" y="1924050"/>
            <a:ext cx="6838950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划线、想法、书评按官方只读接口进知识库，幂等去重、可跳回原文——与手写笔记同等参与后续全部能力</a:t>
            </a:r>
            <a:endParaRPr/>
          </a:p>
        </p:txBody>
      </p:sp>
      <p:sp>
        <p:nvSpPr>
          <p:cNvPr id="322" name="矩形: 圆角 321"/>
          <p:cNvSpPr/>
          <p:nvPr/>
        </p:nvSpPr>
        <p:spPr>
          <a:xfrm>
            <a:off x="3790950" y="2781300"/>
            <a:ext cx="8020050" cy="1276350"/>
          </a:xfrm>
          <a:prstGeom prst="roundRect">
            <a:avLst>
              <a:gd name="adj" fmla="val 74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3" name="矩形: 圆角 322"/>
          <p:cNvSpPr/>
          <p:nvPr/>
        </p:nvSpPr>
        <p:spPr>
          <a:xfrm>
            <a:off x="4000500" y="3133725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4" name="图形 3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75" y="3276600"/>
            <a:ext cx="285750" cy="285750"/>
          </a:xfrm>
          <a:prstGeom prst="rect">
            <a:avLst/>
          </a:prstGeom>
          <a:ln/>
        </p:spPr>
      </p:pic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762500" y="2914650"/>
            <a:ext cx="68389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真实阅读量：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4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本完整通读的书籍</a:t>
            </a:r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4762500" y="3248025"/>
            <a:ext cx="6838950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单本最高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20.8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万字、零截断；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txt / epub / pdf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解析成章节，阅读进度与划词想法全部落库</a:t>
            </a:r>
            <a:endParaRPr/>
          </a:p>
        </p:txBody>
      </p:sp>
      <p:sp>
        <p:nvSpPr>
          <p:cNvPr id="327" name="矩形: 圆角 326"/>
          <p:cNvSpPr/>
          <p:nvPr/>
        </p:nvSpPr>
        <p:spPr>
          <a:xfrm>
            <a:off x="3790950" y="4105275"/>
            <a:ext cx="8020050" cy="1276350"/>
          </a:xfrm>
          <a:prstGeom prst="roundRect">
            <a:avLst>
              <a:gd name="adj" fmla="val 74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8" name="矩形: 圆角 327"/>
          <p:cNvSpPr/>
          <p:nvPr/>
        </p:nvSpPr>
        <p:spPr>
          <a:xfrm>
            <a:off x="4000500" y="445770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9" name="图形 3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3375" y="4600575"/>
            <a:ext cx="285750" cy="285750"/>
          </a:xfrm>
          <a:prstGeom prst="rect">
            <a:avLst/>
          </a:prstGeom>
          <a:ln/>
        </p:spPr>
      </p:pic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4762500" y="4238625"/>
            <a:ext cx="68389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真实行为数据：支撑五层能力运转</a:t>
            </a:r>
            <a:endParaRPr/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762500" y="4572000"/>
            <a:ext cx="6838950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知识条目、观点主张、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589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条学习行为事件持续入库（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09-23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快照），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L1–L5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每一层都在真实数据上跑</a:t>
            </a:r>
            <a:endParaRPr/>
          </a:p>
        </p:txBody>
      </p:sp>
      <p:sp>
        <p:nvSpPr>
          <p:cNvPr id="332" name="矩形: 圆角 331"/>
          <p:cNvSpPr/>
          <p:nvPr/>
        </p:nvSpPr>
        <p:spPr>
          <a:xfrm>
            <a:off x="3838575" y="5429250"/>
            <a:ext cx="8020050" cy="962025"/>
          </a:xfrm>
          <a:prstGeom prst="roundRect">
            <a:avLst>
              <a:gd name="adj" fmla="val 7921"/>
            </a:avLst>
          </a:prstGeom>
          <a:solidFill>
            <a:srgbClr val="F0F5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3" name="任意多边形: 形状 332"/>
          <p:cNvSpPr/>
          <p:nvPr/>
        </p:nvSpPr>
        <p:spPr>
          <a:xfrm>
            <a:off x="3838575" y="5429250"/>
            <a:ext cx="8020050" cy="962025"/>
          </a:xfrm>
          <a:custGeom>
            <a:avLst/>
            <a:gdLst/>
            <a:ahLst/>
            <a:cxnLst/>
            <a:rect l="0" t="0" r="0" b="0"/>
            <a:pathLst>
              <a:path w="842" h="101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8"/>
                </a:lnTo>
                <a:cubicBezTo>
                  <a:pt x="5" y="100"/>
                  <a:pt x="6" y="101"/>
                  <a:pt x="8" y="101"/>
                </a:cubicBezTo>
                <a:cubicBezTo>
                  <a:pt x="3" y="101"/>
                  <a:pt x="0" y="97"/>
                  <a:pt x="0" y="9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029075" y="5543550"/>
            <a:ext cx="7591425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佐证：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项目连续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21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天开发日志、每日真实使用轨迹——这个系统先服务了开发者自己，才谈得上智能。</a:t>
            </a:r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381000" y="654367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113538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20px 40px 12px 40px' }}&gt;&#10;        &lt;Text style={{ fontSize: 34, fontWeight: 'bold', color: '#0E3F8C' }}&gt;维度二 · 创新性（15 分）：和现有方案比，好在哪里&lt;/Text&gt;&#10;        &lt;Text style={{ fontSize: 17, color: '#8B97A8' }}&gt;结构对比 · 不靠名词&lt;/Text&gt;&#10;    &lt;/Box&gt;&#10;    &lt;Box style={{ flex: 1, flexDirection: 'row', gap: 26, padding: '6px 40px 0 40px' }}&gt;&#10;        &lt;Box style={{ width: 730, flexDirection: 'column' }}&gt;&#10;            &lt;Table&#10;                style={{ width: 730, height: 356 }}&#10;                defaultTextStyle={{ fontSize: 17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    background: { color: '#FFFFFF' },&#10;                }}&#10;                cells={[&#10;                    [&#10;                        { text: '判定问题', textStyle: { bold: true, color: '#FFFFFF', fontSize: 17 }, cellStyle: { background: { color: '#0E3F8C' } } },&#10;                        { text: '网页 AI（豆包类）', textStyle: { bold: true, color: '#FFFFFF', fontSize: 17 }, cellStyle: { background: { color: '#0E3F8C' } } },&#10;                        { text: '笔记软件（Notion 类）', textStyle: { bold: true, color: '#FFFFFF', fontSize: 17 }, cellStyle: { background: { color: '#0E3F8C' } } },&#10;                        { text: '认知副驾', textStyle: { bold: true, color: '#FFC107', fontSize: 17 }, cellStyle: { background: { color: '#0E3F8C' } } },&#10;                    ],&#10;                    [&#10;                        { text: '有跨会话的持久状态？', textStyle: { textAlign: 'left', fontSize: 16 } },&#10;                        { text: '✗ 对话完就忘', textStyle: { color: '#D9534F', fontSize: 16 } },&#10;                        { text: '△ 只存内容', textStyle: { color: '#B8860B', fontSize: 16 } },&#10;                        { text: '✓ 知识＋观点＋行为轨迹', textStyle: { bold: true, color: '#1E4FA8', fontSize: 16 }, cellStyle: { background: { color: '#F0F5FC' } } },&#10;                    ],&#10;                    [&#10;                        { text: '能改变外部世界？', textStyle: { textAlign: 'left', fontSize: 16 }, cellStyle: { background: { color: '#F7F9FC' } } },&#10;                        { text: '✗ 输出即结束', textStyle: { color: '#D9534F', fontSize: 16 }, cellStyle: { background: { color: '#F7F9FC' } } },&#10;                        { text: '✗ 靠手动整理', textStyle: { color: '#D9534F', fontSize: 16 }, cellStyle: { background: { color: '#F7F9FC' } } },&#10;                        { text: '✓ 写库·改计划·触发扫描', textStyle: { bold: true, color: '#1E4FA8', fontSize: 16 }, cellStyle: { background: { color: '#F0F5FC' } } },&#10;                    ],&#10;                    [&#10;                        { text: '会主动发起？', textStyle: { textAlign: 'left', fontSize: 16 } },&#10;                        { text: '✗ 一问一答', textStyle: { color: '#D9534F', fontSize: 16 } },&#10;                        { text: '✗ 等你打开', textStyle: { color: '#D9534F', fontSize: 16 } },&#10;                        { text: '✓ 定时巡检·推送简报', textStyle: { bold: true, color: '#1E4FA8', fontSize: 16 }, cellStyle: { background: { color: '#F0F5FC' } } },&#10;                    ],&#10;                    [&#10;                        { text: '输出能反向改进自己？', textStyle: { textAlign: 'left', fontSize: 16 }, cellStyle: { background: { color: '#F7F9FC' } } },&#10;                        { text: '✗ 无状态', textStyle: { color: '#D9534F', fontSize: 16 }, cellStyle: { background: { color: '#F7F9FC' } } },&#10;                        { text: '✗ 不理解内容', textStyle: { color: '#D9534F', fontSize: 16 }, cellStyle: { background: { color: '#F7F9FC' } } },&#10;                        { text: '✓ 采纳诊断→计划改写', textStyle: { bold: true, color: '#1E4FA8', fontSize: 16 }, cellStyle: { background: { color: '#F0F5FC' } } },&#10;                    ],&#10;                ]}&#10;            /&gt;&#10;            &lt;Text style={{ fontSize: 16, color: '#8B97A8', marginTop: 10 }}&gt;四个判定问题上，纯大模型与笔记软件几乎全是「否」——这是结构差别，不是能力强弱。&lt;/Text&gt;&#10;        &lt;/Box&gt;&#10;        &lt;Box style={{ flex: 1, flexDirection: 'column', justifyContent: 'space-between' }}&gt;&#10;            &lt;Box style={{ padding: '18px 22px', background: '#F7F9FC', borderRadius: 10, border: '1px solid #D6DCE5', borderTop: '4px solid #1E4FA8' }}&gt;&#10;                &lt;Text style={{ fontSize: 21, fontWeight: 'bold', color: '#1A2230' }}&gt;选题创新 · 切「认知过程」&lt;/Text&gt;&#10;                &lt;Text style={{ fontSize: 18, color: '#4A5568', marginTop: 8, lineHeight: 1.55 }}&gt;&#10;                    不做内容存储的又一套轮子，管的是你的盲区、矛盾与病根——信息系统覆盖不到的那一半。&#10;                &lt;/Text&gt;&#10;            &lt;/Box&gt;&#10;            &lt;Box style={{ padding: '18px 22px', background: '#F7F9FC', borderRadius: 10, border: '1px solid #D6DCE5', borderTop: '4px solid #1E4FA8' }}&gt;&#10;                &lt;Text style={{ fontSize: 21, fontWeight: 'bold', color: '#1A2230' }}&gt;方案创新 · 冲突检测与影子主张&lt;/Text&gt;&#10;                &lt;Text style={{ fontSize: 18, color: '#4A5568', marginTop: 8, lineHeight: 1.55 }}&gt;&#10;                    L2 识别同主题对立主张；书籍通读提取观点，与个人笔记跨来源对撞——已用 4 本真书验证。&#10;                &lt;/Text&gt;&#10;            &lt;/Box&gt;&#10;            &lt;Box style={{ padding: '18px 22px', background: '#F7F9FC', borderRadius: 10, border: '1px solid #D6DCE5', borderTop: '4px solid #1E4FA8' }}&gt;&#10;                &lt;Text style={{ fontSize: 21, fontWeight: 'bold', color: '#1A2230' }}&gt;工程创新 · 先向量后模型&lt;/Text&gt;&#10;                &lt;Text style={{ fontSize: 18, color: '#4A5568', marginTop: 8, lineHeight: 1.55 }}&gt;&#10;                    让便宜的向量先判断「值不值得让贵的模型看」，判定候选对从全量两两比较压到每次 ≤20 对。&#10;                &lt;/Text&gt;&#10;            &lt;/Box&gt;&#10;        &lt;/Box&gt;&#10;    &lt;/Box&gt;&#10;    &lt;Box style={{ margin: '14px 40px 0 40px', padding: '13px 24px', background: '#0E3F8C', borderRadius: 8 }}&gt;&#10;        &lt;Text style={{ fontSize: 21, color: '#FFFFFF', textAlign: 'center' }}&gt;&#10;            创新落在结构上，不落在名词上——这张对比表就是「和现有方案比，我好在哪里」的回答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09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矩形 3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9" name="矩形 33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381000" y="266700"/>
            <a:ext cx="7639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维度二</a:t>
            </a:r>
            <a:r>
              <a:rPr lang="en-US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创新性：和现有方案比，好在哪里</a:t>
            </a:r>
            <a:endParaRPr dirty="0"/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10372725" y="457200"/>
            <a:ext cx="14382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结构对比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不靠名词</a:t>
            </a:r>
            <a:endParaRPr/>
          </a:p>
        </p:txBody>
      </p:sp>
      <p:graphicFrame>
        <p:nvGraphicFramePr>
          <p:cNvPr id="342" name="表格 341"/>
          <p:cNvGraphicFramePr/>
          <p:nvPr/>
        </p:nvGraphicFramePr>
        <p:xfrm>
          <a:off x="381000" y="828675"/>
          <a:ext cx="6953250" cy="3390900"/>
        </p:xfrm>
        <a:graphic>
          <a:graphicData uri="http://schemas.openxmlformats.org/drawingml/2006/table">
            <a:tbl>
              <a:tblPr/>
              <a:tblGrid>
                <a:gridCol w="166941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502075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905647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187611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694232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网页 AI（豆包类）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笔记软件（Notion 类）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认知副驾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741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有跨会话的持久状态？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对话完就忘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8860B"/>
                          </a:solidFill>
                          <a:latin typeface="Microsoft YaHei"/>
                          <a:ea typeface="Microsoft YaHei"/>
                        </a:rPr>
                        <a:t>△ 只存内容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知识＋观点＋行为轨迹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741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能改变外部世界？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输出即结束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靠手动整理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写库·改计划·触发扫描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741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会主动发起？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一问一答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等你打开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定时巡检·推送简报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741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输出能反向改进自己？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无状态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不理解内容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采纳诊断→计划改写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381000" y="4314825"/>
            <a:ext cx="6953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四个判定问题上，纯大模型与笔记软件几乎全是「否」——这是结构差别，不是能力强弱。</a:t>
            </a:r>
            <a:endParaRPr/>
          </a:p>
        </p:txBody>
      </p:sp>
      <p:sp>
        <p:nvSpPr>
          <p:cNvPr id="344" name="矩形: 圆角 343"/>
          <p:cNvSpPr/>
          <p:nvPr/>
        </p:nvSpPr>
        <p:spPr>
          <a:xfrm>
            <a:off x="7581900" y="866775"/>
            <a:ext cx="4229100" cy="1343025"/>
          </a:xfrm>
          <a:prstGeom prst="roundRect">
            <a:avLst>
              <a:gd name="adj" fmla="val 709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5" name="任意多边形: 形状 344"/>
          <p:cNvSpPr/>
          <p:nvPr/>
        </p:nvSpPr>
        <p:spPr>
          <a:xfrm>
            <a:off x="7581900" y="866775"/>
            <a:ext cx="4229100" cy="1343025"/>
          </a:xfrm>
          <a:custGeom>
            <a:avLst/>
            <a:gdLst/>
            <a:ahLst/>
            <a:cxnLst/>
            <a:rect l="0" t="0" r="0" b="0"/>
            <a:pathLst>
              <a:path w="444" h="141">
                <a:moveTo>
                  <a:pt x="434" y="0"/>
                </a:moveTo>
                <a:cubicBezTo>
                  <a:pt x="439" y="0"/>
                  <a:pt x="443" y="4"/>
                  <a:pt x="444" y="8"/>
                </a:cubicBezTo>
                <a:cubicBezTo>
                  <a:pt x="443" y="6"/>
                  <a:pt x="441" y="4"/>
                  <a:pt x="43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43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7791450" y="1038225"/>
            <a:ext cx="3810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选题创新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切「认知过程」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7791450" y="1362075"/>
            <a:ext cx="38100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不做内容存储的又一套轮子，管的是你的盲区、矛盾与病根——信息系统覆盖不到的那一半。</a:t>
            </a:r>
            <a:endParaRPr/>
          </a:p>
        </p:txBody>
      </p:sp>
      <p:sp>
        <p:nvSpPr>
          <p:cNvPr id="348" name="矩形: 圆角 347"/>
          <p:cNvSpPr/>
          <p:nvPr/>
        </p:nvSpPr>
        <p:spPr>
          <a:xfrm>
            <a:off x="7581900" y="2705100"/>
            <a:ext cx="4229100" cy="1343025"/>
          </a:xfrm>
          <a:prstGeom prst="roundRect">
            <a:avLst>
              <a:gd name="adj" fmla="val 709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9" name="任意多边形: 形状 348"/>
          <p:cNvSpPr/>
          <p:nvPr/>
        </p:nvSpPr>
        <p:spPr>
          <a:xfrm>
            <a:off x="7581900" y="2705100"/>
            <a:ext cx="4229100" cy="1343025"/>
          </a:xfrm>
          <a:custGeom>
            <a:avLst/>
            <a:gdLst/>
            <a:ahLst/>
            <a:cxnLst/>
            <a:rect l="0" t="0" r="0" b="0"/>
            <a:pathLst>
              <a:path w="444" h="141">
                <a:moveTo>
                  <a:pt x="434" y="0"/>
                </a:moveTo>
                <a:cubicBezTo>
                  <a:pt x="439" y="0"/>
                  <a:pt x="443" y="4"/>
                  <a:pt x="444" y="8"/>
                </a:cubicBezTo>
                <a:cubicBezTo>
                  <a:pt x="443" y="6"/>
                  <a:pt x="441" y="4"/>
                  <a:pt x="43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43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7791450" y="2876550"/>
            <a:ext cx="3810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方案创新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冲突检测与影子主张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7791450" y="3200400"/>
            <a:ext cx="38100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L2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识别同主题对立主张；书籍通读提取观点，与个人笔记跨来源对撞——已用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本真书验证。</a:t>
            </a:r>
            <a:endParaRPr/>
          </a:p>
        </p:txBody>
      </p:sp>
      <p:sp>
        <p:nvSpPr>
          <p:cNvPr id="352" name="矩形: 圆角 351"/>
          <p:cNvSpPr/>
          <p:nvPr/>
        </p:nvSpPr>
        <p:spPr>
          <a:xfrm>
            <a:off x="7581900" y="4533900"/>
            <a:ext cx="4229100" cy="1343025"/>
          </a:xfrm>
          <a:prstGeom prst="roundRect">
            <a:avLst>
              <a:gd name="adj" fmla="val 709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3" name="任意多边形: 形状 352"/>
          <p:cNvSpPr/>
          <p:nvPr/>
        </p:nvSpPr>
        <p:spPr>
          <a:xfrm>
            <a:off x="7581900" y="4533900"/>
            <a:ext cx="4229100" cy="1343025"/>
          </a:xfrm>
          <a:custGeom>
            <a:avLst/>
            <a:gdLst/>
            <a:ahLst/>
            <a:cxnLst/>
            <a:rect l="0" t="0" r="0" b="0"/>
            <a:pathLst>
              <a:path w="444" h="141">
                <a:moveTo>
                  <a:pt x="434" y="0"/>
                </a:moveTo>
                <a:cubicBezTo>
                  <a:pt x="439" y="0"/>
                  <a:pt x="443" y="4"/>
                  <a:pt x="444" y="8"/>
                </a:cubicBezTo>
                <a:cubicBezTo>
                  <a:pt x="443" y="6"/>
                  <a:pt x="441" y="4"/>
                  <a:pt x="43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43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7791450" y="4705350"/>
            <a:ext cx="3810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工程创新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先向量后模型</a:t>
            </a:r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7791450" y="5029200"/>
            <a:ext cx="38100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让便宜的向量先判断「值不值得让贵的模型看」，判定候选对从全量两两比较压到每次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≤20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对。</a:t>
            </a:r>
            <a:endParaRPr/>
          </a:p>
        </p:txBody>
      </p:sp>
      <p:sp>
        <p:nvSpPr>
          <p:cNvPr id="356" name="矩形: 圆角 355"/>
          <p:cNvSpPr/>
          <p:nvPr/>
        </p:nvSpPr>
        <p:spPr>
          <a:xfrm>
            <a:off x="381000" y="5972175"/>
            <a:ext cx="11430000" cy="495300"/>
          </a:xfrm>
          <a:prstGeom prst="roundRect">
            <a:avLst>
              <a:gd name="adj" fmla="val 15385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609600" y="6096000"/>
            <a:ext cx="10972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创新落在结构上，不落在名词上——这张对比表就是「和现有方案比，我好在哪里」的回答</a:t>
            </a:r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381000" y="656272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11353800" y="656272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: 1, flexDirection: 'row', gap: 28, padding: '22px 40px 0 40px' }}&gt;&#10;        &lt;Box style={{ width: 330, height: 592, background: '#0E3F8C', borderRadius: 10, padding: '36px 30px', justifyContent: 'space-between' }}&gt;&#10;            &lt;Box&gt;&#10;                &lt;Text style={{ fontSize: 18, color: '#9FBCE8', letterSpacing: 3 }}&gt;维度三&lt;/Text&gt;&#10;                &lt;Text style={{ fontSize: 40, fontWeight: 'bold', color: '#FFFFFF', marginTop: 12 }}&gt;技术先进性&lt;/Text&gt;&#10;                &lt;Box style={{ flexDirection: 'row', alignItems: 'flex-end', gap: 8, marginTop: 18 }}&gt;&#10;                    &lt;Text style={{ fontSize: 64, fontWeight: 'bold', color: '#FFC107', lineHeight: 1 }}&gt;20&lt;/Text&gt;&#10;                    &lt;Text style={{ fontSize: 22, color: '#BBD0F0', paddingBottom: 6 }}&gt;分&lt;/Text&gt;&#10;                &lt;/Box&gt;&#10;            &lt;/Box&gt;&#10;            &lt;Box style={{ flexDirection: 'column', gap: 10 }}&gt;&#10;                &lt;Text style={{ fontSize: 19, color: '#E8EFF8', lineHeight: 1.6 }}&gt;对照评分细则三个子项：&lt;/Text&gt;&#10;                &lt;Text style={{ fontSize: 19, color: '#FFC107', lineHeight: 1.6 }}&gt;技术选型 · 6 分&lt;/Text&gt;&#10;                &lt;Text style={{ fontSize: 19, color: '#FFC107', lineHeight: 1.6 }}&gt;AI 应用深度 · 8 分&lt;/Text&gt;&#10;                &lt;Text style={{ fontSize: 19, color: '#FFC107', lineHeight: 1.6 }}&gt;技术难度 · 6 分&lt;/Text&gt;&#10;            &lt;/Box&gt;&#10;            &lt;Text style={{ fontSize: 18, color: '#BBD0F0', lineHeight: 1.6 }}&gt;每个名词都落到「我怎么做、为什么这样做」。&lt;/Text&gt;&#10;        &lt;/Box&gt;&#10;        &lt;Box style={{ flex: 1, flexDirection: 'column', justifyContent: 'space-between' }}&gt;&#10;            &lt;Box style={{ background: '#F7F9FC', borderRadius: 10, border: '1px solid #D6DCE5', padding: '16px 16px 8px 16px', alignItems: 'center' }}&gt;&#10;                &lt;Text style={{ fontSize: 20, fontWeight: 'bold', color: '#0E3F8C' }}&gt;RAG 与生成全链路（全部环节均已落地）&lt;/Text&gt;&#10;                &lt;svg width={812} height={148} viewBox='0 0 812 148'&gt;&#10;                    &lt;rect x='8' y='42' width='116' height='56' rx='8' fill='#E8EFF8' stroke='#3D7BD9' strokeWidth='1' /&gt;&#10;                    &lt;text x='66' y='66' fontSize='16' fill='#0E3F8C' textAnchor='middle' fontWeight='bold'&gt;知识录入&lt;/text&gt;&#10;                    &lt;text x='66' y='86' fontSize='13' fill='#4A5568' textAnchor='middle'&gt;条目即分块&lt;/text&gt;&#10;                    &lt;polygon points='128,64 142,70 128,76' fill='#3D7BD9' /&gt;&#10;                    &lt;rect x='146' y='42' width='116' height='56' rx='8' fill='#E8EFF8' stroke='#3D7BD9' strokeWidth='1' /&gt;&#10;                    &lt;text x='204' y='66' fontSize='16' fill='#0E3F8C' textAnchor='middle' fontWeight='bold'&gt;向量化&lt;/text&gt;&#10;                    &lt;text x='204' y='86' fontSize='13' fill='#4A5568' textAnchor='middle'&gt;BGE 本地离线&lt;/text&gt;&#10;                    &lt;polygon points='266,64 280,70 266,76' fill='#3D7BD9' /&gt;&#10;                    &lt;rect x='284' y='42' width='116' height='56' rx='8' fill='#E8EFF8' stroke='#3D7BD9' strokeWidth='1' /&gt;&#10;                    &lt;text x='342' y='66' fontSize='16' fill='#0E3F8C' textAnchor='middle' fontWeight='bold'&gt;混合召回&lt;/text&gt;&#10;                    &lt;text x='342' y='86' fontSize='13' fill='#4A5568' textAnchor='middle'&gt;向量＋关键词&lt;/text&gt;&#10;                    &lt;polygon points='404,64 418,70 404,76' fill='#3D7BD9' /&gt;&#10;                    &lt;rect x='422' y='42' width='116' height='56' rx='8' fill='#E8EFF8' stroke='#3D7BD9' strokeWidth='1' /&gt;&#10;                    &lt;text x='480' y='66' fontSize='16' fill='#0E3F8C' textAnchor='middle' fontWeight='bold'&gt;RRF 融合&lt;/text&gt;&#10;                    &lt;text x='480' y='86' fontSize='13' fill='#4A5568' textAnchor='middle'&gt;按排名免调参&lt;/text&gt;&#10;                    &lt;polygon points='542,64 556,70 542,76' fill='#3D7BD9' /&gt;&#10;                    &lt;rect x='560' y='42' width='116' height='56' rx='8' fill='#FFC107' opacity='0.9' /&gt;&#10;                    &lt;text x='618' y='66' fontSize='16' fill='#1A2230' textAnchor='middle' fontWeight='bold'&gt;评估护栏&lt;/text&gt;&#10;                    &lt;text x='618' y='86' fontSize='13' fill='#1A2230' textAnchor='middle'&gt;recall≥0.95&lt;/text&gt;&#10;                    &lt;polygon points='680,64 694,70 680,76' fill='#3D7BD9' /&gt;&#10;                    &lt;rect x='698' y='42' width='108' height='56' rx='8' fill='#0E3F8C' /&gt;&#10;                    &lt;text x='752' y='66' fontSize='16' fill='#FFFFFF' textAnchor='middle' fontWeight='bold'&gt;受约束生成&lt;/text&gt;&#10;                    &lt;text x='752' y='86' fontSize='13' fill='#BBD0F0' textAnchor='middle'&gt;Schema 6/6&lt;/text&gt;&#10;                    &lt;text x='8' y='128' fontSize='15' fill='#8B97A8'&gt;检索失败自动降级关键词通道，不丢条目、不阻断主链路；嵌入模型记录版本，可增量重建&lt;/text&gt;&#10;                &lt;/svg&gt;&#10;            &lt;/Box&gt;&#10;            &lt;Box style={{ flexDirection: 'row', alignItems: 'center', gap: 16, padding: '16px 22px', background: '#F7F9FC', borderRadius: 10, border: '1px solid #D6DCE5', borderLeft: '5px solid #1E4FA8' }}&gt;&#10;                &lt;FAIcon name='database' style={{ fill: '#1E4FA8', width: 28, height: 28 }} /&gt;&#10;                &lt;Text style={{ flex: 1, fontSize: 19, color: '#1A2230', lineHeight: 1.55 }}&gt;&#10;                    &lt;span style={{ fontWeight: 'bold' }}&gt;RAG 向量库：&lt;/span&gt;本地 BGE 中文向量模型（bge-small-zh-v1.5 · 512 维 · ONNX 离线部署）＋ PostgreSQL pgvector 库内余弦检索；向量＋关键词双通道召回、RRF 免调参融合，评估护栏 recall@5 ≥ 0.95&#10;                &lt;/Text&gt;&#10;            &lt;/Box&gt;&#10;            &lt;Box style={{ flexDirection: 'row', alignItems: 'center', gap: 16, padding: '16px 22px', background: '#F7F9FC', borderRadius: 10, border: '1px solid #D6DCE5', borderLeft: '5px solid #1E4FA8' }}&gt;&#10;                &lt;FAIcon name='cog' style={{ fill: '#1E4FA8', width: 28, height: 28 }} /&gt;&#10;                &lt;Text style={{ flex: 1, fontSize: 19, color: '#1A2230', lineHeight: 1.55 }}&gt;&#10;                    &lt;span style={{ fontWeight: 'bold' }}&gt;AI 应用深度：&lt;/span&gt;意图路由规则与模型分流；结构化输出交给服务端 Schema 约束（对比实验 6/6 全过，自由文本解析 3 次挂 1）；思考模式按任务开关控成本&#10;                &lt;/Text&gt;&#10;            &lt;/Box&gt;&#10;            &lt;Box style={{ flexDirection: 'row', alignItems: 'center', gap: 16, padding: '16px 22px', background: '#F7F9FC', borderRadius: 10, border: '1px solid #D6DCE5', borderLeft: '5px solid #1E4FA8' }}&gt;&#10;                &lt;FAIcon name='chart-line' style={{ fill: '#1E4FA8', width: 28, height: 28 }} /&gt;&#10;                &lt;Text style={{ flex: 1, fontSize: 19, color: '#1A2230', lineHeight: 1.55 }}&gt;&#10;                    &lt;span style={{ fontWeight: 'bold' }}&gt;技术难度：&lt;/span&gt;向量先筛把 L2 的 O(n²) 候选对压到 ≤20 对；L2 判定真实评测 relation 准确率 &lt;span style={{ fontWeight: 'bold', color: '#0E3F8C' }}&gt;0.83&lt;/span&gt;、矛盾 P/R/F1 全 &lt;span style={{ fontWeight: 'bold', color: '#0E3F8C' }}&gt;1.0&lt;/span&gt;，并有回归承诺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矩形: 圆角 19"/>
          <p:cNvSpPr/>
          <p:nvPr/>
        </p:nvSpPr>
        <p:spPr>
          <a:xfrm>
            <a:off x="300038" y="250306"/>
            <a:ext cx="3143250" cy="5638800"/>
          </a:xfrm>
          <a:prstGeom prst="roundRect">
            <a:avLst>
              <a:gd name="adj" fmla="val 303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666750" y="628650"/>
            <a:ext cx="2571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BCE8"/>
                </a:solidFill>
                <a:latin typeface="Microsoft YaHei"/>
                <a:ea typeface="Microsoft YaHei"/>
              </a:rPr>
              <a:t>维度三</a:t>
            </a:r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666750" y="952500"/>
            <a:ext cx="25717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技术先进性</a:t>
            </a:r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66750" y="1581150"/>
            <a:ext cx="7524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495425" y="2000250"/>
            <a:ext cx="209550" cy="314325"/>
          </a:xfrm>
          <a:prstGeom prst="rect">
            <a:avLst/>
          </a:prstGeom>
        </p:spPr>
        <p:txBody>
          <a:bodyPr wrap="none" lIns="0" tIns="0" rIns="0" bIns="42863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66750" y="2771775"/>
            <a:ext cx="25717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endParaRPr dirty="0"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66750" y="3219450"/>
            <a:ext cx="25717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endParaRPr dirty="0"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66750" y="3667125"/>
            <a:ext cx="25717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endParaRPr dirty="0"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666750" y="4114800"/>
            <a:ext cx="25717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endParaRPr dirty="0"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666750" y="4914900"/>
            <a:ext cx="25717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 dirty="0">
                <a:solidFill>
                  <a:srgbClr val="BBD0F0"/>
                </a:solidFill>
                <a:latin typeface="Microsoft YaHei"/>
                <a:ea typeface="Microsoft YaHei"/>
              </a:rPr>
              <a:t>每个名词都落到「我怎么做、为什么这样做」。</a:t>
            </a:r>
            <a:endParaRPr dirty="0"/>
          </a:p>
        </p:txBody>
      </p:sp>
      <p:sp>
        <p:nvSpPr>
          <p:cNvPr id="30" name="矩形: 圆角 29"/>
          <p:cNvSpPr/>
          <p:nvPr/>
        </p:nvSpPr>
        <p:spPr>
          <a:xfrm>
            <a:off x="3790950" y="285750"/>
            <a:ext cx="8020050" cy="1866900"/>
          </a:xfrm>
          <a:prstGeom prst="roundRect">
            <a:avLst>
              <a:gd name="adj" fmla="val 510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038850" y="438150"/>
            <a:ext cx="35337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RAG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与生成全链路（全部环节均已落地）</a:t>
            </a:r>
            <a:endParaRPr/>
          </a:p>
        </p:txBody>
      </p:sp>
      <p:pic>
        <p:nvPicPr>
          <p:cNvPr id="32" name="图形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3825" y="666750"/>
            <a:ext cx="7734300" cy="1409700"/>
          </a:xfrm>
          <a:prstGeom prst="rect">
            <a:avLst/>
          </a:prstGeom>
          <a:ln/>
        </p:spPr>
      </p:pic>
      <p:sp>
        <p:nvSpPr>
          <p:cNvPr id="33" name="矩形: 圆角 32"/>
          <p:cNvSpPr/>
          <p:nvPr/>
        </p:nvSpPr>
        <p:spPr>
          <a:xfrm>
            <a:off x="3838575" y="2486025"/>
            <a:ext cx="8020050" cy="1323975"/>
          </a:xfrm>
          <a:prstGeom prst="roundRect">
            <a:avLst>
              <a:gd name="adj" fmla="val 7194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任意多边形: 形状 33"/>
          <p:cNvSpPr/>
          <p:nvPr/>
        </p:nvSpPr>
        <p:spPr>
          <a:xfrm>
            <a:off x="3838575" y="2486025"/>
            <a:ext cx="8020050" cy="1323975"/>
          </a:xfrm>
          <a:custGeom>
            <a:avLst/>
            <a:gdLst/>
            <a:ahLst/>
            <a:cxnLst/>
            <a:rect l="0" t="0" r="0" b="0"/>
            <a:pathLst>
              <a:path w="842" h="13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4"/>
                </a:lnTo>
                <a:cubicBezTo>
                  <a:pt x="5" y="136"/>
                  <a:pt x="7" y="138"/>
                  <a:pt x="9" y="139"/>
                </a:cubicBezTo>
                <a:cubicBezTo>
                  <a:pt x="4" y="138"/>
                  <a:pt x="0" y="134"/>
                  <a:pt x="0" y="12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图形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8125" y="3019425"/>
            <a:ext cx="266700" cy="266700"/>
          </a:xfrm>
          <a:prstGeom prst="rect">
            <a:avLst/>
          </a:prstGeom>
          <a:ln/>
        </p:spPr>
      </p:pic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467225" y="2638425"/>
            <a:ext cx="7134225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RAG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向量库：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本地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BGE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中文向量模型（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bge-small-zh-v1.5 · 512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维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· ONNX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离线部署）＋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PostgreSQL pgvector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库内余弦检索；向量＋关键词双通道召回、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RRF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免调参融合，评估护栏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recall@5 ≥ 0.95</a:t>
            </a:r>
            <a:endParaRPr/>
          </a:p>
        </p:txBody>
      </p:sp>
      <p:sp>
        <p:nvSpPr>
          <p:cNvPr id="37" name="矩形: 圆角 36"/>
          <p:cNvSpPr/>
          <p:nvPr/>
        </p:nvSpPr>
        <p:spPr>
          <a:xfrm>
            <a:off x="3838575" y="4133850"/>
            <a:ext cx="8020050" cy="981075"/>
          </a:xfrm>
          <a:prstGeom prst="roundRect">
            <a:avLst>
              <a:gd name="adj" fmla="val 97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任意多边形: 形状 37"/>
          <p:cNvSpPr/>
          <p:nvPr/>
        </p:nvSpPr>
        <p:spPr>
          <a:xfrm>
            <a:off x="3838575" y="4133850"/>
            <a:ext cx="8020050" cy="981075"/>
          </a:xfrm>
          <a:custGeom>
            <a:avLst/>
            <a:gdLst/>
            <a:ahLst/>
            <a:cxnLst/>
            <a:rect l="0" t="0" r="0" b="0"/>
            <a:pathLst>
              <a:path w="842" h="10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8"/>
                </a:lnTo>
                <a:cubicBezTo>
                  <a:pt x="5" y="100"/>
                  <a:pt x="7" y="102"/>
                  <a:pt x="9" y="103"/>
                </a:cubicBezTo>
                <a:cubicBezTo>
                  <a:pt x="4" y="102"/>
                  <a:pt x="0" y="98"/>
                  <a:pt x="0" y="9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图形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8125" y="4495800"/>
            <a:ext cx="266700" cy="266700"/>
          </a:xfrm>
          <a:prstGeom prst="rect">
            <a:avLst/>
          </a:prstGeom>
          <a:ln/>
        </p:spPr>
      </p:pic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467225" y="4286250"/>
            <a:ext cx="7134225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应用深度：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意图路由规则与模型分流；结构化输出交给服务端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Schema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约束（对比实验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6/6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全过，自由文本解析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3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次挂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1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）；思考模式按任务开关控成本</a:t>
            </a:r>
            <a:endParaRPr/>
          </a:p>
        </p:txBody>
      </p:sp>
      <p:sp>
        <p:nvSpPr>
          <p:cNvPr id="41" name="矩形: 圆角 40"/>
          <p:cNvSpPr/>
          <p:nvPr/>
        </p:nvSpPr>
        <p:spPr>
          <a:xfrm>
            <a:off x="3838575" y="5448300"/>
            <a:ext cx="8020050" cy="981075"/>
          </a:xfrm>
          <a:prstGeom prst="roundRect">
            <a:avLst>
              <a:gd name="adj" fmla="val 97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任意多边形: 形状 41"/>
          <p:cNvSpPr/>
          <p:nvPr/>
        </p:nvSpPr>
        <p:spPr>
          <a:xfrm>
            <a:off x="3838575" y="5448300"/>
            <a:ext cx="8020050" cy="981075"/>
          </a:xfrm>
          <a:custGeom>
            <a:avLst/>
            <a:gdLst/>
            <a:ahLst/>
            <a:cxnLst/>
            <a:rect l="0" t="0" r="0" b="0"/>
            <a:pathLst>
              <a:path w="842" h="10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8"/>
                </a:lnTo>
                <a:cubicBezTo>
                  <a:pt x="5" y="100"/>
                  <a:pt x="7" y="102"/>
                  <a:pt x="9" y="103"/>
                </a:cubicBezTo>
                <a:cubicBezTo>
                  <a:pt x="4" y="102"/>
                  <a:pt x="0" y="98"/>
                  <a:pt x="0" y="9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3" name="图形 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8125" y="5810250"/>
            <a:ext cx="266700" cy="266700"/>
          </a:xfrm>
          <a:prstGeom prst="rect">
            <a:avLst/>
          </a:prstGeom>
          <a:ln/>
        </p:spPr>
      </p:pic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467225" y="5600700"/>
            <a:ext cx="7134225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技术难度：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向量先筛把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L2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O(n²)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候选对压到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≤20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对；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L2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判定真实评测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relation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准确率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0.83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、矛盾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P/R/F1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全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1.0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，并有回归承诺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381000" y="654367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113538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20px 40px 12px 40px' }}&gt;&#10;        &lt;Text style={{ fontSize: 34, fontWeight: 'bold', color: '#0E3F8C' }}&gt;维度四 · 功能完善性（20 分）&lt;/Text&gt;&#10;        &lt;Text style={{ fontSize: 17, color: '#8B97A8' }}&gt;按评分细则四个子项逐一对齐&lt;/Text&gt;&#10;    &lt;/Box&gt;&#10;    &lt;Box style={{ flex: 1, flexDirection: 'row', gap: 20, padding: '6px 40px 0 40px' }}&gt;&#10;        &lt;Box style={{ flex: 1, background: '#F7F9FC', borderRadius: 10, border: '1px solid #D6DCE5', borderTop: '5px solid #1E4FA8', padding: '22px 22px', justifyContent: 'space-between' }}&gt;&#10;            &lt;Box&gt;&#10;                &lt;Box style={{ flexDirection: 'row', justifyContent: 'space-between', alignItems: 'center' }}&gt;&#10;                    &lt;Text style={{ fontSize: 24, fontWeight: 'bold', color: '#1A2230' }}&gt;功能完成度&lt;/Text&gt;&#10;                    &lt;Box style={{ padding: '4px 12px', background: '#E8EFF8', borderRadius: 14 }}&gt;&#10;                        &lt;Text style={{ fontSize: 16, fontWeight: 'bold', color: '#0E3F8C' }}&gt;8 分&lt;/Text&gt;&#10;                    &lt;/Box&gt;&#10;                &lt;/Box&gt;&#10;                &lt;Text style={{ fontSize: 18, color: '#4A5568', marginTop: 14, lineHeight: 1.6 }}&gt;&#10;                    策划承诺的核心功能全部实现、可现场演示。&lt;span style={{ fontWeight: 'bold', color: '#0E3F8C' }}&gt;10 项能力全部接入对话入口&lt;/span&gt;，一句话即可调用。&#10;                &lt;/Text&gt;&#10;            &lt;/Box&gt;&#10;            &lt;Text style={{ fontSize: 15, color: '#8B97A8', lineHeight: 1.5 }}&gt;挖掘 / 冲突 / 简报 / 计划 / 诊断 / 录入 / 同步 / 书架&lt;/Text&gt;&#10;        &lt;/Box&gt;&#10;        &lt;Box style={{ flex: 1, background: '#F7F9FC', borderRadius: 10, border: '1px solid #D6DCE5', borderTop: '5px solid #1E4FA8', padding: '22px 22px', justifyContent: 'space-between' }}&gt;&#10;            &lt;Box&gt;&#10;                &lt;Box style={{ flexDirection: 'row', justifyContent: 'space-between', alignItems: 'center' }}&gt;&#10;                    &lt;Text style={{ fontSize: 24, fontWeight: 'bold', color: '#1A2230' }}&gt;稳定与容错&lt;/Text&gt;&#10;                    &lt;Box style={{ padding: '4px 12px', background: '#E8EFF8', borderRadius: 14 }}&gt;&#10;                        &lt;Text style={{ fontSize: 16, fontWeight: 'bold', color: '#0E3F8C' }}&gt;5 分&lt;/Text&gt;&#10;                    &lt;/Box&gt;&#10;                &lt;/Box&gt;&#10;                &lt;Text style={{ fontSize: 18, color: '#4A5568', marginTop: 14, lineHeight: 1.6 }}&gt;&#10;                    检索失败自动降级关键词通道；向量模型不可用自动切换哈希兜底；会话过期&lt;span style={{ fontWeight: 'bold', color: '#0E3F8C' }}&gt;静默续期&lt;/span&gt;；异常输入有兜底提示，不裸抛错误。&#10;                &lt;/Text&gt;&#10;            &lt;/Box&gt;&#10;            &lt;Text style={{ fontSize: 15, color: '#8B97A8', lineHeight: 1.5 }}&gt;降级有边界：模拟结果绝不冒充真实结果&lt;/Text&gt;&#10;        &lt;/Box&gt;&#10;        &lt;Box style={{ flex: 1, background: '#F7F9FC', borderRadius: 10, border: '1px solid #D6DCE5', borderTop: '5px solid #1E4FA8', padding: '22px 22px', justifyContent: 'space-between' }}&gt;&#10;            &lt;Box&gt;&#10;                &lt;Box style={{ flexDirection: 'row', justifyContent: 'space-between', alignItems: 'center' }}&gt;&#10;                    &lt;Text style={{ fontSize: 24, fontWeight: 'bold', color: '#1A2230' }}&gt;界面体验&lt;/Text&gt;&#10;                    &lt;Box style={{ padding: '4px 12px', background: '#E8EFF8', borderRadius: 14 }}&gt;&#10;                        &lt;Text style={{ fontSize: 16, fontWeight: 'bold', color: '#0E3F8C' }}&gt;4 分&lt;/Text&gt;&#10;                    &lt;/Box&gt;&#10;                &lt;/Box&gt;&#10;                &lt;Text style={{ fontSize: 18, color: '#4A5568', marginTop: 14, lineHeight: 1.6 }}&gt;&#10;                    登录即落地&lt;span style={{ fontWeight: 'bold', color: '#0E3F8C' }}&gt;对话工作台&lt;/span&gt;，耗时能力先回「进行中」卡、完成后就地改写；9 个功能页全保留，信息直给、无冗余装饰。&#10;                &lt;/Text&gt;&#10;            &lt;/Box&gt;&#10;            &lt;Text style={{ fontSize: 15, color: '#8B97A8', lineHeight: 1.5 }}&gt;结果以卡片回写会话，打开即见最终状态&lt;/Text&gt;&#10;        &lt;/Box&gt;&#10;        &lt;Box style={{ flex: 1, background: '#F7F9FC', borderRadius: 10, border: '1px solid #D6DCE5', borderTop: '5px solid #1E4FA8', padding: '22px 22px', justifyContent: 'space-between' }}&gt;&#10;            &lt;Box&gt;&#10;                &lt;Box style={{ flexDirection: 'row', justifyContent: 'space-between', alignItems: 'center' }}&gt;&#10;                    &lt;Text style={{ fontSize: 24, fontWeight: 'bold', color: '#1A2230' }}&gt;代码质量&lt;/Text&gt;&#10;                    &lt;Box style={{ padding: '4px 12px', background: '#E8EFF8', borderRadius: 14 }}&gt;&#10;                        &lt;Text style={{ fontSize: 16, fontWeight: 'bold', color: '#0E3F8C' }}&gt;3 分&lt;/Text&gt;&#10;                    &lt;/Box&gt;&#10;                &lt;/Box&gt;&#10;                &lt;Text style={{ fontSize: 18, color: '#4A5568', marginTop: 14, lineHeight: 1.6 }}&gt;&#10;                    分层清晰（网关 / 领域 / 能力 / 前端），仓储层结构性强制账号隔离；&lt;span style={{ fontWeight: 'bold', color: '#0E3F8C' }}&gt;647 项测试全绿&lt;/span&gt;、提交粒度真实、20 条复盘沉淀。&#10;                &lt;/Text&gt;&#10;            &lt;/Box&gt;&#10;            &lt;Text style={{ fontSize: 15, color: '#8B97A8', lineHeight: 1.5 }}&gt;测试全程模拟调用，不联网、秒级可回归&lt;/Text&gt;&#10;        &lt;/Box&gt;&#10;    &lt;/Box&gt;&#10;    &lt;Box style={{ margin: '16px 40px 0 40px', padding: '14px 24px', background: '#0E3F8C', borderRadius: 8 }}&gt;&#10;        &lt;Text style={{ fontSize: 20, color: '#FFFFFF', textAlign: 'center' }}&gt;&#10;            稳定性的底气来自工程习惯：每一次降级都设计过边界，每一个静默失败都被写进复盘并加了测试断言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1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矩形 4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381000" y="266700"/>
            <a:ext cx="44005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维度四</a:t>
            </a:r>
            <a:r>
              <a:rPr lang="en-US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功能完善性</a:t>
            </a:r>
            <a:endParaRPr dirty="0"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9705975" y="457200"/>
            <a:ext cx="21050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按评分细则四个子项逐一对齐</a:t>
            </a:r>
            <a:endParaRPr/>
          </a:p>
        </p:txBody>
      </p:sp>
      <p:sp>
        <p:nvSpPr>
          <p:cNvPr id="52" name="矩形: 圆角 51"/>
          <p:cNvSpPr/>
          <p:nvPr/>
        </p:nvSpPr>
        <p:spPr>
          <a:xfrm>
            <a:off x="381000" y="876300"/>
            <a:ext cx="2714625" cy="499110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任意多边形: 形状 52"/>
          <p:cNvSpPr/>
          <p:nvPr/>
        </p:nvSpPr>
        <p:spPr>
          <a:xfrm>
            <a:off x="381000" y="876300"/>
            <a:ext cx="2714625" cy="4991100"/>
          </a:xfrm>
          <a:custGeom>
            <a:avLst/>
            <a:gdLst/>
            <a:ahLst/>
            <a:cxnLst/>
            <a:rect l="0" t="0" r="0" b="0"/>
            <a:pathLst>
              <a:path w="285" h="524">
                <a:moveTo>
                  <a:pt x="275" y="0"/>
                </a:moveTo>
                <a:cubicBezTo>
                  <a:pt x="280" y="0"/>
                  <a:pt x="284" y="4"/>
                  <a:pt x="285" y="9"/>
                </a:cubicBezTo>
                <a:cubicBezTo>
                  <a:pt x="284" y="6"/>
                  <a:pt x="282" y="5"/>
                  <a:pt x="280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590550" y="1085850"/>
            <a:ext cx="1143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功能完成度</a:t>
            </a:r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2476500" y="1133475"/>
            <a:ext cx="2952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90550" y="1495425"/>
            <a:ext cx="2295525" cy="1323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策划承诺的核心功能全部实现、可现场演示。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10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项能力全部接入对话入口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，一句话即可调用。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90550" y="5095875"/>
            <a:ext cx="2295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挖掘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冲突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简报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诊断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录入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同步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书架</a:t>
            </a:r>
            <a:endParaRPr/>
          </a:p>
        </p:txBody>
      </p:sp>
      <p:sp>
        <p:nvSpPr>
          <p:cNvPr id="59" name="矩形: 圆角 58"/>
          <p:cNvSpPr/>
          <p:nvPr/>
        </p:nvSpPr>
        <p:spPr>
          <a:xfrm>
            <a:off x="3286125" y="876300"/>
            <a:ext cx="2714625" cy="499110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任意多边形: 形状 59"/>
          <p:cNvSpPr/>
          <p:nvPr/>
        </p:nvSpPr>
        <p:spPr>
          <a:xfrm>
            <a:off x="3286125" y="876300"/>
            <a:ext cx="2714625" cy="4991100"/>
          </a:xfrm>
          <a:custGeom>
            <a:avLst/>
            <a:gdLst/>
            <a:ahLst/>
            <a:cxnLst/>
            <a:rect l="0" t="0" r="0" b="0"/>
            <a:pathLst>
              <a:path w="285" h="524">
                <a:moveTo>
                  <a:pt x="275" y="0"/>
                </a:moveTo>
                <a:cubicBezTo>
                  <a:pt x="280" y="0"/>
                  <a:pt x="284" y="4"/>
                  <a:pt x="285" y="9"/>
                </a:cubicBezTo>
                <a:cubicBezTo>
                  <a:pt x="284" y="6"/>
                  <a:pt x="282" y="5"/>
                  <a:pt x="280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3495675" y="1085850"/>
            <a:ext cx="1143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稳定与容错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381625" y="1133475"/>
            <a:ext cx="2952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3495675" y="1495425"/>
            <a:ext cx="2295525" cy="1647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检索失败自动降级关键词通道；向量模型不可用自动切换哈希兜底；会话过期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静默续期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；异常输入有兜底提示，不裸抛错误。</a:t>
            </a:r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3495675" y="5095875"/>
            <a:ext cx="2295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降级有边界：模拟结果绝不冒充真实结果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6191250" y="876300"/>
            <a:ext cx="2714625" cy="499110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任意多边形: 形状 66"/>
          <p:cNvSpPr/>
          <p:nvPr/>
        </p:nvSpPr>
        <p:spPr>
          <a:xfrm>
            <a:off x="6191250" y="876300"/>
            <a:ext cx="2714625" cy="4991100"/>
          </a:xfrm>
          <a:custGeom>
            <a:avLst/>
            <a:gdLst/>
            <a:ahLst/>
            <a:cxnLst/>
            <a:rect l="0" t="0" r="0" b="0"/>
            <a:pathLst>
              <a:path w="285" h="524">
                <a:moveTo>
                  <a:pt x="275" y="0"/>
                </a:moveTo>
                <a:cubicBezTo>
                  <a:pt x="280" y="0"/>
                  <a:pt x="284" y="4"/>
                  <a:pt x="285" y="9"/>
                </a:cubicBezTo>
                <a:cubicBezTo>
                  <a:pt x="284" y="6"/>
                  <a:pt x="282" y="5"/>
                  <a:pt x="280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6400800" y="1085850"/>
            <a:ext cx="914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界面体验</a:t>
            </a:r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286750" y="1133475"/>
            <a:ext cx="2952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400800" y="1495425"/>
            <a:ext cx="2295525" cy="1323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登录即落地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对话工作台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，耗时能力先回「进行中」卡、完成后就地改写；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个功能页全保留，信息直给、无冗余装饰。</a:t>
            </a:r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400800" y="5095875"/>
            <a:ext cx="2295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结果以卡片回写会话，打开即见最终状态</a:t>
            </a:r>
            <a:endParaRPr/>
          </a:p>
        </p:txBody>
      </p:sp>
      <p:sp>
        <p:nvSpPr>
          <p:cNvPr id="73" name="矩形: 圆角 72"/>
          <p:cNvSpPr/>
          <p:nvPr/>
        </p:nvSpPr>
        <p:spPr>
          <a:xfrm>
            <a:off x="9096375" y="876300"/>
            <a:ext cx="2714625" cy="499110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任意多边形: 形状 73"/>
          <p:cNvSpPr/>
          <p:nvPr/>
        </p:nvSpPr>
        <p:spPr>
          <a:xfrm>
            <a:off x="9096375" y="876300"/>
            <a:ext cx="2714625" cy="4991100"/>
          </a:xfrm>
          <a:custGeom>
            <a:avLst/>
            <a:gdLst/>
            <a:ahLst/>
            <a:cxnLst/>
            <a:rect l="0" t="0" r="0" b="0"/>
            <a:pathLst>
              <a:path w="285" h="524">
                <a:moveTo>
                  <a:pt x="275" y="0"/>
                </a:moveTo>
                <a:cubicBezTo>
                  <a:pt x="280" y="0"/>
                  <a:pt x="284" y="4"/>
                  <a:pt x="285" y="9"/>
                </a:cubicBezTo>
                <a:cubicBezTo>
                  <a:pt x="284" y="6"/>
                  <a:pt x="282" y="5"/>
                  <a:pt x="280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9305925" y="1085850"/>
            <a:ext cx="914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代码质量</a:t>
            </a:r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1191875" y="1133475"/>
            <a:ext cx="2952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9305925" y="1495425"/>
            <a:ext cx="2295525" cy="1647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分层清晰（网关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领域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能力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前端），仓储层结构性强制账号隔离；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647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项测试全绿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、提交粒度真实、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20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条复盘沉淀。</a:t>
            </a:r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9305925" y="5095875"/>
            <a:ext cx="2295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测试全程模拟调用，不联网、秒级可回归</a:t>
            </a:r>
            <a:endParaRPr/>
          </a:p>
        </p:txBody>
      </p:sp>
      <p:sp>
        <p:nvSpPr>
          <p:cNvPr id="80" name="矩形: 圆角 79"/>
          <p:cNvSpPr/>
          <p:nvPr/>
        </p:nvSpPr>
        <p:spPr>
          <a:xfrm>
            <a:off x="381000" y="5972175"/>
            <a:ext cx="11430000" cy="495300"/>
          </a:xfrm>
          <a:prstGeom prst="roundRect">
            <a:avLst>
              <a:gd name="adj" fmla="val 15385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609600" y="6105525"/>
            <a:ext cx="10972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稳定性的底气来自工程习惯：每一次降级都设计过边界，每一个静默失败都被写进复盘并加了测试断言</a:t>
            </a:r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381000" y="656272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11353800" y="656272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20px 40px 12px 40px' }}&gt;&#10;        &lt;Text style={{ fontSize: 34, fontWeight: 'bold', color: '#0E3F8C' }}&gt;维度五 · 开发工作量（10 分）&lt;/Text&gt;&#10;        &lt;Text style={{ fontSize: 17, color: '#8B97A8' }}&gt;规模 · 过程 · 迭代深度&lt;/Text&gt;&#10;    &lt;/Box&gt;&#10;    &lt;Box style={{ flex: 1, padding: '4px 40px 0 40px', flexDirection: 'column', justifyContent: 'space-between' }}&gt;&#10;        &lt;Table&#10;            style={{ width: 1200, height: 252 }}&#10;            defaultTextStyle={{ fontSize: 17, textAlign: 'center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    background: { color: '#FFFFFF' },&#10;            }}&#10;            cells={[&#10;                [&#10;                    { text: '阶段', textStyle: { bold: true, color: '#FFFFFF', fontSize: 17 }, cellStyle: { background: { color: '#0E3F8C' } } },&#10;                    { text: '时间', textStyle: { bold: true, color: '#FFFFFF', fontSize: 17 }, cellStyle: { background: { color: '#0E3F8C' } } },&#10;                    { text: '测试规模', textStyle: { bold: true, color: '#FFFFFF', fontSize: 17 }, cellStyle: { background: { color: '#0E3F8C' } } },&#10;                    { text: '关键进展', textStyle: { bold: true, color: '#FFFFFF', fontSize: 17 }, cellStyle: { background: { color: '#0E3F8C' } } },&#10;                ],&#10;                [&#10;                    { text: '骨架验证 → 能力闭环', textStyle: { bold: true, fontSize: 16 } },&#10;                    { text: '09-06 → 09-21', textStyle: { fontSize: 16 } },&#10;                    { text: '7 → 299 项', textStyle: { bold: true, color: '#1E4FA8', fontSize: 16 } },&#10;                    { text: '五层能力全部闭环；阅读器（txt/epub/pdf）＋微信读书同步；认证、任务框架、推送调度', textStyle: { textAlign: 'left', fontSize: 15 } },&#10;                ],&#10;                [&#10;                    { text: '对话收口 → 双层重做', textStyle: { bold: true, fontSize: 16 }, cellStyle: { background: { color: '#F7F9FC' } } },&#10;                    { text: '09-21 → 09-23', textStyle: { fontSize: 16 }, cellStyle: { background: { color: '#F7F9FC' } } },&#10;                    { text: '299 → 522 项', textStyle: { bold: true, color: '#1E4FA8', fontSize: 16 }, cellStyle: { background: { color: '#F7F9FC' } } },&#10;                    { text: '10 项能力全部接入对话；检索层库内重构＋pgvector 向量库＋评估护栏', textStyle: { textAlign: 'left', fontSize: 15 }, cellStyle: { background: { color: '#F7F9FC' } } },&#10;                ],&#10;                [&#10;                    { text: '判定增强 → 自主性', textStyle: { bold: true, fontSize: 16 } },&#10;                    { text: '09-24 → 09-29', textStyle: { fontSize: 16 } },&#10;                    { text: '522 → 647 项', textStyle: { bold: true, color: '#1E4FA8', fontSize: 16 } },&#10;                    { text: 'L2 置信度校准＋复核机制；4 本真书影子主张链路；自动巡检、事件反应、学习教练', textStyle: { textAlign: 'left', fontSize: 15 } },&#10;                ],&#10;            ]}&#10;        /&gt;&#10;        &lt;Box style={{ flexDirection: 'row', gap: 18 }}&gt;&#10;            &lt;Box style={{ flex: 1, padding: '16px 20px', background: '#F0F5FC', borderRadius: 8, borderLeft: '4px solid #1E4FA8' }}&gt;&#10;                &lt;Text style={{ fontSize: 18, color: '#1A2230', lineHeight: 1.55 }}&gt;&#10;                    &lt;span style={{ fontWeight: 'bold', color: '#0E3F8C' }}&gt;中期检查已达标：&lt;/span&gt;第 10 周时五层能力与阅读链路均已可用，完成度远超 50% 计分线；当前核心功能全部可演示。&#10;                &lt;/Text&gt;&#10;            &lt;/Box&gt;&#10;            &lt;Box style={{ flex: 1, padding: '16px 20px', background: '#F0F5FC', borderRadius: 8, borderLeft: '4px solid #1E4FA8' }}&gt;&#10;                &lt;Text style={{ fontSize: 18, color: '#1A2230', lineHeight: 1.55 }}&gt;&#10;                    &lt;span style={{ fontWeight: 'bold', color: '#0E3F8C' }}&gt;迭代有深度：&lt;/span&gt;判定质量真实评测四轮，回归承诺「不低于基线 0.83」并已兑现；每轮迭代伴随功能增强、性能优化与缺陷修复。&#10;                &lt;/Text&gt;&#10;            &lt;/Box&gt;&#10;        &lt;/Box&gt;&#10;        &lt;Box style={{ padding: '14px 22px', background: '#F7F9FC', borderRadius: 8, border: '1px solid #D6DCE5', marginBottom: 6 }}&gt;&#10;            &lt;Text style={{ fontSize: 18, color: '#1A2230', lineHeight: 1.6 }}&gt;&#10;                &lt;span style={{ fontWeight: 'bold', color: '#0E3F8C' }}&gt;关于 AI 辅助开发：&lt;/span&gt;全程使用 AI 辅助编程，但每一处改动经 647 项测试、每日开发日志与 20 条复盘文档把关——原理说得清、改动可追溯，这正是「投入过程」可核查的证据。&#10;            &lt;/Text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1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矩形 8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381000" y="266700"/>
            <a:ext cx="44005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维度五</a:t>
            </a:r>
            <a:r>
              <a:rPr lang="en-US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 dirty="0">
                <a:solidFill>
                  <a:srgbClr val="0E3F8C"/>
                </a:solidFill>
                <a:latin typeface="Microsoft YaHei"/>
                <a:ea typeface="Microsoft YaHei"/>
              </a:rPr>
              <a:t>开发工作量</a:t>
            </a:r>
            <a:endParaRPr dirty="0"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0239375" y="457200"/>
            <a:ext cx="15716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规模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过程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迭代深度</a:t>
            </a:r>
            <a:endParaRPr/>
          </a:p>
        </p:txBody>
      </p:sp>
      <p:graphicFrame>
        <p:nvGraphicFramePr>
          <p:cNvPr id="89" name="表格 88"/>
          <p:cNvGraphicFramePr/>
          <p:nvPr/>
        </p:nvGraphicFramePr>
        <p:xfrm>
          <a:off x="381000" y="809625"/>
          <a:ext cx="11429999" cy="2400300"/>
        </p:xfrm>
        <a:graphic>
          <a:graphicData uri="http://schemas.openxmlformats.org/drawingml/2006/table">
            <a:tbl>
              <a:tblPr/>
              <a:tblGrid>
                <a:gridCol w="1837967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39982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29871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6893501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61337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测试规模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关键进展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9564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骨架验证 → 能力闭环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09-06 → 09-21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7 → 299 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五层能力全部闭环；阅读器（txt</a:t>
                      </a:r>
                      <a:r>
                        <a:rPr sz="1125" dirty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/</a:t>
                      </a:r>
                      <a:r>
                        <a:rPr sz="1125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epub</a:t>
                      </a:r>
                      <a:r>
                        <a:rPr sz="1125" dirty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/pdf）＋</a:t>
                      </a:r>
                      <a:r>
                        <a:rPr sz="1125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微信读书同步；认证、任务框架、推送调度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9564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对话收口 → 双层重做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09-21 → 09-23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299 → 522 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 项能力全部接入对话；检索层库内重构＋pgvector 向量库＋评估护栏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9564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判定增强 → 自主性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09-24 → 09-29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522 → 647 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dirty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L2 置信度校准＋复核机制；4 </a:t>
                      </a:r>
                      <a:r>
                        <a:rPr sz="1125" dirty="0" err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本真书影子主张链路；自动巡检、事件反应、学习教练</a:t>
                      </a:r>
                      <a:endParaRPr dirty="0"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90" name="矩形: 圆角 89"/>
          <p:cNvSpPr/>
          <p:nvPr/>
        </p:nvSpPr>
        <p:spPr>
          <a:xfrm>
            <a:off x="419100" y="3857625"/>
            <a:ext cx="5629275" cy="942975"/>
          </a:xfrm>
          <a:prstGeom prst="roundRect">
            <a:avLst>
              <a:gd name="adj" fmla="val 8081"/>
            </a:avLst>
          </a:prstGeom>
          <a:solidFill>
            <a:srgbClr val="F0F5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任意多边形: 形状 90"/>
          <p:cNvSpPr/>
          <p:nvPr/>
        </p:nvSpPr>
        <p:spPr>
          <a:xfrm>
            <a:off x="419100" y="3857625"/>
            <a:ext cx="5629275" cy="942975"/>
          </a:xfrm>
          <a:custGeom>
            <a:avLst/>
            <a:gdLst/>
            <a:ahLst/>
            <a:cxnLst/>
            <a:rect l="0" t="0" r="0" b="0"/>
            <a:pathLst>
              <a:path w="591" h="9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5"/>
                </a:lnTo>
                <a:cubicBezTo>
                  <a:pt x="4" y="97"/>
                  <a:pt x="5" y="99"/>
                  <a:pt x="7" y="99"/>
                </a:cubicBezTo>
                <a:cubicBezTo>
                  <a:pt x="3" y="99"/>
                  <a:pt x="0" y="95"/>
                  <a:pt x="0" y="9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609600" y="4010025"/>
            <a:ext cx="5210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中期检查已达标：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10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周时五层能力与阅读链路均已可用，完成度远超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50%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计分线；当前核心功能全部可演示。</a:t>
            </a:r>
            <a:endParaRPr/>
          </a:p>
        </p:txBody>
      </p:sp>
      <p:sp>
        <p:nvSpPr>
          <p:cNvPr id="93" name="矩形: 圆角 92"/>
          <p:cNvSpPr/>
          <p:nvPr/>
        </p:nvSpPr>
        <p:spPr>
          <a:xfrm>
            <a:off x="6219825" y="3857625"/>
            <a:ext cx="5629275" cy="942975"/>
          </a:xfrm>
          <a:prstGeom prst="roundRect">
            <a:avLst>
              <a:gd name="adj" fmla="val 8081"/>
            </a:avLst>
          </a:prstGeom>
          <a:solidFill>
            <a:srgbClr val="F0F5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任意多边形: 形状 93"/>
          <p:cNvSpPr/>
          <p:nvPr/>
        </p:nvSpPr>
        <p:spPr>
          <a:xfrm>
            <a:off x="6219825" y="3857625"/>
            <a:ext cx="5629275" cy="942975"/>
          </a:xfrm>
          <a:custGeom>
            <a:avLst/>
            <a:gdLst/>
            <a:ahLst/>
            <a:cxnLst/>
            <a:rect l="0" t="0" r="0" b="0"/>
            <a:pathLst>
              <a:path w="591" h="9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5"/>
                </a:lnTo>
                <a:cubicBezTo>
                  <a:pt x="4" y="97"/>
                  <a:pt x="5" y="99"/>
                  <a:pt x="7" y="99"/>
                </a:cubicBezTo>
                <a:cubicBezTo>
                  <a:pt x="3" y="99"/>
                  <a:pt x="0" y="95"/>
                  <a:pt x="0" y="9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6410325" y="4010025"/>
            <a:ext cx="5210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迭代有深度：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判定质量真实评测四轮，回归承诺「不低于基线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0.83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」并已兑现；每轮迭代伴随功能增强、性能优化与缺陷修复。</a:t>
            </a:r>
            <a:endParaRPr/>
          </a:p>
        </p:txBody>
      </p:sp>
      <p:sp>
        <p:nvSpPr>
          <p:cNvPr id="96" name="矩形: 圆角 95"/>
          <p:cNvSpPr/>
          <p:nvPr/>
        </p:nvSpPr>
        <p:spPr>
          <a:xfrm>
            <a:off x="381000" y="5438775"/>
            <a:ext cx="11430000" cy="93345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590550" y="5572125"/>
            <a:ext cx="110109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关于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辅助开发：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全程使用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辅助编程，但每一处改动经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647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项测试、每日开发日志与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20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条复盘文档把关——原理说得清、改动可追溯，这正是「投入过程」可核查的证据。</a:t>
            </a:r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381000" y="654367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113538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width: '100%', height: 8, background: '#1E4FA8' }} /&gt;&#10;    &lt;Box style={{ flex: 1, flexDirection: 'row', gap: 28, padding: '22px 40px 0 40px' }}&gt;&#10;        &lt;Box style={{ width: 330, height: 592, background: '#0E3F8C', borderRadius: 10, padding: '36px 30px', justifyContent: 'space-between' }}&gt;&#10;            &lt;Box&gt;&#10;                &lt;Text style={{ fontSize: 18, color: '#9FBCE8', letterSpacing: 3 }}&gt;现场表现&lt;/Text&gt;&#10;                &lt;Text style={{ fontSize: 40, fontWeight: 'bold', color: '#FFFFFF', marginTop: 12 }}&gt;系统演示&lt;/Text&gt;&#10;                &lt;Box style={{ flexDirection: 'row', alignItems: 'flex-end', gap: 8, marginTop: 18 }}&gt;&#10;                    &lt;Text style={{ fontSize: 64, fontWeight: 'bold', color: '#FFC107', lineHeight: 1 }}&gt;15&lt;/Text&gt;&#10;                    &lt;Text style={{ fontSize: 22, color: '#BBD0F0', paddingBottom: 6 }}&gt;分维度&lt;/Text&gt;&#10;                &lt;/Box&gt;&#10;            &lt;/Box&gt;&#10;            &lt;Text style={{ fontSize: 21, color: '#E8EFF8', lineHeight: 1.75 }}&gt;&#10;                演示路线约 2 分钟，覆盖五层能力中最直观的四个场景。&lt;span style={{ fontWeight: 'bold', color: '#FFC107' }}&gt;先看系统自己说话，再做总结。&lt;/span&gt;&#10;            &lt;/Text&gt;&#10;        &lt;/Box&gt;&#10;        &lt;Box style={{ flex: 1, flexDirection: 'column', justifyContent: 'space-between' }}&gt;&#10;            &lt;Box style={{ flexDirection: 'row', alignItems: 'center', gap: 18, padding: '18px 24px', background: '#F7F9FC', borderRadius: 10, border: '1px solid #D6DCE5' }}&gt;&#10;                &lt;Box style={{ width: 46, height: 46, borderRadius: 23, background: '#1E4FA8', justifyContent: 'center', alignItems: 'center' }}&gt;&#10;                    &lt;Text style={{ fontSize: 20, fontWeight: 'bold', color: '#FFFFFF' }}&gt;1&lt;/Text&gt;&#10;                &lt;/Box&gt;&#10;                &lt;Box style={{ flex: 1 }}&gt;&#10;                    &lt;Text style={{ fontSize: 22, fontWeight: 'bold', color: '#1A2230' }}&gt;对话录入&lt;/Text&gt;&#10;                    &lt;Text style={{ fontSize: 18, color: '#4A5568', marginTop: 4 }}&gt;说一句「记一下……」，知识卡直接回写进会话&lt;/Text&gt;&#10;                &lt;/Box&gt;&#10;            &lt;/Box&gt;&#10;            &lt;Box style={{ flexDirection: 'row', alignItems: 'center', gap: 18, padding: '18px 24px', background: '#F7F9FC', borderRadius: 10, border: '1px solid #D6DCE5' }}&gt;&#10;                &lt;Box style={{ width: 46, height: 46, borderRadius: 23, background: '#1E4FA8', justifyContent: 'center', alignItems: 'center' }}&gt;&#10;                    &lt;Text style={{ fontSize: 20, fontWeight: 'bold', color: '#FFFFFF' }}&gt;2&lt;/Text&gt;&#10;                &lt;/Box&gt;&#10;                &lt;Box style={{ flex: 1 }}&gt;&#10;                    &lt;Text style={{ fontSize: 22, fontWeight: 'bold', color: '#1A2230' }}&gt;模糊找回（L1）&lt;/Text&gt;&#10;                    &lt;Text style={{ fontSize: 18, color: '#4A5568', marginTop: 4 }}&gt;给一条模糊线索，看多轮追问如何定位到具体条目&lt;/Text&gt;&#10;                &lt;/Box&gt;&#10;            &lt;/Box&gt;&#10;            &lt;Box style={{ flexDirection: 'row', alignItems: 'center', gap: 18, padding: '18px 24px', background: '#F7F9FC', borderRadius: 10, border: '1px solid #D6DCE5' }}&gt;&#10;                &lt;Box style={{ width: 46, height: 46, borderRadius: 23, background: '#1E4FA8', justifyContent: 'center', alignItems: 'center' }}&gt;&#10;                    &lt;Text style={{ fontSize: 20, fontWeight: 'bold', color: '#FFFFFF' }}&gt;3&lt;/Text&gt;&#10;                &lt;/Box&gt;&#10;                &lt;Box style={{ flex: 1 }}&gt;&#10;                    &lt;Text style={{ fontSize: 22, fontWeight: 'bold', color: '#1A2230' }}&gt;冲突检测（L2）&lt;/Text&gt;&#10;                    &lt;Text style={{ fontSize: 18, color: '#4A5568', marginTop: 4 }}&gt;发起扫描，展示对立主张识别与判定依据&lt;/Text&gt;&#10;                &lt;/Box&gt;&#10;            &lt;/Box&gt;&#10;            &lt;Box style={{ flexDirection: 'row', alignItems: 'center', gap: 18, padding: '18px 24px', background: '#F7F9FC', borderRadius: 10, border: '1px solid #D6DCE5' }}&gt;&#10;                &lt;Box style={{ width: 46, height: 46, borderRadius: 23, background: '#1E4FA8', justifyContent: 'center', alignItems: 'center' }}&gt;&#10;                    &lt;Text style={{ fontSize: 20, fontWeight: 'bold', color: '#FFFFFF' }}&gt;4&lt;/Text&gt;&#10;                &lt;/Box&gt;&#10;                &lt;Box style={{ flex: 1 }}&gt;&#10;                    &lt;Text style={{ fontSize: 22, fontWeight: 'bold', color: '#1A2230' }}&gt;计划修正（L4）&lt;/Text&gt;&#10;                    &lt;Text style={{ fontSize: 18, color: '#4A5568', marginTop: 4 }}&gt;设定学习目标后看偏离检测与自主重排&lt;/Text&gt;&#10;                &lt;/Box&gt;&#10;            &lt;/Box&gt;&#10;            &lt;Box style={{ flexDirection: 'row', alignItems: 'center', gap: 18, padding: '18px 24px', background: '#F7F9FC', borderRadius: 10, border: '1px solid #D6DCE5' }}&gt;&#10;                &lt;Box style={{ width: 46, height: 46, borderRadius: 23, background: '#1E4FA8', justifyContent: 'center', alignItems: 'center' }}&gt;&#10;                    &lt;Text style={{ fontSize: 20, fontWeight: 'bold', color: '#FFFFFF' }}&gt;5&lt;/Text&gt;&#10;                &lt;/Box&gt;&#10;                &lt;Box style={{ flex: 1 }}&gt;&#10;                    &lt;Text style={{ fontSize: 22, fontWeight: 'bold', color: '#1A2230' }}&gt;主动推送&lt;/Text&gt;&#10;                    &lt;Text style={{ fontSize: 18, color: '#4A5568', marginTop: 4 }}&gt;展示周教练提示：每条建议都带「下一步」行动&lt;/Text&gt;&#10;                &lt;/Box&gt;&#10;            &lt;/Box&gt;&#10;            &lt;Box style={{ padding: '16px 22px', background: '#FFF8E1', borderRadius: 8, borderLeft: '5px solid #FFC107' }}&gt;&#10;                &lt;Text style={{ fontSize: 19, color: '#1A2230', lineHeight: 1.6 }}&gt;&#10;                    &lt;span style={{ fontWeight: 'bold', color: '#B8860B' }}&gt;双保险预案：&lt;/span&gt;现场优先运行真实系统；若环境异常，立即切换预录演示视频与关键界面截图——对应「无法运行且无屏幕备份记 0 分」条款，此风险已提前消除。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" name="矩形 10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" name="矩形: 圆角 102"/>
          <p:cNvSpPr/>
          <p:nvPr/>
        </p:nvSpPr>
        <p:spPr>
          <a:xfrm>
            <a:off x="381000" y="285750"/>
            <a:ext cx="3143250" cy="5638800"/>
          </a:xfrm>
          <a:prstGeom prst="roundRect">
            <a:avLst>
              <a:gd name="adj" fmla="val 303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66750" y="628650"/>
            <a:ext cx="2571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BCE8"/>
                </a:solidFill>
                <a:latin typeface="Microsoft YaHei"/>
                <a:ea typeface="Microsoft YaHei"/>
              </a:rPr>
              <a:t>现场表现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666750" y="952500"/>
            <a:ext cx="25717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系统演示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666750" y="1581150"/>
            <a:ext cx="752475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1495425" y="2000250"/>
            <a:ext cx="628650" cy="314325"/>
          </a:xfrm>
          <a:prstGeom prst="rect">
            <a:avLst/>
          </a:prstGeom>
        </p:spPr>
        <p:txBody>
          <a:bodyPr wrap="none" lIns="0" tIns="0" rIns="0" bIns="42863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666750" y="3895725"/>
            <a:ext cx="2571750" cy="1685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575" dirty="0">
                <a:solidFill>
                  <a:srgbClr val="E8EFF8"/>
                </a:solidFill>
                <a:latin typeface="Microsoft YaHei"/>
                <a:ea typeface="Microsoft YaHei"/>
              </a:rPr>
              <a:t>演示路线约</a:t>
            </a:r>
            <a:r>
              <a:rPr lang="en-US" sz="1575" dirty="0">
                <a:solidFill>
                  <a:srgbClr val="E8EFF8"/>
                </a:solidFill>
                <a:latin typeface="Microsoft YaHei"/>
                <a:ea typeface="Microsoft YaHei"/>
              </a:rPr>
              <a:t> 2 </a:t>
            </a:r>
            <a:r>
              <a:rPr lang="zh-CN" sz="1575" dirty="0">
                <a:solidFill>
                  <a:srgbClr val="E8EFF8"/>
                </a:solidFill>
                <a:latin typeface="Microsoft YaHei"/>
                <a:ea typeface="Microsoft YaHei"/>
              </a:rPr>
              <a:t>分钟，覆盖五层能力中最直观的四个场景。</a:t>
            </a:r>
            <a:r>
              <a:rPr lang="zh-CN" sz="1575" b="1" dirty="0">
                <a:solidFill>
                  <a:srgbClr val="FFC107"/>
                </a:solidFill>
                <a:latin typeface="Microsoft YaHei"/>
                <a:ea typeface="Microsoft YaHei"/>
              </a:rPr>
              <a:t>先看系统自己说话，再做总结。</a:t>
            </a:r>
            <a:endParaRPr dirty="0"/>
          </a:p>
        </p:txBody>
      </p:sp>
      <p:sp>
        <p:nvSpPr>
          <p:cNvPr id="109" name="矩形: 圆角 108"/>
          <p:cNvSpPr/>
          <p:nvPr/>
        </p:nvSpPr>
        <p:spPr>
          <a:xfrm>
            <a:off x="3750544" y="28575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矩形: 圆角 109"/>
          <p:cNvSpPr/>
          <p:nvPr/>
        </p:nvSpPr>
        <p:spPr>
          <a:xfrm>
            <a:off x="4019550" y="4953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181475" y="60007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629150" y="45720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对话录入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629150" y="75247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说一句「记一下……」，知识卡直接回写进会话</a:t>
            </a:r>
            <a:endParaRPr/>
          </a:p>
        </p:txBody>
      </p:sp>
      <p:sp>
        <p:nvSpPr>
          <p:cNvPr id="114" name="矩形: 圆角 113"/>
          <p:cNvSpPr/>
          <p:nvPr/>
        </p:nvSpPr>
        <p:spPr>
          <a:xfrm>
            <a:off x="3790950" y="131445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矩形: 圆角 114"/>
          <p:cNvSpPr/>
          <p:nvPr/>
        </p:nvSpPr>
        <p:spPr>
          <a:xfrm>
            <a:off x="4019550" y="15240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4181475" y="162877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629150" y="148590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模糊找回（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L1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4629150" y="178117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给一条模糊线索，看多轮追问如何定位到具体条目</a:t>
            </a:r>
            <a:endParaRPr/>
          </a:p>
        </p:txBody>
      </p:sp>
      <p:sp>
        <p:nvSpPr>
          <p:cNvPr id="119" name="矩形: 圆角 118"/>
          <p:cNvSpPr/>
          <p:nvPr/>
        </p:nvSpPr>
        <p:spPr>
          <a:xfrm>
            <a:off x="3790950" y="234315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矩形: 圆角 119"/>
          <p:cNvSpPr/>
          <p:nvPr/>
        </p:nvSpPr>
        <p:spPr>
          <a:xfrm>
            <a:off x="4019550" y="25527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181475" y="265747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4629150" y="251460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冲突检测（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L2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4629150" y="280987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发起扫描，展示对立主张识别与判定依据</a:t>
            </a:r>
            <a:endParaRPr/>
          </a:p>
        </p:txBody>
      </p:sp>
      <p:sp>
        <p:nvSpPr>
          <p:cNvPr id="124" name="矩形: 圆角 123"/>
          <p:cNvSpPr/>
          <p:nvPr/>
        </p:nvSpPr>
        <p:spPr>
          <a:xfrm>
            <a:off x="3790950" y="337185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矩形: 圆角 124"/>
          <p:cNvSpPr/>
          <p:nvPr/>
        </p:nvSpPr>
        <p:spPr>
          <a:xfrm>
            <a:off x="4019550" y="35814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4181475" y="368617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629150" y="354330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计划修正（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L4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4629150" y="383857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设定学习目标后看偏离检测与自主重排</a:t>
            </a:r>
            <a:endParaRPr/>
          </a:p>
        </p:txBody>
      </p:sp>
      <p:sp>
        <p:nvSpPr>
          <p:cNvPr id="129" name="矩形: 圆角 128"/>
          <p:cNvSpPr/>
          <p:nvPr/>
        </p:nvSpPr>
        <p:spPr>
          <a:xfrm>
            <a:off x="3790950" y="440055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矩形: 圆角 129"/>
          <p:cNvSpPr/>
          <p:nvPr/>
        </p:nvSpPr>
        <p:spPr>
          <a:xfrm>
            <a:off x="4019550" y="46101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4181475" y="471487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4629150" y="457200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主动推送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4629150" y="486727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展示周教练提示：每条建议都带「下一步」行动</a:t>
            </a:r>
            <a:endParaRPr/>
          </a:p>
        </p:txBody>
      </p:sp>
      <p:sp>
        <p:nvSpPr>
          <p:cNvPr id="134" name="矩形: 圆角 133"/>
          <p:cNvSpPr/>
          <p:nvPr/>
        </p:nvSpPr>
        <p:spPr>
          <a:xfrm>
            <a:off x="3838575" y="5429250"/>
            <a:ext cx="8020050" cy="1000125"/>
          </a:xfrm>
          <a:prstGeom prst="roundRect">
            <a:avLst>
              <a:gd name="adj" fmla="val 7619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" name="任意多边形: 形状 134"/>
          <p:cNvSpPr/>
          <p:nvPr/>
        </p:nvSpPr>
        <p:spPr>
          <a:xfrm>
            <a:off x="3838575" y="5429250"/>
            <a:ext cx="8020050" cy="1000125"/>
          </a:xfrm>
          <a:custGeom>
            <a:avLst/>
            <a:gdLst/>
            <a:ahLst/>
            <a:cxnLst/>
            <a:rect l="0" t="0" r="0" b="0"/>
            <a:pathLst>
              <a:path w="842" h="105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02"/>
                </a:lnTo>
                <a:cubicBezTo>
                  <a:pt x="5" y="104"/>
                  <a:pt x="6" y="105"/>
                  <a:pt x="8" y="105"/>
                </a:cubicBezTo>
                <a:cubicBezTo>
                  <a:pt x="3" y="105"/>
                  <a:pt x="0" y="101"/>
                  <a:pt x="0" y="9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4048125" y="5581650"/>
            <a:ext cx="7553325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B8860B"/>
                </a:solidFill>
                <a:latin typeface="Microsoft YaHei"/>
                <a:ea typeface="Microsoft YaHei"/>
              </a:rPr>
              <a:t>双保险预案：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现场优先运行真实系统；若环境异常，立即切换预录演示视频与关键界面截图——对应「无法运行且无屏幕备份记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分」条款，此风险已提前消除。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43675"/>
            <a:ext cx="176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3538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0054D2B2-BA7C-90E5-C1F0-ECB58675455D}"/>
              </a:ext>
            </a:extLst>
          </p:cNvPr>
          <p:cNvSpPr/>
          <p:nvPr/>
        </p:nvSpPr>
        <p:spPr>
          <a:xfrm>
            <a:off x="85725" y="-1905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文本框 4" descr="{&quot;isTemplate&quot;:true,&quot;type&quot;:&quot;text&quot;}">
            <a:extLst>
              <a:ext uri="{FF2B5EF4-FFF2-40B4-BE49-F238E27FC236}">
                <a16:creationId xmlns:a16="http://schemas.microsoft.com/office/drawing/2014/main" id="{3BA1517A-2903-2B71-3BC6-1ADEFBE8D8D7}"/>
              </a:ext>
            </a:extLst>
          </p:cNvPr>
          <p:cNvSpPr txBox="1"/>
          <p:nvPr/>
        </p:nvSpPr>
        <p:spPr>
          <a:xfrm>
            <a:off x="4181475" y="60007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" name="文本框 6" descr="{&quot;isTemplate&quot;:true,&quot;type&quot;:&quot;text&quot;}">
            <a:extLst>
              <a:ext uri="{FF2B5EF4-FFF2-40B4-BE49-F238E27FC236}">
                <a16:creationId xmlns:a16="http://schemas.microsoft.com/office/drawing/2014/main" id="{CB373F80-0BC9-D04A-F48E-B322C7D239CC}"/>
              </a:ext>
            </a:extLst>
          </p:cNvPr>
          <p:cNvSpPr txBox="1"/>
          <p:nvPr/>
        </p:nvSpPr>
        <p:spPr>
          <a:xfrm>
            <a:off x="704850" y="147637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 dirty="0">
                <a:solidFill>
                  <a:srgbClr val="1A2230"/>
                </a:solidFill>
                <a:latin typeface="Microsoft YaHei"/>
                <a:ea typeface="Microsoft YaHei"/>
              </a:rPr>
              <a:t>对话录入</a:t>
            </a:r>
            <a:endParaRPr dirty="0"/>
          </a:p>
        </p:txBody>
      </p:sp>
      <p:sp>
        <p:nvSpPr>
          <p:cNvPr id="9" name="文本框 8" descr="{&quot;isTemplate&quot;:true,&quot;type&quot;:&quot;text&quot;}">
            <a:extLst>
              <a:ext uri="{FF2B5EF4-FFF2-40B4-BE49-F238E27FC236}">
                <a16:creationId xmlns:a16="http://schemas.microsoft.com/office/drawing/2014/main" id="{4B3D5F7D-91D0-944E-A249-D89084FECB4B}"/>
              </a:ext>
            </a:extLst>
          </p:cNvPr>
          <p:cNvSpPr txBox="1"/>
          <p:nvPr/>
        </p:nvSpPr>
        <p:spPr>
          <a:xfrm>
            <a:off x="624987" y="60007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BB87C0-09F5-22F0-D664-7B36FBECA3E6}"/>
              </a:ext>
            </a:extLst>
          </p:cNvPr>
          <p:cNvSpPr/>
          <p:nvPr/>
        </p:nvSpPr>
        <p:spPr>
          <a:xfrm>
            <a:off x="85725" y="55562"/>
            <a:ext cx="539262" cy="401638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文本框 12" descr="{&quot;isTemplate&quot;:true,&quot;type&quot;:&quot;text&quot;}">
            <a:extLst>
              <a:ext uri="{FF2B5EF4-FFF2-40B4-BE49-F238E27FC236}">
                <a16:creationId xmlns:a16="http://schemas.microsoft.com/office/drawing/2014/main" id="{D7412DE0-1DA9-D036-58C1-120A79F89A23}"/>
              </a:ext>
            </a:extLst>
          </p:cNvPr>
          <p:cNvSpPr txBox="1"/>
          <p:nvPr/>
        </p:nvSpPr>
        <p:spPr>
          <a:xfrm>
            <a:off x="279156" y="151606"/>
            <a:ext cx="152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87F24B6-02CC-AE32-3814-FBA23553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47" y="151606"/>
            <a:ext cx="7744906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56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02D585-EFFD-55F3-AEA6-5526ACBB8909}"/>
              </a:ext>
            </a:extLst>
          </p:cNvPr>
          <p:cNvSpPr/>
          <p:nvPr/>
        </p:nvSpPr>
        <p:spPr>
          <a:xfrm>
            <a:off x="-20654" y="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51CA1B4-342D-B7B4-73CF-0055128DBF40}"/>
              </a:ext>
            </a:extLst>
          </p:cNvPr>
          <p:cNvSpPr/>
          <p:nvPr/>
        </p:nvSpPr>
        <p:spPr>
          <a:xfrm>
            <a:off x="207946" y="209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>
            <a:extLst>
              <a:ext uri="{FF2B5EF4-FFF2-40B4-BE49-F238E27FC236}">
                <a16:creationId xmlns:a16="http://schemas.microsoft.com/office/drawing/2014/main" id="{8EEDBA18-797F-4DE8-622E-DF59B9170943}"/>
              </a:ext>
            </a:extLst>
          </p:cNvPr>
          <p:cNvSpPr txBox="1"/>
          <p:nvPr/>
        </p:nvSpPr>
        <p:spPr>
          <a:xfrm>
            <a:off x="369871" y="3143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" name="文本框 9" descr="{&quot;isTemplate&quot;:true,&quot;type&quot;:&quot;text&quot;}">
            <a:extLst>
              <a:ext uri="{FF2B5EF4-FFF2-40B4-BE49-F238E27FC236}">
                <a16:creationId xmlns:a16="http://schemas.microsoft.com/office/drawing/2014/main" id="{5C33E2F3-2DFB-1F01-447A-45D310E332D2}"/>
              </a:ext>
            </a:extLst>
          </p:cNvPr>
          <p:cNvSpPr txBox="1"/>
          <p:nvPr/>
        </p:nvSpPr>
        <p:spPr>
          <a:xfrm>
            <a:off x="817546" y="17145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模糊找回（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L1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" name="文本框 11" descr="{&quot;isTemplate&quot;:true,&quot;type&quot;:&quot;text&quot;}">
            <a:extLst>
              <a:ext uri="{FF2B5EF4-FFF2-40B4-BE49-F238E27FC236}">
                <a16:creationId xmlns:a16="http://schemas.microsoft.com/office/drawing/2014/main" id="{E2843AEA-5D34-D54E-8806-6F5ED1B79236}"/>
              </a:ext>
            </a:extLst>
          </p:cNvPr>
          <p:cNvSpPr txBox="1"/>
          <p:nvPr/>
        </p:nvSpPr>
        <p:spPr>
          <a:xfrm>
            <a:off x="817546" y="46672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给一条模糊线索，看多轮追问如何定位到具体条目</a:t>
            </a:r>
            <a:endParaRPr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BC748A-4EA1-B492-D2CA-7A1221A4F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54" y="847724"/>
            <a:ext cx="5824688" cy="60102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EC196B2-EAE2-916D-A809-C1369A4BA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034" y="847723"/>
            <a:ext cx="6387966" cy="60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25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0017610-6BE1-6A05-6A3D-1094AA6F6C32}"/>
              </a:ext>
            </a:extLst>
          </p:cNvPr>
          <p:cNvSpPr/>
          <p:nvPr/>
        </p:nvSpPr>
        <p:spPr>
          <a:xfrm>
            <a:off x="-30279" y="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F6D386D-BEE6-327D-C58C-ACF7F8F03659}"/>
              </a:ext>
            </a:extLst>
          </p:cNvPr>
          <p:cNvSpPr/>
          <p:nvPr/>
        </p:nvSpPr>
        <p:spPr>
          <a:xfrm>
            <a:off x="198321" y="209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>
            <a:extLst>
              <a:ext uri="{FF2B5EF4-FFF2-40B4-BE49-F238E27FC236}">
                <a16:creationId xmlns:a16="http://schemas.microsoft.com/office/drawing/2014/main" id="{3773DC7B-9188-40E4-E3A6-4FB6E72D0C48}"/>
              </a:ext>
            </a:extLst>
          </p:cNvPr>
          <p:cNvSpPr txBox="1"/>
          <p:nvPr/>
        </p:nvSpPr>
        <p:spPr>
          <a:xfrm>
            <a:off x="360246" y="3143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" name="文本框 8" descr="{&quot;isTemplate&quot;:true,&quot;type&quot;:&quot;text&quot;}">
            <a:extLst>
              <a:ext uri="{FF2B5EF4-FFF2-40B4-BE49-F238E27FC236}">
                <a16:creationId xmlns:a16="http://schemas.microsoft.com/office/drawing/2014/main" id="{E3B8C394-59C2-C594-DBFD-A9E53F199D72}"/>
              </a:ext>
            </a:extLst>
          </p:cNvPr>
          <p:cNvSpPr txBox="1"/>
          <p:nvPr/>
        </p:nvSpPr>
        <p:spPr>
          <a:xfrm>
            <a:off x="807921" y="17145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冲突检测（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L2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" name="文本框 10" descr="{&quot;isTemplate&quot;:true,&quot;type&quot;:&quot;text&quot;}">
            <a:extLst>
              <a:ext uri="{FF2B5EF4-FFF2-40B4-BE49-F238E27FC236}">
                <a16:creationId xmlns:a16="http://schemas.microsoft.com/office/drawing/2014/main" id="{4B3326EB-9D42-D940-3886-00161B4F4D2A}"/>
              </a:ext>
            </a:extLst>
          </p:cNvPr>
          <p:cNvSpPr txBox="1"/>
          <p:nvPr/>
        </p:nvSpPr>
        <p:spPr>
          <a:xfrm>
            <a:off x="807921" y="46672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发起扫描，展示对立主张识别与判定依据</a:t>
            </a:r>
            <a:endParaRPr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0845801-D798-7015-EE50-278402F2D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21" y="1019175"/>
            <a:ext cx="9913027" cy="546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42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00E0787-040E-D451-585F-4358E49E6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095999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9E3898-010F-97E9-A189-664CF0EBC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67377"/>
            <a:ext cx="6096000" cy="6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22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397F1F27-F459-4676-7B66-63C4626265E3}"/>
              </a:ext>
            </a:extLst>
          </p:cNvPr>
          <p:cNvSpPr/>
          <p:nvPr/>
        </p:nvSpPr>
        <p:spPr>
          <a:xfrm>
            <a:off x="-68780" y="0"/>
            <a:ext cx="8020050" cy="847725"/>
          </a:xfrm>
          <a:prstGeom prst="roundRect">
            <a:avLst>
              <a:gd name="adj" fmla="val 112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5E9005-A0C0-F249-6BEE-BE7E718F2476}"/>
              </a:ext>
            </a:extLst>
          </p:cNvPr>
          <p:cNvSpPr/>
          <p:nvPr/>
        </p:nvSpPr>
        <p:spPr>
          <a:xfrm>
            <a:off x="159820" y="209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>
            <a:extLst>
              <a:ext uri="{FF2B5EF4-FFF2-40B4-BE49-F238E27FC236}">
                <a16:creationId xmlns:a16="http://schemas.microsoft.com/office/drawing/2014/main" id="{CDD43149-4B33-9E3A-0301-4DD9D4B747DE}"/>
              </a:ext>
            </a:extLst>
          </p:cNvPr>
          <p:cNvSpPr txBox="1"/>
          <p:nvPr/>
        </p:nvSpPr>
        <p:spPr>
          <a:xfrm>
            <a:off x="321745" y="3143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" name="文本框 8" descr="{&quot;isTemplate&quot;:true,&quot;type&quot;:&quot;text&quot;}">
            <a:extLst>
              <a:ext uri="{FF2B5EF4-FFF2-40B4-BE49-F238E27FC236}">
                <a16:creationId xmlns:a16="http://schemas.microsoft.com/office/drawing/2014/main" id="{AA07AD6A-25FF-B24B-1E48-EF95BFD55802}"/>
              </a:ext>
            </a:extLst>
          </p:cNvPr>
          <p:cNvSpPr txBox="1"/>
          <p:nvPr/>
        </p:nvSpPr>
        <p:spPr>
          <a:xfrm>
            <a:off x="769420" y="171450"/>
            <a:ext cx="6953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计划修正（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L4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" name="文本框 10" descr="{&quot;isTemplate&quot;:true,&quot;type&quot;:&quot;text&quot;}">
            <a:extLst>
              <a:ext uri="{FF2B5EF4-FFF2-40B4-BE49-F238E27FC236}">
                <a16:creationId xmlns:a16="http://schemas.microsoft.com/office/drawing/2014/main" id="{F643BF30-FC2D-703F-131E-76605FECAAD1}"/>
              </a:ext>
            </a:extLst>
          </p:cNvPr>
          <p:cNvSpPr txBox="1"/>
          <p:nvPr/>
        </p:nvSpPr>
        <p:spPr>
          <a:xfrm>
            <a:off x="769420" y="466725"/>
            <a:ext cx="6953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设定学习目标后看偏离检测与自主重排</a:t>
            </a:r>
            <a:endParaRPr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532F1B5-B635-DDFB-0762-2006DB00B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724"/>
            <a:ext cx="6285297" cy="60102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E611E67-701F-6572-A911-FC086F5B8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077" y="847724"/>
            <a:ext cx="5837923" cy="593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36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A45312-6BE4-A9EB-D526-59C8B1CEA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4" y="0"/>
            <a:ext cx="4601705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52FEB2E-E1C3-58B8-10AD-EE09BEA5F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401" y="238637"/>
            <a:ext cx="7413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34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10' cy='90' r='240' fill='#1E4FA8' opacity='0.3' /&gt;&#10;        &lt;circle cx='1190' cy='640' r='280' fill='none' stroke='#FFFFFF' strokeWidth='1' opacity='0.1' /&gt;&#10;    &lt;/svg&gt;&#10;    &lt;Box style={{ position: 'absolute', top: 88, left: 0, width: '100%', alignItems: 'center' }}&gt;&#10;        &lt;Text style={{ fontSize: 22, color: '#9FBCE8', letterSpacing: 6 }}&gt;24 天做下来的三句话&lt;/Text&gt;&#10;        &lt;Box style={{ marginTop: 30, alignItems: 'center' }}&gt;&#10;            &lt;Text style={{ fontSize: 42, fontWeight: 'bold', color: '#FFFFFF', lineHeight: 1.9, textAlign: 'center' }}&gt;&#10;                不报错，不等于跑通了&lt;br /&gt;&#10;                容错要有，但不能伪装成成功&lt;br /&gt;&#10;                先定性，再定位&#10;            &lt;/Text&gt;&#10;        &lt;/Box&gt;&#10;    &lt;/Box&gt;&#10;    &lt;Box style={{ position: 'absolute', top: 436, left: 190, width: 900, flexDirection: 'row', gap: 16, justifyContent: 'space-between' }}&gt;&#10;        &lt;Box style={{ flex: 1, padding: '18px 20px', background: 'rgba(255,255,255,0.08)', borderRadius: 10, border: '1px solid rgba(255,255,255,0.25)' }}&gt;&#10;            &lt;Text style={{ fontSize: 18, color: '#FFC107', fontWeight: 'bold' }}&gt;下一步 · 1&lt;/Text&gt;&#10;            &lt;Text style={{ fontSize: 18, color: '#E8EFF8', marginTop: 8, lineHeight: 1.55 }}&gt;数据库向量后端真机验证（SQL 契约已用测试钉住）&lt;/Text&gt;&#10;        &lt;/Box&gt;&#10;        &lt;Box style={{ flex: 1, padding: '18px 20px', background: 'rgba(255,255,255,0.08)', borderRadius: 10, border: '1px solid rgba(255,255,255,0.25)' }}&gt;&#10;            &lt;Text style={{ fontSize: 18, color: '#FFC107', fontWeight: 'bold' }}&gt;下一步 · 2&lt;/Text&gt;&#10;            &lt;Text style={{ fontSize: 18, color: '#E8EFF8', marginTop: 8, lineHeight: 1.55 }}&gt;冲突候选对比较的平方级复杂度优化&lt;/Text&gt;&#10;        &lt;/Box&gt;&#10;        &lt;Box style={{ flex: 1, padding: '18px 20px', background: 'rgba(255,255,255,0.08)', borderRadius: 10, border: '1px solid rgba(255,255,255,0.25)' }}&gt;&#10;            &lt;Text style={{ fontSize: 18, color: '#FFC107', fontWeight: 'bold' }}&gt;下一步 · 3&lt;/Text&gt;&#10;            &lt;Text style={{ fontSize: 18, color: '#E8EFF8', marginTop: 8, lineHeight: 1.55 }}&gt;容错可观测性：让每次回退都看得见&lt;/Text&gt;&#10;        &lt;/Box&gt;&#10;    &lt;/Box&gt;&#10;    &lt;Box style={{ position: 'absolute', bottom: 76, left: 0, width: '100%', alignItems: 'center' }}&gt;&#10;        &lt;Box style={{ width: 56, height: 3, background: '#FFC107', marginBottom: 20 }} /&gt;&#10;        &lt;Text style={{ fontSize: 26, color: '#FFFFFF', textAlign: 'center' }}&gt;&#10;            认知副驾 —— 帮你照亮未知，并逼你修正&#10;        &lt;/Text&gt;&#10;        &lt;Text style={{ fontSize: 19, color: '#BBD0F0', marginTop: 14 }}&gt;以上是从 0 到现在的全部工作，恳请老师批评指正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4791075" y="838200"/>
            <a:ext cx="26193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9FBCE8"/>
                </a:solidFill>
                <a:latin typeface="Microsoft YaHei"/>
                <a:ea typeface="Microsoft YaHei"/>
              </a:rPr>
              <a:t>24 </a:t>
            </a:r>
            <a:r>
              <a:rPr lang="zh-CN" sz="1650" spc="450">
                <a:solidFill>
                  <a:srgbClr val="9FBCE8"/>
                </a:solidFill>
                <a:latin typeface="Microsoft YaHei"/>
                <a:ea typeface="Microsoft YaHei"/>
              </a:rPr>
              <a:t>天做下来的三句话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3495675" y="1381125"/>
            <a:ext cx="5200650" cy="27432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9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不报错，不等于跑通了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容错要有，但不能伪装成成功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先定性，再定位</a:t>
            </a:r>
            <a:endParaRPr/>
          </a:p>
        </p:txBody>
      </p:sp>
      <p:sp>
        <p:nvSpPr>
          <p:cNvPr id="144" name="矩形: 圆角 143"/>
          <p:cNvSpPr/>
          <p:nvPr/>
        </p:nvSpPr>
        <p:spPr>
          <a:xfrm>
            <a:off x="1809750" y="4152900"/>
            <a:ext cx="2752725" cy="1266825"/>
          </a:xfrm>
          <a:prstGeom prst="roundRect">
            <a:avLst>
              <a:gd name="adj" fmla="val 75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2000250" y="4324350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Microsoft YaHei"/>
                <a:ea typeface="Microsoft YaHei"/>
              </a:rPr>
              <a:t>下一步</a:t>
            </a: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 · 1</a:t>
            </a:r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2000250" y="4610100"/>
            <a:ext cx="23717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数据库向量后端真机验证（</a:t>
            </a:r>
            <a:r>
              <a:rPr lang="en-US" sz="1350">
                <a:solidFill>
                  <a:srgbClr val="E8EFF8"/>
                </a:solidFill>
                <a:latin typeface="Microsoft YaHei"/>
                <a:ea typeface="Microsoft YaHei"/>
              </a:rPr>
              <a:t>SQL </a:t>
            </a: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契约已用测试钉住）</a:t>
            </a:r>
            <a:endParaRPr/>
          </a:p>
        </p:txBody>
      </p:sp>
      <p:sp>
        <p:nvSpPr>
          <p:cNvPr id="147" name="矩形: 圆角 146"/>
          <p:cNvSpPr/>
          <p:nvPr/>
        </p:nvSpPr>
        <p:spPr>
          <a:xfrm>
            <a:off x="4714875" y="4152900"/>
            <a:ext cx="2762250" cy="1266825"/>
          </a:xfrm>
          <a:prstGeom prst="roundRect">
            <a:avLst>
              <a:gd name="adj" fmla="val 75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4905375" y="4324350"/>
            <a:ext cx="2381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Microsoft YaHei"/>
                <a:ea typeface="Microsoft YaHei"/>
              </a:rPr>
              <a:t>下一步</a:t>
            </a: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 · 2</a:t>
            </a:r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4905375" y="4610100"/>
            <a:ext cx="23812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冲突候选对比较的平方级复杂度优化</a:t>
            </a:r>
            <a:endParaRPr/>
          </a:p>
        </p:txBody>
      </p:sp>
      <p:sp>
        <p:nvSpPr>
          <p:cNvPr id="150" name="矩形: 圆角 149"/>
          <p:cNvSpPr/>
          <p:nvPr/>
        </p:nvSpPr>
        <p:spPr>
          <a:xfrm>
            <a:off x="7629525" y="4152900"/>
            <a:ext cx="2752725" cy="1266825"/>
          </a:xfrm>
          <a:prstGeom prst="roundRect">
            <a:avLst>
              <a:gd name="adj" fmla="val 75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7820025" y="4324350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Microsoft YaHei"/>
                <a:ea typeface="Microsoft YaHei"/>
              </a:rPr>
              <a:t>下一步</a:t>
            </a: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 · 3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7820025" y="4610100"/>
            <a:ext cx="23717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容错可观测性：让每次回退都看得见</a:t>
            </a:r>
            <a:endParaRPr/>
          </a:p>
        </p:txBody>
      </p:sp>
      <p:sp>
        <p:nvSpPr>
          <p:cNvPr id="153" name="矩形 152"/>
          <p:cNvSpPr/>
          <p:nvPr/>
        </p:nvSpPr>
        <p:spPr>
          <a:xfrm>
            <a:off x="5829300" y="5257800"/>
            <a:ext cx="5334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3771900" y="5476875"/>
            <a:ext cx="4648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950">
                <a:solidFill>
                  <a:srgbClr val="FFFFFF"/>
                </a:solidFill>
                <a:latin typeface="Microsoft YaHei"/>
                <a:ea typeface="Microsoft YaHei"/>
              </a:rPr>
              <a:t>认知副驾</a:t>
            </a:r>
            <a:r>
              <a:rPr lang="en-US" sz="1950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950">
                <a:solidFill>
                  <a:srgbClr val="FFFFFF"/>
                </a:solidFill>
                <a:latin typeface="Microsoft YaHei"/>
                <a:ea typeface="Microsoft YaHei"/>
              </a:rPr>
              <a:t>帮你照亮未知，并逼你修正</a:t>
            </a:r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4086225" y="5915025"/>
            <a:ext cx="40195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以上是从</a:t>
            </a:r>
            <a:r>
              <a:rPr lang="en-US" sz="1425">
                <a:solidFill>
                  <a:srgbClr val="BBD0F0"/>
                </a:solidFill>
                <a:latin typeface="Microsoft YaHei"/>
                <a:ea typeface="Microsoft YaHei"/>
              </a:rPr>
              <a:t> 0 </a:t>
            </a: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到现在的全部工作，恳请老师批评指正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3151</Words>
  <Application>Microsoft Office PowerPoint</Application>
  <PresentationFormat>宽屏</PresentationFormat>
  <Paragraphs>231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宇航 周</cp:lastModifiedBy>
  <cp:revision>2</cp:revision>
  <dcterms:created xsi:type="dcterms:W3CDTF">2026-09-29T23:05:43Z</dcterms:created>
  <dcterms:modified xsi:type="dcterms:W3CDTF">2026-09-29T15:56:19Z</dcterms:modified>
</cp:coreProperties>
</file>