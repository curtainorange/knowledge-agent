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7" Type="http://schemas.openxmlformats.org/officeDocument/2006/relationships/slide" Target="slides/slide7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19" Type="http://schemas.openxmlformats.org/officeDocument/2006/relationships/slide" Target="slides/slide19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8" Type="http://schemas.openxmlformats.org/officeDocument/2006/relationships/notesMaster" Target="notesMasters/notesMaster1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29" Type="http://schemas.openxmlformats.org/officeDocument/2006/relationships/presProps" Target="presProps.xml" /><Relationship Id="rId3" Type="http://schemas.openxmlformats.org/officeDocument/2006/relationships/slide" Target="slides/slide3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9.svg" /><Relationship Id="rId2" Type="http://schemas.openxmlformats.org/officeDocument/2006/relationships/image" Target="media/image20.svg" /></Relationships>
</file>

<file path=ppt/slides/_rels/slide4.xml.rels><?xml version="1.0" encoding="UTF-8" standalone="yes"?><Relationships xmlns="http://schemas.openxmlformats.org/package/2006/relationships"><Relationship Id="rId3" Type="http://schemas.openxmlformats.org/officeDocument/2006/relationships/image" Target="media/image22.svg" /><Relationship Id="rId2" Type="http://schemas.openxmlformats.org/officeDocument/2006/relationships/image" Target="media/image6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1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3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20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4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5.xml.rels><?xml version="1.0" encoding="UTF-8" standalone="yes"?><Relationships xmlns="http://schemas.openxmlformats.org/package/2006/relationships"><Relationship Id="rId3" Type="http://schemas.openxmlformats.org/officeDocument/2006/relationships/image" Target="media/image6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5.svg" /><Relationship Id="rId4" Type="http://schemas.openxmlformats.org/officeDocument/2006/relationships/image" Target="media/image7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png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png" /><Relationship Id="rId2" Type="http://schemas.openxmlformats.org/officeDocument/2006/relationships/image" Target="media/image10.png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png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png" /><Relationship Id="rId2" Type="http://schemas.openxmlformats.org/officeDocument/2006/relationships/image" Target="media/image13.png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png" /><Relationship Id="rId2" Type="http://schemas.openxmlformats.org/officeDocument/2006/relationships/image" Target="media/image15.png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6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7.png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8.sv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1280, height: 720, background: '#0E3F8C', position: 'relative', overflow: 'hidden' }}&gt;&#10;    &lt;svg width={1280} height={720} viewBox='0 0 1280 720' style={{ position: 'absolute', top: 0, left: 0 }}&gt;&#10;        &lt;circle cx='1214' cy='78' r='286' fill='#1E4FA8' opacity='0.38' /&gt;&#10;        &lt;circle cx='146' cy='694' r='306' fill='none' stroke='#FFFFFF' strokeWidth='1' opacity='0.12' /&gt;&#10;        &lt;circle cx='146' cy='694' r='216' fill='none' stroke='#FFFFFF' strokeWidth='1' opacity='0.07' /&gt;&#10;        &lt;line x1='0' y1='640' x2='1280' y2='640' stroke='#FFFFFF' strokeWidth='1' opacity='0.14' /&gt;&#10;    &lt;/svg&gt;&#10;    &lt;Box style={{ position: 'absolute', top: 90, left: 0, width: '100%', flexDirection: 'row', justifyContent: 'center' }}&gt;&#10;        &lt;Box style={{ flexDirection: 'row', alignItems: 'center', gap: 14 }}&gt;&#10;            &lt;Box style={{ width: 34, height: 3, background: '#FFC107' }} /&gt;&#10;            &lt;Text style={{ fontSize: 20, color: '#BBD0F0', letterSpacing: 4 }}&gt;24 级 · AI 智能体软件开发项目 · 工作室汇报&lt;/Text&gt;&#10;            &lt;Box style={{ width: 34, height: 3, background: '#FFC107' }} /&gt;&#10;        &lt;/Box&gt;&#10;    &lt;/Box&gt;&#10;    &lt;Box style={{ position: 'absolute', top: 156, left: 0, width: '100%', alignItems: 'center' }}&gt;&#10;        &lt;Text style={{ fontSize: 92, fontWeight: 'bold', color: '#FFFFFF', letterSpacing: 10 }}&gt;认知副驾&lt;/Text&gt;&#10;        &lt;Text style={{ fontSize: 30, color: '#9FBCE8', marginTop: 12, fontFamily: 'Georgia, serif', letterSpacing: 3 }}&gt;Cognitive Copilot&lt;/Text&gt;&#10;        &lt;Box style={{ width: 72, height: 3, background: '#FFC107', marginTop: 26 }} /&gt;&#10;        &lt;Text style={{ fontSize: 26, color: '#E8EFF8', marginTop: 26 }}&gt;个人知识学习 AI 智能体 —— 把「收藏的碎片」转化为「可调用的认知」&lt;/Text&gt;&#10;    &lt;/Box&gt;&#10;    &lt;Box style={{ position: 'absolute', top: 452, left: 240, width: 800, padding: '20px 32px', background: 'rgba(255,255,255,0.08)', borderRadius: 10, border: '1px solid rgba(255,255,255,0.25)', alignItems: 'center' }}&gt;&#10;        &lt;Text style={{ fontSize: 24, color: '#FFFFFF', textAlign: 'center', lineHeight: 1.6 }}&gt;&#10;            信息系统帮你&lt;span style={{ fontWeight: 'bold', color: '#FFC107' }}&gt;「管住」已知&lt;/span&gt;；认知副驾帮你&lt;span style={{ fontWeight: 'bold', color: '#FFC107' }}&gt;「照亮」未知&lt;/span&gt;，并&lt;span style={{ fontWeight: 'bold', color: '#FFC107' }}&gt;「逼你」修正&lt;/span&gt;&#10;        &lt;/Text&gt;&#10;    &lt;/Box&gt;&#10;    &lt;Box style={{ position: 'absolute', bottom: 56, left: 0, width: '100%', flexDirection: 'row', justifyContent: 'center', gap: 28, alignItems: 'center' }}&gt;&#10;        &lt;Text style={{ fontSize: 18, color: '#BBD0F0' }}&gt;江西师范大学&lt;/Text&gt;&#10;        &lt;Box style={{ width: 4, height: 4, borderRadius: 2, background: '#9FBCE8' }} /&gt;&#10;        &lt;Text style={{ fontSize: 18, color: '#BBD0F0' }}&gt;汇报人：×××&lt;/Text&gt;&#10;        &lt;Box style={{ width: 4, height: 4, borderRadius: 2, background: '#9FBCE8' }} /&gt;&#10;        &lt;Text style={{ fontSize: 18, color: '#BBD0F0' }}&gt;2026 年 10 月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3276600" y="962025"/>
            <a:ext cx="32385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3733800" y="857250"/>
            <a:ext cx="4733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BBD0F0"/>
                </a:solidFill>
                <a:latin typeface="Microsoft YaHei"/>
                <a:ea typeface="Microsoft YaHei"/>
              </a:rPr>
              <a:t>24 </a:t>
            </a:r>
            <a:r>
              <a:rPr lang="zh-CN" sz="1500" spc="300">
                <a:solidFill>
                  <a:srgbClr val="BBD0F0"/>
                </a:solidFill>
                <a:latin typeface="Microsoft YaHei"/>
                <a:ea typeface="Microsoft YaHei"/>
              </a:rPr>
              <a:t>级</a:t>
            </a:r>
            <a:r>
              <a:rPr lang="en-US" sz="1500" spc="300">
                <a:solidFill>
                  <a:srgbClr val="BBD0F0"/>
                </a:solidFill>
                <a:latin typeface="Microsoft YaHei"/>
                <a:ea typeface="Microsoft YaHei"/>
              </a:rPr>
              <a:t> · AI </a:t>
            </a:r>
            <a:r>
              <a:rPr lang="zh-CN" sz="1500" spc="300">
                <a:solidFill>
                  <a:srgbClr val="BBD0F0"/>
                </a:solidFill>
                <a:latin typeface="Microsoft YaHei"/>
                <a:ea typeface="Microsoft YaHei"/>
              </a:rPr>
              <a:t>智能体软件开发项目</a:t>
            </a:r>
            <a:r>
              <a:rPr lang="en-US" sz="1500" spc="300">
                <a:solidFill>
                  <a:srgbClr val="BBD0F0"/>
                </a:solidFill>
                <a:latin typeface="Microsoft YaHei"/>
                <a:ea typeface="Microsoft YaHei"/>
              </a:rPr>
              <a:t> · </a:t>
            </a:r>
            <a:r>
              <a:rPr lang="zh-CN" sz="1500" spc="300">
                <a:solidFill>
                  <a:srgbClr val="BBD0F0"/>
                </a:solidFill>
                <a:latin typeface="Microsoft YaHei"/>
                <a:ea typeface="Microsoft YaHei"/>
              </a:rPr>
              <a:t>工作室汇报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8601075" y="962025"/>
            <a:ext cx="32385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4152900" y="1485900"/>
            <a:ext cx="388620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900" b="1" spc="750">
                <a:solidFill>
                  <a:srgbClr val="FFFFFF"/>
                </a:solidFill>
                <a:latin typeface="Microsoft YaHei"/>
                <a:ea typeface="Microsoft YaHei"/>
              </a:rPr>
              <a:t>认知副驾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4762500" y="2657475"/>
            <a:ext cx="26765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spc="225">
                <a:solidFill>
                  <a:srgbClr val="9FBCE8"/>
                </a:solidFill>
                <a:latin typeface="Georgia"/>
                <a:ea typeface="Georgia"/>
              </a:rPr>
              <a:t>Cognitive Copilot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5753100" y="3248025"/>
            <a:ext cx="6858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2095500" y="3524250"/>
            <a:ext cx="80105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E8EFF8"/>
                </a:solidFill>
                <a:latin typeface="Microsoft YaHei"/>
                <a:ea typeface="Microsoft YaHei"/>
              </a:rPr>
              <a:t>个人知识学习</a:t>
            </a:r>
            <a:r>
              <a:rPr lang="en-US" sz="1950">
                <a:solidFill>
                  <a:srgbClr val="E8EFF8"/>
                </a:solidFill>
                <a:latin typeface="Microsoft YaHei"/>
                <a:ea typeface="Microsoft YaHei"/>
              </a:rPr>
              <a:t> AI </a:t>
            </a:r>
            <a:r>
              <a:rPr lang="zh-CN" sz="1950">
                <a:solidFill>
                  <a:srgbClr val="E8EFF8"/>
                </a:solidFill>
                <a:latin typeface="Microsoft YaHei"/>
                <a:ea typeface="Microsoft YaHei"/>
              </a:rPr>
              <a:t>智能体</a:t>
            </a:r>
            <a:r>
              <a:rPr lang="en-US" sz="1950">
                <a:solidFill>
                  <a:srgbClr val="E8EFF8"/>
                </a:solidFill>
                <a:latin typeface="Microsoft YaHei"/>
                <a:ea typeface="Microsoft YaHei"/>
              </a:rPr>
              <a:t> —— </a:t>
            </a:r>
            <a:r>
              <a:rPr lang="zh-CN" sz="1950">
                <a:solidFill>
                  <a:srgbClr val="E8EFF8"/>
                </a:solidFill>
                <a:latin typeface="Microsoft YaHei"/>
                <a:ea typeface="Microsoft YaHei"/>
              </a:rPr>
              <a:t>把「收藏的碎片」转化为「可调用的认知」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2286000" y="4305300"/>
            <a:ext cx="7620000" cy="1266825"/>
          </a:xfrm>
          <a:prstGeom prst="roundRect">
            <a:avLst>
              <a:gd name="adj" fmla="val 75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590800" y="4495800"/>
            <a:ext cx="7010400" cy="88582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60000"/>
              </a:lnSpc>
            </a:pPr>
            <a:r>
              <a:rPr lang="zh-CN" sz="1800">
                <a:solidFill>
                  <a:srgbClr val="FFFFFF"/>
                </a:solidFill>
                <a:latin typeface="Microsoft YaHei"/>
                <a:ea typeface="Microsoft YaHei"/>
              </a:rPr>
              <a:t>信息系统帮你</a:t>
            </a:r>
            <a:r>
              <a:rPr lang="zh-CN" sz="1800" b="1">
                <a:solidFill>
                  <a:srgbClr val="FFC107"/>
                </a:solidFill>
                <a:latin typeface="Microsoft YaHei"/>
                <a:ea typeface="Microsoft YaHei"/>
              </a:rPr>
              <a:t>「管住」已知</a:t>
            </a:r>
            <a:r>
              <a:rPr lang="zh-CN" sz="1800">
                <a:solidFill>
                  <a:srgbClr val="FFFFFF"/>
                </a:solidFill>
                <a:latin typeface="Microsoft YaHei"/>
                <a:ea typeface="Microsoft YaHei"/>
              </a:rPr>
              <a:t>；认知副驾帮你</a:t>
            </a:r>
            <a:r>
              <a:rPr lang="zh-CN" sz="1800" b="1">
                <a:solidFill>
                  <a:srgbClr val="FFC107"/>
                </a:solidFill>
                <a:latin typeface="Microsoft YaHei"/>
                <a:ea typeface="Microsoft YaHei"/>
              </a:rPr>
              <a:t>「照亮」未知</a:t>
            </a:r>
            <a:r>
              <a:rPr lang="zh-CN" sz="1800">
                <a:solidFill>
                  <a:srgbClr val="FFFFFF"/>
                </a:solidFill>
                <a:latin typeface="Microsoft YaHei"/>
                <a:ea typeface="Microsoft YaHei"/>
              </a:rPr>
              <a:t>，并</a:t>
            </a:r>
            <a:r>
              <a:rPr lang="zh-CN" sz="1800" b="1">
                <a:solidFill>
                  <a:srgbClr val="FFC107"/>
                </a:solidFill>
                <a:latin typeface="Microsoft YaHei"/>
                <a:ea typeface="Microsoft YaHei"/>
              </a:rPr>
              <a:t>「逼你」修正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924300" y="61150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BBD0F0"/>
                </a:solidFill>
                <a:latin typeface="Microsoft YaHei"/>
                <a:ea typeface="Microsoft YaHei"/>
              </a:rPr>
              <a:t>江西师范大学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5219700" y="6200775"/>
            <a:ext cx="38100" cy="38100"/>
          </a:xfrm>
          <a:prstGeom prst="roundRect">
            <a:avLst>
              <a:gd name="adj" fmla="val 50000"/>
            </a:avLst>
          </a:prstGeom>
          <a:solidFill>
            <a:srgbClr val="9FBCE8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524500" y="6115050"/>
            <a:ext cx="1076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BBD0F0"/>
                </a:solidFill>
                <a:latin typeface="Microsoft YaHei"/>
                <a:ea typeface="Microsoft YaHei"/>
              </a:rPr>
              <a:t>汇报人：×××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867525" y="6200775"/>
            <a:ext cx="38100" cy="38100"/>
          </a:xfrm>
          <a:prstGeom prst="roundRect">
            <a:avLst>
              <a:gd name="adj" fmla="val 50000"/>
            </a:avLst>
          </a:prstGeom>
          <a:solidFill>
            <a:srgbClr val="9FBCE8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7172325" y="6115050"/>
            <a:ext cx="1104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BBD0F0"/>
                </a:solidFill>
                <a:latin typeface="Microsoft YaHei"/>
                <a:ea typeface="Microsoft YaHei"/>
              </a:rPr>
              <a:t>2026 </a:t>
            </a:r>
            <a:r>
              <a:rPr lang="zh-CN" sz="1350">
                <a:solidFill>
                  <a:srgbClr val="BBD0F0"/>
                </a:solidFill>
                <a:latin typeface="Microsoft YaHei"/>
                <a:ea typeface="Microsoft YaHei"/>
              </a:rPr>
              <a:t>年</a:t>
            </a:r>
            <a:r>
              <a:rPr lang="en-US" sz="1350">
                <a:solidFill>
                  <a:srgbClr val="BBD0F0"/>
                </a:solidFill>
                <a:latin typeface="Microsoft YaHei"/>
                <a:ea typeface="Microsoft YaHei"/>
              </a:rPr>
              <a:t> 10 </a:t>
            </a:r>
            <a:r>
              <a:rPr lang="zh-CN" sz="1350">
                <a:solidFill>
                  <a:srgbClr val="BBD0F0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16" name="" descr="&lt;Slide style={{ width: 1280, height: 720, background: '#FFFFFF', flexDirection: 'row' }}&gt;&#10;    &lt;Box style={{ width: 384, height: 720, background: '#0E3F8C', padding: '96px 48px', justifyContent: 'space-between' }}&gt;&#10;        &lt;Box&gt;&#10;            &lt;Text style={{ fontSize: 44, fontWeight: 'bold', color: '#FFFFFF', letterSpacing: 6 }}&gt;汇报框架&lt;/Text&gt;&#10;            &lt;Box style={{ width: 56, height: 4, background: '#FFC107', marginTop: 18 }} /&gt;&#10;            &lt;Text style={{ fontSize: 20, color: '#BBD0F0', marginTop: 26, lineHeight: 1.7 }}&gt;按评价标准的六个维度组织：每个维度先亮分值，再给对应证据；技术实现单独成章，逐项讲清「怎么做、为什么这样做」。&lt;/Text&gt;&#10;        &lt;/Box&gt;&#10;        &lt;Text style={{ fontSize: 16, color: '#9FBCE8', fontFamily: 'Georgia, serif', letterSpacing: 2 }}&gt;CONTENTS&lt;/Text&gt;&#10;    &lt;/Box&gt;&#10;    &lt;Box style={{ flex: 1, padding: '64px 56px 52px 56px', justifyContent: 'space-between' }}&gt;&#10;        &lt;Box style={{ flexDirection: 'row', alignItems: 'center', gap: 24, padding: '22px 28px', background: '#F7F9FC', borderRadius: 10, border: '1px solid #D6DCE5' }}&gt;&#10;            &lt;Box style={{ width: 60, height: 60, background: '#1E4FA8', borderRadius: 8, justifyContent: 'center', alignItems: 'center' }}&gt;&#10;                &lt;Text style={{ fontSize: 25, fontWeight: 'bold', color: '#FFFFFF' }}&gt;01&lt;/Text&gt;&#10;            &lt;/Box&gt;&#10;            &lt;Box style={{ flex: 1 }}&gt;&#10;                &lt;Text style={{ fontSize: 25, fontWeight: 'bold', color: '#1A2230' }}&gt;项目是什么&lt;/Text&gt;&#10;                &lt;Text style={{ fontSize: 18, color: '#4A5568', marginTop: 6 }}&gt;三个真实痛点、项目定位与五层能力全貌&lt;/Text&gt;&#10;            &lt;/Box&gt;&#10;        &lt;/Box&gt;&#10;        &lt;Box style={{ flexDirection: 'row', alignItems: 'center', gap: 24, padding: '22px 28px', background: '#F7F9FC', borderRadius: 10, border: '1px solid #D6DCE5' }}&gt;&#10;            &lt;Box style={{ width: 60, height: 60, background: '#1E4FA8', borderRadius: 8, justifyContent: 'center', alignItems: 'center' }}&gt;&#10;                &lt;Text style={{ fontSize: 25, fontWeight: 'bold', color: '#FFFFFF' }}&gt;02&lt;/Text&gt;&#10;            &lt;/Box&gt;&#10;            &lt;Box style={{ flex: 1 }}&gt;&#10;                &lt;Text style={{ fontSize: 25, fontWeight: 'bold', color: '#1A2230' }}&gt;从 0 到现在&lt;/Text&gt;&#10;                &lt;Text style={{ fontSize: 18, color: '#4A5568', marginTop: 6 }}&gt;27 天、166 次提交的演进过程与硬数据&lt;/Text&gt;&#10;            &lt;/Box&gt;&#10;        &lt;/Box&gt;&#10;        &lt;Box style={{ flexDirection: 'row', alignItems: 'center', gap: 24, padding: '22px 28px', background: '#E8EFF8', borderRadius: 10, border: '1px solid #3D7BD9' }}&gt;&#10;            &lt;Box style={{ width: 60, height: 60, background: '#0E3F8C', borderRadius: 8, justifyContent: 'center', alignItems: 'center' }}&gt;&#10;                &lt;Text style={{ fontSize: 25, fontWeight: 'bold', color: '#FFC107' }}&gt;03&lt;/Text&gt;&#10;            &lt;/Box&gt;&#10;            &lt;Box style={{ flex: 1 }}&gt;&#10;                &lt;Text style={{ fontSize: 25, fontWeight: 'bold', color: '#1A2230' }}&gt;技术实现 · 五个专页&lt;/Text&gt;&#10;                &lt;Text style={{ fontSize: 18, color: '#4A5568', marginTop: 6 }}&gt;系统架构 / 模型工程 / 检索工程 / 冲突算法 / 可靠性与安全&lt;/Text&gt;&#10;            &lt;/Box&gt;&#10;        &lt;/Box&gt;&#10;        &lt;Box style={{ flexDirection: 'row', alignItems: 'center', gap: 24, padding: '22px 28px', background: '#F7F9FC', borderRadius: 10, border: '1px solid #D6DCE5' }}&gt;&#10;            &lt;Box style={{ width: 60, height: 60, background: '#1E4FA8', borderRadius: 8, justifyContent: 'center', alignItems: 'center' }}&gt;&#10;                &lt;Text style={{ fontSize: 25, fontWeight: 'bold', color: '#FFFFFF' }}&gt;04&lt;/Text&gt;&#10;            &lt;/Box&gt;&#10;            &lt;Box style={{ flex: 1 }}&gt;&#10;                &lt;Text style={{ fontSize: 25, fontWeight: 'bold', color: '#1A2230' }}&gt;对照评价标准 · 逐维度汇报&lt;/Text&gt;&#10;                &lt;Text style={{ fontSize: 18, color: '#4A5568', marginTop: 6 }}&gt;五维度逐项给证据，附六张真实界面实录与三句话总结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0" y="0"/>
            <a:ext cx="36576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57200" y="914400"/>
            <a:ext cx="27432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 spc="450">
                <a:solidFill>
                  <a:srgbClr val="FFFFFF"/>
                </a:solidFill>
                <a:latin typeface="Microsoft YaHei"/>
                <a:ea typeface="Microsoft YaHei"/>
              </a:rPr>
              <a:t>汇报框架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457200" y="1590675"/>
            <a:ext cx="5334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57200" y="1876425"/>
            <a:ext cx="2743200" cy="1562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BBD0F0"/>
                </a:solidFill>
                <a:latin typeface="Microsoft YaHei"/>
                <a:ea typeface="Microsoft YaHei"/>
              </a:rPr>
              <a:t>按评价标准的六个维度组织：每个维度先亮分值，再给对应证据；技术实现单独成章，逐项讲清「怎么做、为什么这样做」。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457200" y="5753100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9FBCE8"/>
                </a:solidFill>
                <a:latin typeface="Georgia"/>
                <a:ea typeface="Georgia"/>
              </a:rPr>
              <a:t>CONTENTS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4191000" y="609600"/>
            <a:ext cx="7467600" cy="990600"/>
          </a:xfrm>
          <a:prstGeom prst="roundRect">
            <a:avLst>
              <a:gd name="adj" fmla="val 961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4457700" y="81915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600575" y="962025"/>
            <a:ext cx="2952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5257800" y="828675"/>
            <a:ext cx="61341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项目是什么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5257800" y="1171575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三个真实痛点、项目定位与五层能力全貌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4191000" y="2200275"/>
            <a:ext cx="7467600" cy="990600"/>
          </a:xfrm>
          <a:prstGeom prst="roundRect">
            <a:avLst>
              <a:gd name="adj" fmla="val 961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4457700" y="2409825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600575" y="2552700"/>
            <a:ext cx="2952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5257800" y="2419350"/>
            <a:ext cx="61341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从</a:t>
            </a:r>
            <a:r>
              <a:rPr lang="en-US" sz="1875" b="1">
                <a:solidFill>
                  <a:srgbClr val="1A2230"/>
                </a:solidFill>
                <a:latin typeface="Microsoft YaHei"/>
                <a:ea typeface="Microsoft YaHei"/>
              </a:rPr>
              <a:t> 0 </a:t>
            </a: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到现在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5257800" y="2762250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27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天、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166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次提交的演进过程与硬数据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4191000" y="3781425"/>
            <a:ext cx="7467600" cy="990600"/>
          </a:xfrm>
          <a:prstGeom prst="roundRect">
            <a:avLst>
              <a:gd name="adj" fmla="val 9615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4457700" y="3990975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600575" y="4133850"/>
            <a:ext cx="2952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FFC107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5257800" y="4000500"/>
            <a:ext cx="61341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技术实现</a:t>
            </a:r>
            <a:r>
              <a:rPr lang="en-US" sz="1875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五个专页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5257800" y="4343400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系统架构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模型工程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检索工程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冲突算法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可靠性与安全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4191000" y="5372100"/>
            <a:ext cx="7467600" cy="990600"/>
          </a:xfrm>
          <a:prstGeom prst="roundRect">
            <a:avLst>
              <a:gd name="adj" fmla="val 961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4457700" y="558165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600575" y="5724525"/>
            <a:ext cx="2952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5257800" y="5591175"/>
            <a:ext cx="61341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对照评价标准</a:t>
            </a:r>
            <a:r>
              <a:rPr lang="en-US" sz="1875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逐维度汇报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5257800" y="5934075"/>
            <a:ext cx="613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五维度逐项给证据，附六张真实界面实录与三句话总结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56" name="" descr="&lt;Slide style={{ width: 1280, height: 720, background: '#0E3F8C', position: 'relative', overflow: 'hidden' }}&gt;&#10;    &lt;svg width={1280} height={720} viewBox='0 0 1280 720' style={{ position: 'absolute', top: 0, left: 0 }}&gt;&#10;        &lt;circle cx='1176' cy='126' r='304' fill='#1E4FA8' opacity='0.32' /&gt;&#10;        &lt;line x1='96' y1='628' x2='1184' y2='628' stroke='#FFFFFF' strokeWidth='1' opacity='0.16' /&gt;&#10;    &lt;/svg&gt;&#10;    &lt;Box style={{ position: 'absolute', top: 96, left: 96, flexDirection: 'row', alignItems: 'flex-end', gap: 32 }}&gt;&#10;        &lt;Text style={{ fontSize: 200, fontWeight: 'bold', color: '#FFFFFF', opacity: 0.26, lineHeight: 1 }}&gt;01&lt;/Text&gt;&#10;        &lt;Box style={{ paddingBottom: 26 }}&gt;&#10;            &lt;Text style={{ fontSize: 52, fontWeight: 'bold', color: '#FFFFFF', letterSpacing: 4 }}&gt;从 0 到现在&lt;/Text&gt;&#10;            &lt;Box style={{ width: 64, height: 4, background: '#FFC107', marginTop: 16 }} /&gt;&#10;        &lt;/Box&gt;&#10;    &lt;/Box&gt;&#10;    &lt;Box style={{ position: 'absolute', top: 430, left: 96, width: 1088 }}&gt;&#10;        &lt;Text style={{ fontSize: 24, color: '#E8EFF8', lineHeight: 1.8 }}&gt;&#10;            项目始于 9 月 6 日的第一次提交，到 10 月 2 日共 &lt;span style={{ fontWeight: 'bold', color: '#FFC107' }}&gt;27 天、166 次提交&lt;/span&gt;。&#10;            中间经历三个阶段：先用最小骨架验证「一次模型调用全链路可追踪、可计费」，再把五层能力逐层做成闭环，&#10;            最后进入判定质量与自主性的深水区。&#10;        &lt;/Text&gt;&#10;    &lt;/Box&gt;&#10;    &lt;Box style={{ position: 'absolute', bottom: 92, left: 96, flexDirection: 'row', gap: 18, alignItems: 'center' }}&gt;&#10;        &lt;Box style={{ padding: '12px 26px', background: '#1E4FA8', borderRadius: 24, border: '1px solid #3D7BD9' }}&gt;&#10;            &lt;Text style={{ fontSize: 20, color: '#FFFFFF' }}&gt;阶段一 · 骨架验证&lt;/Text&gt;&#10;        &lt;/Box&gt;&#10;        &lt;FAIcon name='arrow-right' style={{ fill: '#9FBCE8', width: 22, height: 22 }} /&gt;&#10;        &lt;Box style={{ padding: '12px 26px', background: '#1E4FA8', borderRadius: 24, border: '1px solid #3D7BD9' }}&gt;&#10;            &lt;Text style={{ fontSize: 20, color: '#FFFFFF' }}&gt;阶段二 · 能力闭环&lt;/Text&gt;&#10;        &lt;/Box&gt;&#10;        &lt;FAIcon name='arrow-right' style={{ fill: '#9FBCE8', width: 22, height: 22 }} /&gt;&#10;        &lt;Box style={{ padding: '12px 26px', background: '#1E4FA8', borderRadius: 24, border: '1px solid #3D7BD9' }}&gt;&#10;            &lt;Text style={{ fontSize: 20, color: '#FFFFFF' }}&gt;阶段三 · 深度与自主性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5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3571875" y="2162175"/>
            <a:ext cx="28575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 spc="300">
                <a:solidFill>
                  <a:srgbClr val="FFFFFF"/>
                </a:solidFill>
                <a:latin typeface="Microsoft YaHei"/>
                <a:ea typeface="Microsoft YaHei"/>
              </a:rPr>
              <a:t>从</a:t>
            </a:r>
            <a:r>
              <a:rPr lang="en-US" sz="3900" b="1" spc="300">
                <a:solidFill>
                  <a:srgbClr val="FFFFFF"/>
                </a:solidFill>
                <a:latin typeface="Microsoft YaHei"/>
                <a:ea typeface="Microsoft YaHei"/>
              </a:rPr>
              <a:t> 0 </a:t>
            </a:r>
            <a:r>
              <a:rPr lang="zh-CN" sz="3900" b="1" spc="300">
                <a:solidFill>
                  <a:srgbClr val="FFFFFF"/>
                </a:solidFill>
                <a:latin typeface="Microsoft YaHei"/>
                <a:ea typeface="Microsoft YaHei"/>
              </a:rPr>
              <a:t>到现在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3571875" y="29146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914400" y="9144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FFFFFF">
                    <a:alpha val="26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914400" y="4095750"/>
            <a:ext cx="10363200" cy="1485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项目始于</a:t>
            </a:r>
            <a:r>
              <a:rPr lang="en-US" sz="1800">
                <a:solidFill>
                  <a:srgbClr val="E8EFF8"/>
                </a:solidFill>
                <a:latin typeface="Microsoft YaHei"/>
                <a:ea typeface="Microsoft YaHei"/>
              </a:rPr>
              <a:t> 9 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月</a:t>
            </a:r>
            <a:r>
              <a:rPr lang="en-US" sz="1800">
                <a:solidFill>
                  <a:srgbClr val="E8EFF8"/>
                </a:solidFill>
                <a:latin typeface="Microsoft YaHei"/>
                <a:ea typeface="Microsoft YaHei"/>
              </a:rPr>
              <a:t> 6 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日的第一次提交，到</a:t>
            </a:r>
            <a:r>
              <a:rPr lang="en-US" sz="1800">
                <a:solidFill>
                  <a:srgbClr val="E8EFF8"/>
                </a:solidFill>
                <a:latin typeface="Microsoft YaHei"/>
                <a:ea typeface="Microsoft YaHei"/>
              </a:rPr>
              <a:t> 10 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月</a:t>
            </a:r>
            <a:r>
              <a:rPr lang="en-US" sz="1800">
                <a:solidFill>
                  <a:srgbClr val="E8EFF8"/>
                </a:solidFill>
                <a:latin typeface="Microsoft YaHei"/>
                <a:ea typeface="Microsoft YaHei"/>
              </a:rPr>
              <a:t> 2 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日共</a:t>
            </a:r>
            <a:r>
              <a:rPr lang="en-US" sz="1800">
                <a:solidFill>
                  <a:srgbClr val="E8EFF8"/>
                </a:solidFill>
                <a:latin typeface="Microsoft YaHei"/>
                <a:ea typeface="Microsoft YaHei"/>
              </a:rPr>
              <a:t> </a:t>
            </a:r>
            <a:r>
              <a:rPr lang="en-US" sz="1800" b="1">
                <a:solidFill>
                  <a:srgbClr val="FFC107"/>
                </a:solidFill>
                <a:latin typeface="Microsoft YaHei"/>
                <a:ea typeface="Microsoft YaHei"/>
              </a:rPr>
              <a:t>27 </a:t>
            </a:r>
            <a:r>
              <a:rPr lang="zh-CN" sz="1800" b="1">
                <a:solidFill>
                  <a:srgbClr val="FFC107"/>
                </a:solidFill>
                <a:latin typeface="Microsoft YaHei"/>
                <a:ea typeface="Microsoft YaHei"/>
              </a:rPr>
              <a:t>天、</a:t>
            </a:r>
            <a:r>
              <a:rPr lang="en-US" sz="1800" b="1">
                <a:solidFill>
                  <a:srgbClr val="FFC107"/>
                </a:solidFill>
                <a:latin typeface="Microsoft YaHei"/>
                <a:ea typeface="Microsoft YaHei"/>
              </a:rPr>
              <a:t>166 </a:t>
            </a:r>
            <a:r>
              <a:rPr lang="zh-CN" sz="1800" b="1">
                <a:solidFill>
                  <a:srgbClr val="FFC107"/>
                </a:solidFill>
                <a:latin typeface="Microsoft YaHei"/>
                <a:ea typeface="Microsoft YaHei"/>
              </a:rPr>
              <a:t>次提交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。</a:t>
            </a:r>
            <a:r>
              <a:rPr lang="en-US" sz="1800">
                <a:solidFill>
                  <a:srgbClr val="E8EFF8"/>
                </a:solidFill>
                <a:latin typeface="Microsoft YaHei"/>
                <a:ea typeface="Microsoft YaHei"/>
              </a:rPr>
              <a:t> 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中间经历三个阶段：先用最小骨架验证「一次模型调用全链路可追踪、可计费」，再把五层能力逐层做成闭环，</a:t>
            </a:r>
            <a:r>
              <a:rPr lang="en-US" sz="1800">
                <a:solidFill>
                  <a:srgbClr val="E8EFF8"/>
                </a:solidFill>
                <a:latin typeface="Microsoft YaHei"/>
                <a:ea typeface="Microsoft YaHei"/>
              </a:rPr>
              <a:t> 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最后进入判定质量与自主性的深水区。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914400" y="5524500"/>
            <a:ext cx="1990725" cy="457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1162050" y="5638800"/>
            <a:ext cx="1495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阶段一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骨架验证</a:t>
            </a:r>
            <a:endParaRPr/>
          </a:p>
        </p:txBody>
      </p:sp>
      <p:pic>
        <p:nvPicPr>
          <p:cNvPr id="5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076575" y="5648325"/>
            <a:ext cx="209550" cy="209550"/>
          </a:xfrm>
          <a:prstGeom prst="rect">
            <a:avLst/>
          </a:prstGeom>
          <a:ln/>
        </p:spPr>
      </p:pic>
      <p:sp>
        <p:nvSpPr>
          <p:cNvPr id="566" name=""/>
          <p:cNvSpPr/>
          <p:nvPr/>
        </p:nvSpPr>
        <p:spPr>
          <a:xfrm rot="0" flipH="0" flipV="0">
            <a:off x="3457575" y="5524500"/>
            <a:ext cx="1990725" cy="457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3705225" y="5638800"/>
            <a:ext cx="1495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阶段二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能力闭环</a:t>
            </a:r>
            <a:endParaRPr/>
          </a:p>
        </p:txBody>
      </p:sp>
      <p:pic>
        <p:nvPicPr>
          <p:cNvPr id="5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619750" y="5648325"/>
            <a:ext cx="209550" cy="209550"/>
          </a:xfrm>
          <a:prstGeom prst="rect">
            <a:avLst/>
          </a:prstGeom>
          <a:ln/>
        </p:spPr>
      </p:pic>
      <p:sp>
        <p:nvSpPr>
          <p:cNvPr id="569" name=""/>
          <p:cNvSpPr/>
          <p:nvPr/>
        </p:nvSpPr>
        <p:spPr>
          <a:xfrm rot="0" flipH="0" flipV="0">
            <a:off x="6000750" y="5524500"/>
            <a:ext cx="2371725" cy="457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6248400" y="5638800"/>
            <a:ext cx="1876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阶段三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深度与自主性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71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18px 40px 12px 40px' }}&gt;&#10;        &lt;Text style={{ fontSize: 34, fontWeight: 'bold', color: '#0E3F8C' }}&gt;项目是什么 · 解决什么问题&lt;/Text&gt;&#10;        &lt;Text style={{ fontSize: 17, color: '#8B97A8' }}&gt;项目概览&lt;/Text&gt;&#10;    &lt;/Box&gt;&#10;    &lt;Box style={{ flex: 1, flexDirection: 'row', gap: 24, padding: '0 40px' }}&gt;&#10;        &lt;Box style={{ width: 700, flexDirection: 'column', justifyContent: 'space-between' }}&gt;&#10;            &lt;Box style={{ height: 176, padding: '22px 28px', background: '#F7F9FC', borderRadius: 10, border: '1px solid #D6DCE5', borderLeft: '5px solid #1E4FA8' }}&gt;&#10;                &lt;Box style={{ flexDirection: 'row', alignItems: 'center', gap: 14 }}&gt;&#10;                    &lt;FAIcon name='bookmark' style={{ fill: '#1E4FA8', width: 30, height: 30 }} /&gt;&#10;                    &lt;Text style={{ fontSize: 26, fontWeight: 'bold', color: '#1A2230' }}&gt;收藏即遗忘&lt;/Text&gt;&#10;                &lt;/Box&gt;&#10;                &lt;Text style={{ fontSize: 21, color: '#4A5568', marginTop: 12, lineHeight: 1.6 }}&gt;&#10;                    书签、收藏夹、稍后读越堆越厚；真要用的时候只记得「橙色封面、好像讲拖延症」，精准搜索返回的却是「未找到」。&#10;                &lt;/Text&gt;&#10;            &lt;/Box&gt;&#10;            &lt;Box style={{ height: 176, padding: '22px 28px', background: '#F7F9FC', borderRadius: 10, border: '1px solid #D6DCE5', borderLeft: '5px solid #1E4FA8' }}&gt;&#10;                &lt;Box style={{ flexDirection: 'row', alignItems: 'center', gap: 14 }}&gt;&#10;                    &lt;FAIcon name='book' style={{ fill: '#1E4FA8', width: 30, height: 30 }} /&gt;&#10;                    &lt;Text style={{ fontSize: 26, fontWeight: 'bold', color: '#1A2230' }}&gt;阅读未消化&lt;/Text&gt;&#10;                &lt;/Box&gt;&#10;                &lt;Text style={{ fontSize: 21, color: '#4A5568', marginTop: 12, lineHeight: 1.6 }}&gt;&#10;                    划线划了很多，读完还是说不出这本书主张什么、和自己的想法哪里不一样——阅读行为发生了，认知没有发生。&#10;                &lt;/Text&gt;&#10;            &lt;/Box&gt;&#10;            &lt;Box style={{ height: 176, padding: '22px 28px', background: '#F7F9FC', borderRadius: 10, border: '1px solid #D6DCE5', borderLeft: '5px solid #1E4FA8' }}&gt;&#10;                &lt;Box style={{ flexDirection: 'row', alignItems: 'center', gap: 14 }}&gt;&#10;                    &lt;FAIcon name='puzzle-piece' style={{ fill: '#1E4FA8', width: 30, height: 30 }} /&gt;&#10;                    &lt;Text style={{ fontSize: 26, fontWeight: 'bold', color: '#1A2230' }}&gt;积累无体系&lt;/Text&gt;&#10;                &lt;/Box&gt;&#10;                &lt;Text style={{ fontSize: 21, color: '#4A5568', marginTop: 12, lineHeight: 1.6 }}&gt;&#10;                    笔记散落在各个工具里，半年前收藏的和昨天收藏的观点可能正好相反——自己不知道，更没有人提醒。&#10;                &lt;/Text&gt;&#10;            &lt;/Box&gt;&#10;        &lt;/Box&gt;&#10;        &lt;Box style={{ flex: 1, height: 560, background: '#0E3F8C', borderRadius: 10, padding: '34px 32px', justifyContent: 'space-between' }}&gt;&#10;            &lt;Box&gt;&#10;                &lt;Text style={{ fontSize: 20, color: '#9FBCE8', letterSpacing: 3 }}&gt;定位宣言&lt;/Text&gt;&#10;                &lt;Text style={{ fontSize: 32, fontWeight: 'bold', color: '#FFFFFF', marginTop: 16, lineHeight: 1.5 }}&gt;&#10;                    认知副驾&lt;br /&gt;不是又一个笔记软件&#10;                &lt;/Text&gt;&#10;                &lt;Box style={{ width: 48, height: 3, background: '#FFC107', marginTop: 18 }} /&gt;&#10;            &lt;/Box&gt;&#10;            &lt;Text style={{ fontSize: 22, color: '#E8EFF8', lineHeight: 1.75 }}&gt;&#10;                笔记软件和信息系统帮你&lt;span style={{ fontWeight: 'bold', color: '#FFC107' }}&gt;「管住」已知&lt;/span&gt;；&#10;                认知副驾做的是另一半：&lt;span style={{ fontWeight: 'bold', color: '#FFC107' }}&gt;「照亮」未知&lt;/span&gt;——&#10;                你的矛盾在哪、盲区在哪、病根在哪，并&lt;span style={{ fontWeight: 'bold', color: '#FFC107' }}&gt;「逼你」修正&lt;/span&gt;。&#10;            &lt;/Text&gt;&#10;            &lt;Box style={{ padding: '14px 18px', background: 'rgba(255,255,255,0.08)', borderRadius: 8 }}&gt;&#10;                &lt;Text style={{ fontSize: 19, color: '#BBD0F0', lineHeight: 1.6 }}&gt;&#10;                    实现方式：五层能力梯度（L1–L5），从被动响应到主动诊断，每一层都做信息系统做不到的事。&#10;                &lt;/Text&gt;&#10;            &lt;/Box&gt;&#10;        &lt;/Box&gt;&#10;    &lt;/Box&gt;&#10;    &lt;Box style={{ flexDirection: 'row', justifyContent: 'space-between', alignItems: 'center', padding: '12px 40px 16px 40px' }}&gt;&#10;        &lt;Text style={{ fontSize: 14, color: '#8B97A8' }}&gt;认知副驾 · Cognitive Copilot&lt;/Text&gt;&#10;        &lt;Text style={{ fontSize: 14, color: '#1E4FA8' }}&gt;04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3905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项目是什么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解决什么问题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11163300" y="4381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项目概览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428625" y="752475"/>
            <a:ext cx="6667500" cy="1676400"/>
          </a:xfrm>
          <a:prstGeom prst="roundRect">
            <a:avLst>
              <a:gd name="adj" fmla="val 568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77" name=""/>
          <p:cNvSpPr/>
          <p:nvPr/>
        </p:nvSpPr>
        <p:spPr>
          <a:xfrm rot="0" flipH="0" flipV="0">
            <a:off x="428625" y="752475"/>
            <a:ext cx="6667500" cy="1676400"/>
          </a:xfrm>
          <a:custGeom>
            <a:pathLst>
              <a:path w="700" h="17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71"/>
                </a:lnTo>
                <a:cubicBezTo>
                  <a:pt x="5" y="173"/>
                  <a:pt x="7" y="175"/>
                  <a:pt x="9" y="176"/>
                </a:cubicBezTo>
                <a:cubicBezTo>
                  <a:pt x="4" y="175"/>
                  <a:pt x="0" y="171"/>
                  <a:pt x="0" y="16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5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5325" y="971550"/>
            <a:ext cx="285750" cy="285750"/>
          </a:xfrm>
          <a:prstGeom prst="rect">
            <a:avLst/>
          </a:prstGeom>
          <a:ln/>
        </p:spPr>
      </p:pic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1114425" y="962025"/>
            <a:ext cx="1238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收藏即遗忘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695325" y="1381125"/>
            <a:ext cx="608647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书签、收藏夹、稍后读越堆越厚；真要用的时候只记得「橙色封面、好像讲拖延症」，精准搜索返回的却是「未找到」。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428625" y="2752725"/>
            <a:ext cx="6667500" cy="1676400"/>
          </a:xfrm>
          <a:prstGeom prst="roundRect">
            <a:avLst>
              <a:gd name="adj" fmla="val 568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82" name=""/>
          <p:cNvSpPr/>
          <p:nvPr/>
        </p:nvSpPr>
        <p:spPr>
          <a:xfrm rot="0" flipH="0" flipV="0">
            <a:off x="428625" y="2752725"/>
            <a:ext cx="6667500" cy="1676400"/>
          </a:xfrm>
          <a:custGeom>
            <a:pathLst>
              <a:path w="700" h="17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71"/>
                </a:lnTo>
                <a:cubicBezTo>
                  <a:pt x="5" y="173"/>
                  <a:pt x="7" y="175"/>
                  <a:pt x="9" y="176"/>
                </a:cubicBezTo>
                <a:cubicBezTo>
                  <a:pt x="4" y="175"/>
                  <a:pt x="0" y="171"/>
                  <a:pt x="0" y="16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5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95325" y="2971800"/>
            <a:ext cx="285750" cy="285750"/>
          </a:xfrm>
          <a:prstGeom prst="rect">
            <a:avLst/>
          </a:prstGeom>
          <a:ln/>
        </p:spPr>
      </p:pic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1114425" y="2962275"/>
            <a:ext cx="1238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阅读未消化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695325" y="3381375"/>
            <a:ext cx="608647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划线划了很多，读完还是说不出这本书主张什么、和自己的想法哪里不一样——阅读行为发生了，认知没有发生。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428625" y="4752975"/>
            <a:ext cx="6667500" cy="1676400"/>
          </a:xfrm>
          <a:prstGeom prst="roundRect">
            <a:avLst>
              <a:gd name="adj" fmla="val 568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87" name=""/>
          <p:cNvSpPr/>
          <p:nvPr/>
        </p:nvSpPr>
        <p:spPr>
          <a:xfrm rot="0" flipH="0" flipV="0">
            <a:off x="428625" y="4752975"/>
            <a:ext cx="6667500" cy="1676400"/>
          </a:xfrm>
          <a:custGeom>
            <a:pathLst>
              <a:path w="700" h="17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71"/>
                </a:lnTo>
                <a:cubicBezTo>
                  <a:pt x="5" y="173"/>
                  <a:pt x="7" y="175"/>
                  <a:pt x="9" y="176"/>
                </a:cubicBezTo>
                <a:cubicBezTo>
                  <a:pt x="4" y="175"/>
                  <a:pt x="0" y="171"/>
                  <a:pt x="0" y="16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5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95325" y="4972050"/>
            <a:ext cx="285750" cy="285750"/>
          </a:xfrm>
          <a:prstGeom prst="rect">
            <a:avLst/>
          </a:prstGeom>
          <a:ln/>
        </p:spPr>
      </p:pic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114425" y="4962525"/>
            <a:ext cx="1238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积累无体系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695325" y="5381625"/>
            <a:ext cx="608647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笔记散落在各个工具里，半年前收藏的和昨天收藏的观点可能正好相反——自己不知道，更没有人提醒。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7277100" y="752475"/>
            <a:ext cx="4533900" cy="5334000"/>
          </a:xfrm>
          <a:prstGeom prst="roundRect">
            <a:avLst>
              <a:gd name="adj" fmla="val 210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7581900" y="1076325"/>
            <a:ext cx="392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225">
                <a:solidFill>
                  <a:srgbClr val="9FBCE8"/>
                </a:solidFill>
                <a:latin typeface="Microsoft YaHei"/>
                <a:ea typeface="Microsoft YaHei"/>
              </a:rPr>
              <a:t>定位宣言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7581900" y="1457325"/>
            <a:ext cx="3924300" cy="1104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认知副驾</a:t>
            </a:r>
            <a:endParaRPr/>
          </a:p>
          <a:p>
            <a:pPr>
              <a:lnSpc>
                <a:spcPct val="15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不是又一个笔记软件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7581900" y="2733675"/>
            <a:ext cx="4572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7581900" y="2762250"/>
            <a:ext cx="3924300" cy="1762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笔记软件和信息系统帮你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「管住」已知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；</a:t>
            </a:r>
            <a:r>
              <a:rPr lang="en-US" sz="1650">
                <a:solidFill>
                  <a:srgbClr val="E8EFF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认知副驾做的是另一半：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「照亮」未知</a:t>
            </a:r>
            <a:r>
              <a:rPr lang="en-US" sz="1650">
                <a:solidFill>
                  <a:srgbClr val="E8EFF8"/>
                </a:solidFill>
                <a:latin typeface="Microsoft YaHei"/>
                <a:ea typeface="Microsoft YaHei"/>
              </a:rPr>
              <a:t>—— 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你的矛盾在哪、盲区在哪、病根在哪，并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「逼你」修正</a:t>
            </a: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7581900" y="4524375"/>
            <a:ext cx="3924300" cy="1314450"/>
          </a:xfrm>
          <a:prstGeom prst="roundRect">
            <a:avLst>
              <a:gd name="adj" fmla="val 5797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7753350" y="4657725"/>
            <a:ext cx="3581400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BBD0F0"/>
                </a:solidFill>
                <a:latin typeface="Microsoft YaHei"/>
                <a:ea typeface="Microsoft YaHei"/>
              </a:rPr>
              <a:t>实现方式：五层能力梯度（</a:t>
            </a:r>
            <a:r>
              <a:rPr lang="en-US" sz="1425">
                <a:solidFill>
                  <a:srgbClr val="BBD0F0"/>
                </a:solidFill>
                <a:latin typeface="Microsoft YaHei"/>
                <a:ea typeface="Microsoft YaHei"/>
              </a:rPr>
              <a:t>L1–L5</a:t>
            </a:r>
            <a:r>
              <a:rPr lang="zh-CN" sz="1425">
                <a:solidFill>
                  <a:srgbClr val="BBD0F0"/>
                </a:solidFill>
                <a:latin typeface="Microsoft YaHei"/>
                <a:ea typeface="Microsoft YaHei"/>
              </a:rPr>
              <a:t>），从被动响应到主动诊断，每一层都做信息系统做不到的事。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381000" y="654367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11353800" y="65436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04 / 27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00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18px 40px 10px 40px' }}&gt;&#10;        &lt;Text style={{ fontSize: 34, fontWeight: 'bold', color: '#0E3F8C' }}&gt;系统全貌 · 五层能力梯度&lt;/Text&gt;&#10;        &lt;Text style={{ fontSize: 17, color: '#8B97A8' }}&gt;从被动响应到主动诊断&lt;/Text&gt;&#10;    &lt;/Box&gt;&#10;    &lt;Box style={{ flex: 1, flexDirection: 'row', gap: 32, padding: '4px 40px 0 40px' }}&gt;&#10;        &lt;Box style={{ width: 640, alignItems: 'center', justifyContent: 'center' }}&gt;&#10;            &lt;svg width={620} height={470} viewBox='0 0 620 470'&gt;&#10;                &lt;text x='12' y='24' fontSize='19' fill='#4A5568'&gt;被动响应&lt;/text&gt;&#10;                &lt;text x='500' y='24' fontSize='19' fill='#1E4FA8' fontWeight='bold'&gt;主动诊断&lt;/text&gt;&#10;                &lt;line x1='120' y1='30' x2='480' y2='30' stroke='#D6DCE5' strokeWidth='1.5' /&gt;&#10;                &lt;polygon points='480,24 494,30 480,36' fill='#1E4FA8' /&gt;&#10;                &lt;rect x='10' y='278' width='104' height='160' rx='6' fill='#BBD0F0' /&gt;&#10;                &lt;text x='62' y='312' fontSize='24' fontWeight='bold' fill='#0E3F8C' textAnchor='middle'&gt;L1&lt;/text&gt;&#10;                &lt;text x='62' y='342' fontSize='19' fill='#0E3F8C' textAnchor='middle'&gt;模糊挖掘&lt;/text&gt;&#10;                &lt;rect x='130' y='210' width='104' height='228' rx='6' fill='#8FB0E4' /&gt;&#10;                &lt;text x='182' y='244' fontSize='24' fontWeight='bold' fill='#0E3F8C' textAnchor='middle'&gt;L2&lt;/text&gt;&#10;                &lt;text x='182' y='274' fontSize='19' fill='#0E3F8C' textAnchor='middle'&gt;冲突检测&lt;/text&gt;&#10;                &lt;rect x='250' y='142' width='104' height='296' rx='6' fill='#5C8AD4' /&gt;&#10;                &lt;text x='302' y='176' fontSize='24' fontWeight='bold' fill='#FFFFFF' textAnchor='middle'&gt;L3&lt;/text&gt;&#10;                &lt;text x='302' y='206' fontSize='19' fill='#FFFFFF' textAnchor='middle'&gt;认知助产&lt;/text&gt;&#10;                &lt;rect x='370' y='74' width='104' height='364' rx='6' fill='#3D7BD9' /&gt;&#10;                &lt;text x='422' y='108' fontSize='24' fontWeight='bold' fill='#FFFFFF' textAnchor='middle'&gt;L4&lt;/text&gt;&#10;                &lt;text x='422' y='138' fontSize='19' fill='#FFFFFF' textAnchor='middle'&gt;路径修正&lt;/text&gt;&#10;                &lt;rect x='490' y='6' width='104' height='432' rx='6' fill='#1E4FA8' /&gt;&#10;                &lt;text x='542' y='40' fontSize='24' fontWeight='bold' fill='#FFFFFF' textAnchor='middle'&gt;L5&lt;/text&gt;&#10;                &lt;text x='542' y='70' fontSize='19' fill='#FFFFFF' textAnchor='middle'&gt;偏误诊断&lt;/text&gt;&#10;                &lt;line x1='0' y1='442' x2='620' y2='442' stroke='#0E3F8C' strokeWidth='2' /&gt;&#10;                &lt;text x='10' y='466' fontSize='17' fill='#8B97A8'&gt;认知加工深度递增：从「帮你找回」到「替你看病」&lt;/text&gt;&#10;            &lt;/svg&gt;&#10;        &lt;/Box&gt;&#10;        &lt;Box style={{ flex: 1, flexDirection: 'column', justifyContent: 'space-between', padding: '4px 0' }}&gt;&#10;            &lt;Box style={{ flexDirection: 'row', alignItems: 'center', gap: 14 }}&gt;&#10;                &lt;Box style={{ width: 52, height: 34, background: '#E8EFF8', borderRadius: 6, justifyContent: 'center', alignItems: 'center' }}&gt;&#10;                    &lt;Text style={{ fontSize: 17, fontWeight: 'bold', color: '#0E3F8C' }}&gt;L1&lt;/Text&gt;&#10;                &lt;/Box&gt;&#10;                &lt;Text style={{ flex: 1, fontSize: 20, color: '#4A5568', lineHeight: 1.5 }}&gt;凭模糊线索找回知识，线索不足主动追问&lt;/Text&gt;&#10;            &lt;/Box&gt;&#10;            &lt;Box style={{ flexDirection: 'row', alignItems: 'center', gap: 14 }}&gt;&#10;                &lt;Box style={{ width: 52, height: 34, background: '#E8EFF8', borderRadius: 6, justifyContent: 'center', alignItems: 'center' }}&gt;&#10;                    &lt;Text style={{ fontSize: 17, fontWeight: 'bold', color: '#0E3F8C' }}&gt;L2&lt;/Text&gt;&#10;                &lt;/Box&gt;&#10;                &lt;Text style={{ flex: 1, fontSize: 20, color: '#4A5568', lineHeight: 1.5 }}&gt;发现知识体系里的「内战」：对立主张自动识别&lt;/Text&gt;&#10;            &lt;/Box&gt;&#10;            &lt;Box style={{ flexDirection: 'row', alignItems: 'center', gap: 14 }}&gt;&#10;                &lt;Box style={{ width: 52, height: 34, background: '#E8EFF8', borderRadius: 6, justifyContent: 'center', alignItems: 'center' }}&gt;&#10;                    &lt;Text style={{ fontSize: 17, fontWeight: 'bold', color: '#0E3F8C' }}&gt;L3&lt;/Text&gt;&#10;                &lt;/Box&gt;&#10;                &lt;Text style={{ flex: 1, fontSize: 20, color: '#4A5568', lineHeight: 1.5 }}&gt;生成你「该问但没问」的问题，点名结构性盲区&lt;/Text&gt;&#10;            &lt;/Box&gt;&#10;            &lt;Box style={{ flexDirection: 'row', alignItems: 'center', gap: 14 }}&gt;&#10;                &lt;Box style={{ width: 52, height: 34, background: '#E8EFF8', borderRadius: 6, justifyContent: 'center', alignItems: 'center' }}&gt;&#10;                    &lt;Text style={{ fontSize: 17, fontWeight: 'bold', color: '#0E3F8C' }}&gt;L4&lt;/Text&gt;&#10;                &lt;/Box&gt;&#10;                &lt;Text style={{ flex: 1, fontSize: 20, color: '#4A5568', lineHeight: 1.5 }}&gt;计划赶不上变化时自主重排，偏离信号本地计算&lt;/Text&gt;&#10;            &lt;/Box&gt;&#10;            &lt;Box style={{ flexDirection: 'row', alignItems: 'center', gap: 14 }}&gt;&#10;                &lt;Box style={{ width: 52, height: 34, background: '#E8EFF8', borderRadius: 6, justifyContent: 'center', alignItems: 'center' }}&gt;&#10;                    &lt;Text style={{ fontSize: 17, fontWeight: 'bold', color: '#0E3F8C' }}&gt;L5&lt;/Text&gt;&#10;                &lt;/Box&gt;&#10;                &lt;Text style={{ flex: 1, fontSize: 20, color: '#4A5568', lineHeight: 1.5 }}&gt;链式归因解释行为背后的「病根」，建议回写计划&lt;/Text&gt;&#10;            &lt;/Box&gt;&#10;            &lt;Box style={{ padding: '14px 18px', background: '#F0F5FC', borderRadius: 8, borderLeft: '4px solid #1E4FA8' }}&gt;&#10;                &lt;Text style={{ fontSize: 18, color: '#1A2230', lineHeight: 1.6 }}&gt;&#10;                    &lt;span style={{ fontWeight: 'bold', color: '#0E3F8C' }}&gt;四块基础设施：&lt;/span&gt;统一模型网关 · 异步任务框架（幂等/重试/死信）· 行为埋点 · 推送与调度&#10;                &lt;/Text&gt;&#10;            &lt;/Box&gt;&#10;        &lt;/Box&gt;&#10;    &lt;/Box&gt;&#10;    &lt;Box style={{ flexDirection: 'row', justifyContent: 'space-between', alignItems: 'center', padding: '10px 40px 14px 40px' }}&gt;&#10;        &lt;Text style={{ fontSize: 14, color: '#8B97A8' }}&gt;认知副驾 · Cognitive Copilot&lt;/Text&gt;&#10;        &lt;Text style={{ fontSize: 14, color: '#1E4FA8' }}&gt;05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2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3581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系统全貌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五层能力梯度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10191750" y="438150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从被动响应到主动诊断</a:t>
            </a:r>
            <a:endParaRPr/>
          </a:p>
        </p:txBody>
      </p:sp>
      <p:pic>
        <p:nvPicPr>
          <p:cNvPr id="6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381125"/>
            <a:ext cx="5905500" cy="4476750"/>
          </a:xfrm>
          <a:prstGeom prst="rect">
            <a:avLst/>
          </a:prstGeom>
          <a:ln/>
        </p:spPr>
      </p:pic>
      <p:sp>
        <p:nvSpPr>
          <p:cNvPr id="606" name=""/>
          <p:cNvSpPr/>
          <p:nvPr/>
        </p:nvSpPr>
        <p:spPr>
          <a:xfrm rot="0" flipH="0" flipV="0">
            <a:off x="6781800" y="819150"/>
            <a:ext cx="49530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6934200" y="885825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7410450" y="809625"/>
            <a:ext cx="44005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凭模糊线索找回知识，线索不足主动追问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6781800" y="1752600"/>
            <a:ext cx="49530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6934200" y="1819275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7410450" y="1743075"/>
            <a:ext cx="44005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发现知识体系里的「内战」：对立主张自动识别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6781800" y="2695575"/>
            <a:ext cx="49530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6934200" y="2762250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7410450" y="2686050"/>
            <a:ext cx="44005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生成你「该问但没问」的问题，点名结构性盲区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6781800" y="3629025"/>
            <a:ext cx="49530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6934200" y="3695700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L4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7410450" y="3619500"/>
            <a:ext cx="44005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计划赶不上变化时自主重排，偏离信号本地计算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6781800" y="4572000"/>
            <a:ext cx="495300" cy="323850"/>
          </a:xfrm>
          <a:prstGeom prst="roundRect">
            <a:avLst>
              <a:gd name="adj" fmla="val 1764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6934200" y="4638675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L5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7410450" y="4562475"/>
            <a:ext cx="44005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链式归因解释行为背后的「病根」，建议回写计划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6819900" y="5495925"/>
            <a:ext cx="5029200" cy="933450"/>
          </a:xfrm>
          <a:prstGeom prst="roundRect">
            <a:avLst>
              <a:gd name="adj" fmla="val 816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22" name=""/>
          <p:cNvSpPr/>
          <p:nvPr/>
        </p:nvSpPr>
        <p:spPr>
          <a:xfrm rot="0" flipH="0" flipV="0">
            <a:off x="6819900" y="5495925"/>
            <a:ext cx="5029200" cy="933450"/>
          </a:xfrm>
          <a:custGeom>
            <a:pathLst>
              <a:path w="528" h="9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4"/>
                </a:lnTo>
                <a:cubicBezTo>
                  <a:pt x="4" y="96"/>
                  <a:pt x="5" y="98"/>
                  <a:pt x="7" y="98"/>
                </a:cubicBezTo>
                <a:cubicBezTo>
                  <a:pt x="3" y="98"/>
                  <a:pt x="0" y="94"/>
                  <a:pt x="0" y="9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991350" y="5629275"/>
            <a:ext cx="46482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四块基础设施：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统一模型网关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异步任务框架（幂等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重试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死信）·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行为埋点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推送与调度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381000" y="656272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11353800" y="6562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05 / 27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26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16px 40px 8px 40px' }}&gt;&#10;        &lt;Text style={{ fontSize: 34, fontWeight: 'bold', color: '#0E3F8C' }}&gt;27 天 · 从 0 到可用系统&lt;/Text&gt;&#10;        &lt;Text style={{ fontSize: 17, color: '#8B97A8' }}&gt;2026-09-06 首次提交 → 2026-10-02&lt;/Text&gt;&#10;    &lt;/Box&gt;&#10;    &lt;Box style={{ flex: 1, flexDirection: 'row', gap: 40, padding: '2px 40px 0 40px', alignItems: 'center' }}&gt;&#10;        &lt;Box style={{ width: 460, height: 404, background: '#0E3F8C', borderRadius: 12, padding: '38px 40px', justifyContent: 'space-between' }}&gt;&#10;            &lt;Box&gt;&#10;                &lt;Text style={{ fontSize: 22, color: '#9FBCE8', letterSpacing: 2 }}&gt;Git 提交&lt;/Text&gt;&#10;                &lt;Text style={{ fontSize: 124, fontWeight: 'bold', color: '#FFFFFF', lineHeight: 1.05, marginTop: 6 }}&gt;166&lt;/Text&gt;&#10;                &lt;Text style={{ fontSize: 24, color: '#FFC107', fontWeight: 'bold', marginTop: 2 }}&gt;次&lt;/Text&gt;&#10;            &lt;/Box&gt;&#10;            &lt;Text style={{ fontSize: 21, color: '#E8EFF8', lineHeight: 1.7 }}&gt;&#10;                其中 &lt;span style={{ fontWeight: 'bold', color: '#FFC107' }}&gt;22 天&lt;/span&gt;有提交记录，粒度真实、主题明确——过程可追溯，工作量可核查。&#10;            &lt;/Text&gt;&#10;        &lt;/Box&gt;&#10;        &lt;Box style={{ flex: 1, height: 404, flexDirection: 'column', justifyContent: 'space-between' }}&gt;&#10;            &lt;Box style={{ flexDirection: 'row', alignItems: 'flex-end', gap: 18, padding: '0 0 16px 0', borderBottom: '2px solid #E8EFF8' }}&gt;&#10;                &lt;Text style={{ fontSize: 70, fontWeight: 'bold', color: '#1E4FA8', lineHeight: 1 }}&gt;660&lt;/Text&gt;&#10;                &lt;Text style={{ fontSize: 22, color: '#4A5568', paddingBottom: 6 }}&gt;项自动化测试 · 全绿&lt;/Text&gt;&#10;                &lt;Text style={{ fontSize: 20, color: '#8B97A8', paddingBottom: 6, marginLeft: 'auto' }}&gt;658 通过 / 2 跳过 · 起点 7 项&lt;/Text&gt;&#10;            &lt;/Box&gt;&#10;            &lt;Box style={{ flexDirection: 'row', alignItems: 'flex-end', gap: 18, padding: '0 0 16px 0', borderBottom: '2px solid #E8EFF8' }}&gt;&#10;                &lt;Text style={{ fontSize: 70, fontWeight: 'bold', color: '#1E4FA8', lineHeight: 1 }}&gt;10&lt;span style={{ fontSize: 36 }}&gt; 项&lt;/span&gt;&lt;/Text&gt;&#10;                &lt;Text style={{ fontSize: 22, color: '#4A5568', paddingBottom: 6 }}&gt;能力全部接入对话入口&lt;/Text&gt;&#10;                &lt;Text style={{ fontSize: 20, color: '#8B97A8', paddingBottom: 6, marginLeft: 'auto' }}&gt;对话即入口 · 一句话调用&lt;/Text&gt;&#10;            &lt;/Box&gt;&#10;            &lt;Box style={{ flexDirection: 'row', alignItems: 'flex-end', gap: 18 }}&gt;&#10;                &lt;Text style={{ fontSize: 70, fontWeight: 'bold', color: '#1E4FA8', lineHeight: 1 }}&gt;19&lt;span style={{ fontSize: 36 }}&gt; 篇&lt;/span&gt;&lt;/Text&gt;&#10;                &lt;Text style={{ fontSize: 22, color: '#4A5568', paddingBottom: 6 }}&gt;开发日志 · 20 条复盘沉淀&lt;/Text&gt;&#10;                &lt;Text style={{ fontSize: 20, color: '#8B97A8', paddingBottom: 6, marginLeft: 'auto' }}&gt;46 个接口 · 15+ 张数据表&lt;/Text&gt;&#10;            &lt;/Box&gt;&#10;        &lt;/Box&gt;&#10;    &lt;/Box&gt;&#10;    &lt;Box style={{ margin: '8px 40px 0 40px', padding: '12px 24px', background: '#F0F5FC', borderRadius: 8, borderLeft: '5px solid #1E4FA8' }}&gt;&#10;        &lt;Text style={{ fontSize: 20, color: '#1A2230', lineHeight: 1.6 }}&gt;&#10;            &lt;span style={{ fontWeight: 'bold', color: '#0E3F8C' }}&gt;这个规模的含义：&lt;/span&gt;不是最后一周突击出来的，而是 27 天里持续迭代——22 天留有提交记录，测试与开发日志逐日累积；工作量维度可以直接按提交记录核查。&#10;        &lt;/Text&gt;&#10;    &lt;/Box&gt;&#10;    &lt;Box style={{ flexDirection: 'row', justifyContent: 'space-between', alignItems: 'center', padding: '10px 40px 14px 40px' }}&gt;&#10;        &lt;Text style={{ fontSize: 14, color: '#8B97A8' }}&gt;认知副驾 · Cognitive Copilot&lt;/Text&gt;&#10;        &lt;Text style={{ fontSize: 14, color: '#1E4FA8' }}&gt;06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8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495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27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天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从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0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到可用系统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9048750" y="419100"/>
            <a:ext cx="2762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2026-09-06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首次提交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→ 2026-10-02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381000" y="1152525"/>
            <a:ext cx="4381500" cy="3848100"/>
          </a:xfrm>
          <a:prstGeom prst="roundRect">
            <a:avLst>
              <a:gd name="adj" fmla="val 297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762000" y="1514475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150">
                <a:solidFill>
                  <a:srgbClr val="9FBCE8"/>
                </a:solidFill>
                <a:latin typeface="Microsoft YaHei"/>
                <a:ea typeface="Microsoft YaHei"/>
              </a:rPr>
              <a:t>Git </a:t>
            </a:r>
            <a:r>
              <a:rPr lang="zh-CN" sz="1650" spc="150">
                <a:solidFill>
                  <a:srgbClr val="9FBCE8"/>
                </a:solidFill>
                <a:latin typeface="Microsoft YaHei"/>
                <a:ea typeface="Microsoft YaHei"/>
              </a:rPr>
              <a:t>提交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762000" y="1828800"/>
            <a:ext cx="3619500" cy="14954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9300" b="1">
                <a:solidFill>
                  <a:srgbClr val="FFFFFF"/>
                </a:solidFill>
                <a:latin typeface="Microsoft YaHei"/>
                <a:ea typeface="Microsoft YaHei"/>
              </a:rPr>
              <a:t>166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762000" y="3343275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C107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762000" y="3819525"/>
            <a:ext cx="3619500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75">
                <a:solidFill>
                  <a:srgbClr val="E8EFF8"/>
                </a:solidFill>
                <a:latin typeface="Microsoft YaHei"/>
                <a:ea typeface="Microsoft YaHei"/>
              </a:rPr>
              <a:t>其中</a:t>
            </a:r>
            <a:r>
              <a:rPr lang="en-US" sz="1575">
                <a:solidFill>
                  <a:srgbClr val="E8EFF8"/>
                </a:solidFill>
                <a:latin typeface="Microsoft YaHei"/>
                <a:ea typeface="Microsoft YaHei"/>
              </a:rPr>
              <a:t> </a:t>
            </a:r>
            <a:r>
              <a:rPr lang="en-US" sz="1575" b="1">
                <a:solidFill>
                  <a:srgbClr val="FFC107"/>
                </a:solidFill>
                <a:latin typeface="Microsoft YaHei"/>
                <a:ea typeface="Microsoft YaHei"/>
              </a:rPr>
              <a:t>22 </a:t>
            </a:r>
            <a:r>
              <a:rPr lang="zh-CN" sz="1575" b="1">
                <a:solidFill>
                  <a:srgbClr val="FFC107"/>
                </a:solidFill>
                <a:latin typeface="Microsoft YaHei"/>
                <a:ea typeface="Microsoft YaHei"/>
              </a:rPr>
              <a:t>天</a:t>
            </a:r>
            <a:r>
              <a:rPr lang="zh-CN" sz="1575">
                <a:solidFill>
                  <a:srgbClr val="E8EFF8"/>
                </a:solidFill>
                <a:latin typeface="Microsoft YaHei"/>
                <a:ea typeface="Microsoft YaHei"/>
              </a:rPr>
              <a:t>有提交记录，粒度真实、主题明确——过程可追溯，工作量可核查。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5143500" y="1152525"/>
            <a:ext cx="6667500" cy="990600"/>
          </a:xfrm>
          <a:custGeom>
            <a:pathLst>
              <a:path w="700" h="104">
                <a:moveTo>
                  <a:pt x="0" y="102"/>
                </a:moveTo>
                <a:lnTo>
                  <a:pt x="700" y="102"/>
                </a:lnTo>
                <a:lnTo>
                  <a:pt x="700" y="104"/>
                </a:lnTo>
                <a:lnTo>
                  <a:pt x="0" y="104"/>
                </a:lnTo>
                <a:close/>
              </a:path>
            </a:pathLst>
          </a:custGeom>
          <a:solidFill>
            <a:srgbClr val="E8EFF8"/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5143500" y="1152525"/>
            <a:ext cx="1238250" cy="800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250" b="1">
                <a:solidFill>
                  <a:srgbClr val="1E4FA8"/>
                </a:solidFill>
                <a:latin typeface="Microsoft YaHei"/>
                <a:ea typeface="Microsoft YaHei"/>
              </a:rPr>
              <a:t>660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6553200" y="1638300"/>
            <a:ext cx="1857375" cy="314325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项自动化测试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全绿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9334500" y="1666875"/>
            <a:ext cx="2476500" cy="285750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658 </a:t>
            </a: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通过</a:t>
            </a: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 / 2 </a:t>
            </a: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跳过</a:t>
            </a: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起点</a:t>
            </a: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 7 </a:t>
            </a: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640" name=""/>
          <p:cNvSpPr/>
          <p:nvPr/>
        </p:nvSpPr>
        <p:spPr>
          <a:xfrm rot="0" flipH="0" flipV="0">
            <a:off x="5143500" y="2676525"/>
            <a:ext cx="6667500" cy="990600"/>
          </a:xfrm>
          <a:custGeom>
            <a:pathLst>
              <a:path w="700" h="104">
                <a:moveTo>
                  <a:pt x="0" y="102"/>
                </a:moveTo>
                <a:lnTo>
                  <a:pt x="700" y="102"/>
                </a:lnTo>
                <a:lnTo>
                  <a:pt x="700" y="104"/>
                </a:lnTo>
                <a:lnTo>
                  <a:pt x="0" y="104"/>
                </a:lnTo>
                <a:close/>
              </a:path>
            </a:pathLst>
          </a:custGeom>
          <a:solidFill>
            <a:srgbClr val="E8EFF8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5143500" y="2676525"/>
            <a:ext cx="1276350" cy="800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250" b="1">
                <a:solidFill>
                  <a:srgbClr val="1E4FA8"/>
                </a:solidFill>
                <a:latin typeface="Microsoft YaHei"/>
                <a:ea typeface="Microsoft YaHei"/>
              </a:rPr>
              <a:t>10</a:t>
            </a:r>
            <a:r>
              <a:rPr lang="en-US" sz="2700" b="1">
                <a:solidFill>
                  <a:srgbClr val="1E4FA8"/>
                </a:solidFill>
                <a:latin typeface="Microsoft YaHei"/>
                <a:ea typeface="Microsoft YaHei"/>
              </a:rPr>
              <a:t> </a:t>
            </a: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6591300" y="3162300"/>
            <a:ext cx="2095500" cy="314325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能力全部接入对话入口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9744075" y="3190875"/>
            <a:ext cx="2066925" cy="285750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对话即入口</a:t>
            </a: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一句话调用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5143500" y="4200525"/>
            <a:ext cx="1276350" cy="800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250" b="1">
                <a:solidFill>
                  <a:srgbClr val="1E4FA8"/>
                </a:solidFill>
                <a:latin typeface="Microsoft YaHei"/>
                <a:ea typeface="Microsoft YaHei"/>
              </a:rPr>
              <a:t>19</a:t>
            </a:r>
            <a:r>
              <a:rPr lang="en-US" sz="2700" b="1">
                <a:solidFill>
                  <a:srgbClr val="1E4FA8"/>
                </a:solidFill>
                <a:latin typeface="Microsoft YaHei"/>
                <a:ea typeface="Microsoft YaHei"/>
              </a:rPr>
              <a:t> </a:t>
            </a:r>
            <a:r>
              <a:rPr lang="zh-CN" sz="2700" b="1">
                <a:solidFill>
                  <a:srgbClr val="1E4FA8"/>
                </a:solidFill>
                <a:latin typeface="Microsoft YaHei"/>
                <a:ea typeface="Microsoft YaHei"/>
              </a:rPr>
              <a:t>篇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6591300" y="4686300"/>
            <a:ext cx="2371725" cy="314325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开发日志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20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条复盘沉淀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9610725" y="4714875"/>
            <a:ext cx="2200275" cy="285750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46 </a:t>
            </a: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个接口</a:t>
            </a: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 · 15+ </a:t>
            </a: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张数据表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428625" y="5505450"/>
            <a:ext cx="11430000" cy="962025"/>
          </a:xfrm>
          <a:prstGeom prst="roundRect">
            <a:avLst>
              <a:gd name="adj" fmla="val 792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48" name=""/>
          <p:cNvSpPr/>
          <p:nvPr/>
        </p:nvSpPr>
        <p:spPr>
          <a:xfrm rot="0" flipH="0" flipV="0">
            <a:off x="428625" y="5505450"/>
            <a:ext cx="11430000" cy="962025"/>
          </a:xfrm>
          <a:custGeom>
            <a:pathLst>
              <a:path w="1200" h="101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98"/>
                </a:lnTo>
                <a:cubicBezTo>
                  <a:pt x="5" y="100"/>
                  <a:pt x="6" y="101"/>
                  <a:pt x="8" y="101"/>
                </a:cubicBezTo>
                <a:cubicBezTo>
                  <a:pt x="3" y="101"/>
                  <a:pt x="0" y="97"/>
                  <a:pt x="0" y="9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657225" y="5619750"/>
            <a:ext cx="10925175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这个规模的含义：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不是最后一周突击出来的，而是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27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天里持续迭代——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22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天留有提交记录，测试与开发日志逐日累积；工作量维度可以直接按提交记录核查。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381000" y="656272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11353800" y="6562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06 / 27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52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18px 40px 10px 40px' }}&gt;&#10;        &lt;Text style={{ fontSize: 34, fontWeight: 'bold', color: '#0E3F8C' }}&gt;系统架构 · 技术栈与分层&lt;/Text&gt;&#10;        &lt;Text style={{ fontSize: 17, color: '#8B97A8' }}&gt;五层结构 · 每层只通过接口说话&lt;/Text&gt;&#10;    &lt;/Box&gt;&#10;    &lt;Box style={{ flex: 1, flexDirection: 'column', gap: 10, padding: '2px 40px 0 40px' }}&gt;&#10;        &lt;Box style={{ flexDirection: 'row', alignItems: 'center', gap: 14 }}&gt;&#10;            &lt;Box style={{ width: 168, height: 50, background: '#1E4FA8', borderRadius: 6, justifyContent: 'center', alignItems: 'center' }}&gt;&#10;                &lt;Text style={{ fontSize: 19, fontWeight: 'bold', color: '#FFFFFF' }}&gt;前端层&lt;/Text&gt;&#10;            &lt;/Box&gt;&#10;            &lt;Box style={{ flex: 1, height: 50, background: '#F7F9FC', borderRadius: 6, border: '1px solid #D6DCE5', padding: '0 18px', justifyContent: 'center' }}&gt;&#10;                &lt;Text style={{ fontSize: 18, color: '#1A2230' }}&gt;原生 HTML / CSS / JS · 13 个页面 · 零外部依赖、无构建步骤 · 样式收口在单文件&lt;/Text&gt;&#10;            &lt;/Box&gt;&#10;        &lt;/Box&gt;&#10;        &lt;Box style={{ flexDirection: 'row', alignItems: 'center', gap: 14 }}&gt;&#10;            &lt;Box style={{ width: 168, height: 50, background: '#1E4FA8', borderRadius: 6, justifyContent: 'center', alignItems: 'center' }}&gt;&#10;                &lt;Text style={{ fontSize: 19, fontWeight: 'bold', color: '#FFFFFF' }}&gt;接口层&lt;/Text&gt;&#10;            &lt;/Box&gt;&#10;            &lt;Box style={{ flex: 1, height: 50, background: '#F7F9FC', borderRadius: 6, border: '1px solid #D6DCE5', padding: '0 18px', justifyContent: 'center' }}&gt;&#10;                &lt;Text style={{ fontSize: 18, color: '#1A2230' }}&gt;FastAPI · 46 个 API 操作 · Pydantic 请求/响应校验 · JWT 鉴权 · 全站统一错误契约&lt;/Text&gt;&#10;            &lt;/Box&gt;&#10;        &lt;/Box&gt;&#10;        &lt;Box style={{ flexDirection: 'row', alignItems: 'center', gap: 14 }}&gt;&#10;            &lt;Box style={{ width: 168, height: 50, background: '#0E3F8C', borderRadius: 6, justifyContent: 'center', alignItems: 'center' }}&gt;&#10;                &lt;Text style={{ fontSize: 19, fontWeight: 'bold', color: '#FFC107' }}&gt;能力层&lt;/Text&gt;&#10;            &lt;/Box&gt;&#10;            &lt;Box style={{ flex: 1, height: 50, background: '#E8EFF8', borderRadius: 6, border: '1px solid #3D7BD9', padding: '0 18px', justifyContent: 'center' }}&gt;&#10;                &lt;Text style={{ fontSize: 18, color: '#1A2230' }}&gt;L1 挖掘 · L2 冲突 · L3 简报 · L4 路径修正 · L5 诊断 ＋ 本地阅读器（txt/epub/pdf）＋ 微信读书同步&lt;/Text&gt;&#10;            &lt;/Box&gt;&#10;        &lt;/Box&gt;&#10;        &lt;Box style={{ flexDirection: 'row', alignItems: 'center', gap: 14 }}&gt;&#10;            &lt;Box style={{ width: 168, height: 50, background: '#1E4FA8', borderRadius: 6, justifyContent: 'center', alignItems: 'center' }}&gt;&#10;                &lt;Text style={{ fontSize: 19, fontWeight: 'bold', color: '#FFFFFF' }}&gt;支撑层&lt;/Text&gt;&#10;            &lt;/Box&gt;&#10;            &lt;Box style={{ flex: 1, height: 50, background: '#F7F9FC', borderRadius: 6, border: '1px solid #D6DCE5', padding: '0 18px', justifyContent: 'center' }}&gt;&#10;                &lt;Text style={{ fontSize: 18, color: '#1A2230' }}&gt;模型网关（约束分派 / 重试回退）· 异步任务框架（幂等 / 退避 / 死信）· 检索层（向量＋关键词＋RRF）· 行为埋点与调度&lt;/Text&gt;&#10;            &lt;/Box&gt;&#10;        &lt;/Box&gt;&#10;        &lt;Box style={{ flexDirection: 'row', alignItems: 'center', gap: 14 }}&gt;&#10;            &lt;Box style={{ width: 168, height: 50, background: '#1E4FA8', borderRadius: 6, justifyContent: 'center', alignItems: 'center' }}&gt;&#10;                &lt;Text style={{ fontSize: 19, fontWeight: 'bold', color: '#FFFFFF' }}&gt;存储层&lt;/Text&gt;&#10;            &lt;/Box&gt;&#10;            &lt;Box style={{ flex: 1, height: 50, background: '#F7F9FC', borderRadius: 6, border: '1px solid #D6DCE5', padding: '0 18px', justifyContent: 'center' }}&gt;&#10;                &lt;Text style={{ fontSize: 18, color: '#1A2230' }}&gt;SQLAlchemy + SQLite（15+ 张表）· 向量存储抽象两实现：进程内索引（默认）｜ PostgreSQL + pgvector&lt;/Text&gt;&#10;            &lt;/Box&gt;&#10;        &lt;/Box&gt;&#10;        &lt;Box style={{ flexDirection: 'row', gap: 16, marginTop: 8 }}&gt;&#10;            &lt;Box style={{ flex: 1, height: 214, background: '#F7F9FC', borderRadius: 10, border: '1px solid #D6DCE5', borderTop: '4px solid #1E4FA8', padding: '18px 20px', justifyContent: 'space-between' }}&gt;&#10;                &lt;Box&gt;&#10;                    &lt;Text style={{ fontSize: 22, fontWeight: 'bold', color: '#1A2230' }}&gt;为什么是 FastAPI&lt;/Text&gt;&#10;                    &lt;Text style={{ fontSize: 18, color: '#4A5568', marginTop: 8, lineHeight: 1.6 }}&gt;&#10;                        类型即契约：请求与响应用 Pydantic 模型描述，校验、序列化、文档自动生成；46 个接口共用一套错误契约，不把框架默认的英文 JSON 直接抛到界面上。&#10;                    &lt;/Text&gt;&#10;                &lt;/Box&gt;&#10;                &lt;Text style={{ fontSize: 15, color: '#8B97A8' }}&gt;取舍：异步生态成熟，但单人项目用不到全部能力&lt;/Text&gt;&#10;            &lt;/Box&gt;&#10;            &lt;Box style={{ flex: 1, height: 214, background: '#F7F9FC', borderRadius: 10, border: '1px solid #D6DCE5', borderTop: '4px solid #1E4FA8', padding: '18px 20px', justifyContent: 'space-between' }}&gt;&#10;                &lt;Box&gt;&#10;                    &lt;Text style={{ fontSize: 22, fontWeight: 'bold', color: '#1A2230' }}&gt;为什么前端零框架&lt;/Text&gt;&#10;                    &lt;Text style={{ fontSize: 18, color: '#4A5568', marginTop: 8, lineHeight: 1.6 }}&gt;&#10;                        13 个页面用原生 HTML/CSS/JS，没有构建步骤、没有外部依赖，样式收口在一个文件里，改一处全站生效——答辩现场不需要 npm install 就能跑起来。&#10;                    &lt;/Text&gt;&#10;                &lt;/Box&gt;&#10;                &lt;Text style={{ fontSize: 15, color: '#8B97A8' }}&gt;取舍：组件复用靠约定，规模再大需要引入构建&lt;/Text&gt;&#10;            &lt;/Box&gt;&#10;            &lt;Box style={{ flex: 1, height: 214, background: '#F7F9FC', borderRadius: 10, border: '1px solid #D6DCE5', borderTop: '4px solid #1E4FA8', padding: '18px 20px', justifyContent: 'space-between' }}&gt;&#10;                &lt;Box&gt;&#10;                    &lt;Text style={{ fontSize: 22, fontWeight: 'bold', color: '#1A2230' }}&gt;为什么先用 SQLite&lt;/Text&gt;&#10;                    &lt;Text style={{ fontSize: 18, color: '#4A5568', marginTop: 8, lineHeight: 1.6 }}&gt;&#10;                        单人规模零运维、单文件、可整库备份；方言差异由 ORM 挡住，切 PostgreSQL 只需改连接串。写并发弱，所以慢操作一律走异步任务，不占请求线程。&#10;                    &lt;/Text&gt;&#10;                &lt;/Box&gt;&#10;                &lt;Text style={{ fontSize: 15, color: '#8B97A8' }}&gt;取舍：不适合多 worker 与多租户&lt;/Text&gt;&#10;            &lt;/Box&gt;&#10;        &lt;/Box&gt;&#10;    &lt;/Box&gt;&#10;    &lt;Box style={{ flexDirection: 'row', justifyContent: 'space-between', alignItems: 'center', padding: '10px 40px 14px 40px' }}&gt;&#10;        &lt;Text style={{ fontSize: 14, color: '#8B97A8' }}&gt;认知副驾 · Cognitive Copilot&lt;/Text&gt;&#10;        &lt;Text style={{ fontSize: 14, color: '#1E4FA8' }}&gt;07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4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3581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系统架构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技术栈与分层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9563100" y="438150"/>
            <a:ext cx="2247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五层结构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每层只通过接口说话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381000" y="752475"/>
            <a:ext cx="1600200" cy="47625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914400" y="88582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前端层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2114550" y="752475"/>
            <a:ext cx="9696450" cy="47625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2286000" y="885825"/>
            <a:ext cx="9353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原生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HTML / CSS / JS · 13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个页面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零外部依赖、无构建步骤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样式收口在单文件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381000" y="1323975"/>
            <a:ext cx="1600200" cy="47625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914400" y="145732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接口层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2114550" y="1323975"/>
            <a:ext cx="9696450" cy="47625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2286000" y="1457325"/>
            <a:ext cx="9353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FastAPI · 46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个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API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操作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Pydantic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请求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响应校验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JWT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鉴权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全站统一错误契约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381000" y="1895475"/>
            <a:ext cx="1600200" cy="476250"/>
          </a:xfrm>
          <a:prstGeom prst="roundRect">
            <a:avLst>
              <a:gd name="adj" fmla="val 12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914400" y="202882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C107"/>
                </a:solidFill>
                <a:latin typeface="Microsoft YaHei"/>
                <a:ea typeface="Microsoft YaHei"/>
              </a:rPr>
              <a:t>能力层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2114550" y="1895475"/>
            <a:ext cx="9696450" cy="476250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2286000" y="2028825"/>
            <a:ext cx="9353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L1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挖掘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L2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冲突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L3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简报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L4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路径修正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L5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诊断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＋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本地阅读器（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txt/epub/pdf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）＋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微信读书同步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381000" y="2466975"/>
            <a:ext cx="1600200" cy="47625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914400" y="260032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支撑层</a:t>
            </a:r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2114550" y="2466975"/>
            <a:ext cx="9696450" cy="47625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2286000" y="2600325"/>
            <a:ext cx="9353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模型网关（约束分派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重试回退）·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异步任务框架（幂等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退避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死信）·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检索层（向量＋关键词＋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RRF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）·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行为埋点与调度</a:t>
            </a:r>
            <a:endParaRPr/>
          </a:p>
        </p:txBody>
      </p:sp>
      <p:sp>
        <p:nvSpPr>
          <p:cNvPr id="673" name=""/>
          <p:cNvSpPr/>
          <p:nvPr/>
        </p:nvSpPr>
        <p:spPr>
          <a:xfrm rot="0" flipH="0" flipV="0">
            <a:off x="381000" y="3038475"/>
            <a:ext cx="1600200" cy="47625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914400" y="317182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存储层</a:t>
            </a:r>
            <a:endParaRPr/>
          </a:p>
        </p:txBody>
      </p:sp>
      <p:sp>
        <p:nvSpPr>
          <p:cNvPr id="675" name=""/>
          <p:cNvSpPr/>
          <p:nvPr/>
        </p:nvSpPr>
        <p:spPr>
          <a:xfrm rot="0" flipH="0" flipV="0">
            <a:off x="2114550" y="3038475"/>
            <a:ext cx="9696450" cy="47625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2286000" y="3171825"/>
            <a:ext cx="9353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SQLAlchemy + SQLite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15+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张表）·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向量存储抽象两实现：进程内索引（默认）｜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PostgreSQL + pgvector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381000" y="3724275"/>
            <a:ext cx="3705225" cy="200025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678" name=""/>
          <p:cNvSpPr/>
          <p:nvPr/>
        </p:nvSpPr>
        <p:spPr>
          <a:xfrm rot="0" flipH="0" flipV="0">
            <a:off x="381000" y="3724275"/>
            <a:ext cx="3705225" cy="2000250"/>
          </a:xfrm>
          <a:custGeom>
            <a:pathLst>
              <a:path w="389" h="210">
                <a:moveTo>
                  <a:pt x="379" y="0"/>
                </a:moveTo>
                <a:cubicBezTo>
                  <a:pt x="384" y="0"/>
                  <a:pt x="388" y="4"/>
                  <a:pt x="389" y="8"/>
                </a:cubicBezTo>
                <a:cubicBezTo>
                  <a:pt x="388" y="6"/>
                  <a:pt x="386" y="4"/>
                  <a:pt x="383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9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571500" y="3895725"/>
            <a:ext cx="3324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为什么是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 FastAPI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571500" y="4229100"/>
            <a:ext cx="3324225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类型即契约：请求与响应用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Pydantic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模型描述，校验、序列化、文档自动生成；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46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个接口共用一套错误契约，不把框架默认的英文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JSON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直接抛到界面上。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571500" y="5553075"/>
            <a:ext cx="3324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取舍：异步生态成熟，但单人项目用不到全部能力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4238625" y="3724275"/>
            <a:ext cx="3714750" cy="200025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683" name=""/>
          <p:cNvSpPr/>
          <p:nvPr/>
        </p:nvSpPr>
        <p:spPr>
          <a:xfrm rot="0" flipH="0" flipV="0">
            <a:off x="4238625" y="3724275"/>
            <a:ext cx="3714750" cy="2000250"/>
          </a:xfrm>
          <a:custGeom>
            <a:pathLst>
              <a:path w="390" h="210">
                <a:moveTo>
                  <a:pt x="380" y="0"/>
                </a:moveTo>
                <a:cubicBezTo>
                  <a:pt x="385" y="0"/>
                  <a:pt x="389" y="4"/>
                  <a:pt x="390" y="8"/>
                </a:cubicBezTo>
                <a:cubicBezTo>
                  <a:pt x="389" y="6"/>
                  <a:pt x="387" y="4"/>
                  <a:pt x="384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80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4429125" y="3895725"/>
            <a:ext cx="3333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为什么前端零框架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4429125" y="4229100"/>
            <a:ext cx="3333750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13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个页面用原生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HTML/CSS/JS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，没有构建步骤、没有外部依赖，样式收口在一个文件里，改一处全站生效——答辩现场不需要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npm install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就能跑起来。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4429125" y="5553075"/>
            <a:ext cx="3333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取舍：组件复用靠约定，规模再大需要引入构建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8105775" y="3724275"/>
            <a:ext cx="3705225" cy="200025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688" name=""/>
          <p:cNvSpPr/>
          <p:nvPr/>
        </p:nvSpPr>
        <p:spPr>
          <a:xfrm rot="0" flipH="0" flipV="0">
            <a:off x="8105775" y="3724275"/>
            <a:ext cx="3705225" cy="2000250"/>
          </a:xfrm>
          <a:custGeom>
            <a:pathLst>
              <a:path w="389" h="210">
                <a:moveTo>
                  <a:pt x="379" y="0"/>
                </a:moveTo>
                <a:cubicBezTo>
                  <a:pt x="384" y="0"/>
                  <a:pt x="388" y="4"/>
                  <a:pt x="389" y="8"/>
                </a:cubicBezTo>
                <a:cubicBezTo>
                  <a:pt x="388" y="6"/>
                  <a:pt x="386" y="4"/>
                  <a:pt x="383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79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8296275" y="3895725"/>
            <a:ext cx="3324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为什么先用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 SQLite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8296275" y="4229100"/>
            <a:ext cx="3324225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单人规模零运维、单文件、可整库备份；方言差异由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ORM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挡住，切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PostgreSQL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只需改连接串。写并发弱，所以慢操作一律走异步任务，不占请求线程。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8296275" y="5553075"/>
            <a:ext cx="3324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取舍：不适合多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worker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与多租户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381000" y="656272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11353800" y="6562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07 / 27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94" name="" descr="&lt;Slide style={{ width: 1280, height: 720, background: '#0E3F8C', position: 'relative', overflow: 'hidden' }}&gt;&#10;    &lt;svg width={1280} height={720} viewBox='0 0 1280 720' style={{ position: 'absolute', top: 0, left: 0 }}&gt;&#10;        &lt;circle cx='1128' cy='556' r='318' fill='#1E4FA8' opacity='0.3' /&gt;&#10;        &lt;line x1='96' y1='628' x2='1184' y2='628' stroke='#FFFFFF' strokeWidth='1' opacity='0.16' /&gt;&#10;    &lt;/svg&gt;&#10;    &lt;Box style={{ position: 'absolute', top: 96, left: 96, flexDirection: 'row', alignItems: 'flex-end', gap: 32 }}&gt;&#10;        &lt;Text style={{ fontSize: 200, fontWeight: 'bold', color: '#FFFFFF', opacity: 0.26, lineHeight: 1 }}&gt;02&lt;/Text&gt;&#10;        &lt;Box style={{ paddingBottom: 26 }}&gt;&#10;            &lt;Text style={{ fontSize: 52, fontWeight: 'bold', color: '#FFFFFF', letterSpacing: 4 }}&gt;技术实现&lt;/Text&gt;&#10;            &lt;Box style={{ width: 64, height: 4, background: '#FFC107', marginTop: 16 }} /&gt;&#10;        &lt;/Box&gt;&#10;    &lt;/Box&gt;&#10;    &lt;Box style={{ position: 'absolute', top: 424, left: 96, width: 1088 }}&gt;&#10;        &lt;Text style={{ fontSize: 24, color: '#E8EFF8', lineHeight: 1.8 }}&gt;&#10;            这一章单独讲技术：系统的分层架构，以及四处真正花过功夫的工程点——&lt;span style={{ fontWeight: 'bold', color: '#FFC107' }}&gt;模型工程&lt;/span&gt;、&#10;            &lt;span style={{ fontWeight: 'bold', color: '#FFC107' }}&gt;检索工程&lt;/span&gt;、&lt;span style={{ fontWeight: 'bold', color: '#FFC107' }}&gt;冲突检测算法&lt;/span&gt;、&#10;            &lt;span style={{ fontWeight: 'bold', color: '#FFC107' }}&gt;可靠性与数据安全&lt;/span&gt;。每个名词都落到「我怎么做、为什么这样做、边界在哪里」。&#10;        &lt;/Text&gt;&#10;    &lt;/Box&gt;&#10;    &lt;Box style={{ position: 'absolute', bottom: 92, left: 96, flexDirection: 'row', gap: 14, alignItems: 'center' }}&gt;&#10;        &lt;Box style={{ padding: '12px 24px', background: '#1E4FA8', borderRadius: 24, border: '1px solid #3D7BD9' }}&gt;&#10;            &lt;Text style={{ fontSize: 19, color: '#FFFFFF' }}&gt;架构与选型&lt;/Text&gt;&#10;        &lt;/Box&gt;&#10;        &lt;FAIcon name='arrow-right' style={{ fill: '#9FBCE8', width: 20, height: 20 }} /&gt;&#10;        &lt;Box style={{ padding: '12px 24px', background: '#1E4FA8', borderRadius: 24, border: '1px solid #3D7BD9' }}&gt;&#10;            &lt;Text style={{ fontSize: 19, color: '#FFFFFF' }}&gt;模型工程&lt;/Text&gt;&#10;        &lt;/Box&gt;&#10;        &lt;FAIcon name='arrow-right' style={{ fill: '#9FBCE8', width: 20, height: 20 }} /&gt;&#10;        &lt;Box style={{ padding: '12px 24px', background: '#1E4FA8', borderRadius: 24, border: '1px solid #3D7BD9' }}&gt;&#10;            &lt;Text style={{ fontSize: 19, color: '#FFFFFF' }}&gt;检索工程&lt;/Text&gt;&#10;        &lt;/Box&gt;&#10;        &lt;FAIcon name='arrow-right' style={{ fill: '#9FBCE8', width: 20, height: 20 }} /&gt;&#10;        &lt;Box style={{ padding: '12px 24px', background: '#1E4FA8', borderRadius: 24, border: '1px solid #3D7BD9' }}&gt;&#10;            &lt;Text style={{ fontSize: 19, color: '#FFFFFF' }}&gt;冲突算法&lt;/Text&gt;&#10;        &lt;/Box&gt;&#10;        &lt;FAIcon name='arrow-right' style={{ fill: '#9FBCE8', width: 20, height: 20 }} /&gt;&#10;        &lt;Box style={{ padding: '12px 24px', background: '#1E4FA8', borderRadius: 24, border: '1px solid #3D7BD9' }}&gt;&#10;            &lt;Text style={{ fontSize: 19, color: '#FFFFFF' }}&gt;可靠性与安全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6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3571875" y="2162175"/>
            <a:ext cx="21336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 spc="300">
                <a:solidFill>
                  <a:srgbClr val="FFFFFF"/>
                </a:solidFill>
                <a:latin typeface="Microsoft YaHei"/>
                <a:ea typeface="Microsoft YaHei"/>
              </a:rPr>
              <a:t>技术实现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3571875" y="29146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914400" y="9144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FFFFFF">
                    <a:alpha val="26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914400" y="4038600"/>
            <a:ext cx="103632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这一章单独讲技术：系统的分层架构，以及四处真正花过功夫的工程点——</a:t>
            </a:r>
            <a:r>
              <a:rPr lang="zh-CN" sz="1800" b="1">
                <a:solidFill>
                  <a:srgbClr val="FFC107"/>
                </a:solidFill>
                <a:latin typeface="Microsoft YaHei"/>
                <a:ea typeface="Microsoft YaHei"/>
              </a:rPr>
              <a:t>模型工程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、</a:t>
            </a:r>
            <a:r>
              <a:rPr lang="zh-CN" sz="1800" b="1">
                <a:solidFill>
                  <a:srgbClr val="FFC107"/>
                </a:solidFill>
                <a:latin typeface="Microsoft YaHei"/>
                <a:ea typeface="Microsoft YaHei"/>
              </a:rPr>
              <a:t>检索工程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、</a:t>
            </a:r>
            <a:r>
              <a:rPr lang="zh-CN" sz="1800" b="1">
                <a:solidFill>
                  <a:srgbClr val="FFC107"/>
                </a:solidFill>
                <a:latin typeface="Microsoft YaHei"/>
                <a:ea typeface="Microsoft YaHei"/>
              </a:rPr>
              <a:t>冲突检测算法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、</a:t>
            </a:r>
            <a:r>
              <a:rPr lang="zh-CN" sz="1800" b="1">
                <a:solidFill>
                  <a:srgbClr val="FFC107"/>
                </a:solidFill>
                <a:latin typeface="Microsoft YaHei"/>
                <a:ea typeface="Microsoft YaHei"/>
              </a:rPr>
              <a:t>可靠性与数据安全</a:t>
            </a:r>
            <a:r>
              <a:rPr lang="zh-CN" sz="1800">
                <a:solidFill>
                  <a:srgbClr val="E8EFF8"/>
                </a:solidFill>
                <a:latin typeface="Microsoft YaHei"/>
                <a:ea typeface="Microsoft YaHei"/>
              </a:rPr>
              <a:t>。每个名词都落到「我怎么做、为什么这样做、边界在哪里」。</a:t>
            </a:r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914400" y="5534025"/>
            <a:ext cx="1362075" cy="447675"/>
          </a:xfrm>
          <a:prstGeom prst="roundRect">
            <a:avLst>
              <a:gd name="adj" fmla="val 51064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1143000" y="564832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架构与选型</a:t>
            </a:r>
            <a:endParaRPr/>
          </a:p>
        </p:txBody>
      </p:sp>
      <p:pic>
        <p:nvPicPr>
          <p:cNvPr id="7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2409825" y="5667375"/>
            <a:ext cx="190500" cy="190500"/>
          </a:xfrm>
          <a:prstGeom prst="rect">
            <a:avLst/>
          </a:prstGeom>
          <a:ln/>
        </p:spPr>
      </p:pic>
      <p:sp>
        <p:nvSpPr>
          <p:cNvPr id="704" name=""/>
          <p:cNvSpPr/>
          <p:nvPr/>
        </p:nvSpPr>
        <p:spPr>
          <a:xfrm rot="0" flipH="0" flipV="0">
            <a:off x="2733675" y="5534025"/>
            <a:ext cx="1181100" cy="447675"/>
          </a:xfrm>
          <a:prstGeom prst="roundRect">
            <a:avLst>
              <a:gd name="adj" fmla="val 51064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2962275" y="564832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模型工程</a:t>
            </a:r>
            <a:endParaRPr/>
          </a:p>
        </p:txBody>
      </p:sp>
      <p:pic>
        <p:nvPicPr>
          <p:cNvPr id="7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048125" y="5667375"/>
            <a:ext cx="190500" cy="190500"/>
          </a:xfrm>
          <a:prstGeom prst="rect">
            <a:avLst/>
          </a:prstGeom>
          <a:ln/>
        </p:spPr>
      </p:pic>
      <p:sp>
        <p:nvSpPr>
          <p:cNvPr id="707" name=""/>
          <p:cNvSpPr/>
          <p:nvPr/>
        </p:nvSpPr>
        <p:spPr>
          <a:xfrm rot="0" flipH="0" flipV="0">
            <a:off x="4371975" y="5534025"/>
            <a:ext cx="1181100" cy="447675"/>
          </a:xfrm>
          <a:prstGeom prst="roundRect">
            <a:avLst>
              <a:gd name="adj" fmla="val 51064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4600575" y="564832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检索工程</a:t>
            </a:r>
            <a:endParaRPr/>
          </a:p>
        </p:txBody>
      </p:sp>
      <p:pic>
        <p:nvPicPr>
          <p:cNvPr id="7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686425" y="5667375"/>
            <a:ext cx="190500" cy="190500"/>
          </a:xfrm>
          <a:prstGeom prst="rect">
            <a:avLst/>
          </a:prstGeom>
          <a:ln/>
        </p:spPr>
      </p:pic>
      <p:sp>
        <p:nvSpPr>
          <p:cNvPr id="710" name=""/>
          <p:cNvSpPr/>
          <p:nvPr/>
        </p:nvSpPr>
        <p:spPr>
          <a:xfrm rot="0" flipH="0" flipV="0">
            <a:off x="6010275" y="5534025"/>
            <a:ext cx="1181100" cy="447675"/>
          </a:xfrm>
          <a:prstGeom prst="roundRect">
            <a:avLst>
              <a:gd name="adj" fmla="val 51064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6238875" y="564832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冲突算法</a:t>
            </a:r>
            <a:endParaRPr/>
          </a:p>
        </p:txBody>
      </p:sp>
      <p:pic>
        <p:nvPicPr>
          <p:cNvPr id="7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24725" y="5667375"/>
            <a:ext cx="190500" cy="190500"/>
          </a:xfrm>
          <a:prstGeom prst="rect">
            <a:avLst/>
          </a:prstGeom>
          <a:ln/>
        </p:spPr>
      </p:pic>
      <p:sp>
        <p:nvSpPr>
          <p:cNvPr id="713" name=""/>
          <p:cNvSpPr/>
          <p:nvPr/>
        </p:nvSpPr>
        <p:spPr>
          <a:xfrm rot="0" flipH="0" flipV="0">
            <a:off x="7648575" y="5534025"/>
            <a:ext cx="1543050" cy="447675"/>
          </a:xfrm>
          <a:prstGeom prst="roundRect">
            <a:avLst>
              <a:gd name="adj" fmla="val 51064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7877175" y="564832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可靠性与安全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715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18px 40px 10px 40px' }}&gt;&#10;        &lt;Text style={{ fontSize: 34, fontWeight: 'bold', color: '#0E3F8C' }}&gt;技术一 · 模型工程：把约束交给服务端&lt;/Text&gt;&#10;        &lt;Text style={{ fontSize: 17, color: '#8B97A8' }}&gt;结构化输出对比实验 · 重试与回退边界 · 成本闸门&lt;/Text&gt;&#10;    &lt;/Box&gt;&#10;    &lt;Box style={{ flex: 1, flexDirection: 'row', gap: 22, padding: '2px 40px 0 40px' }}&gt;&#10;        &lt;Box style={{ width: 620, flexDirection: 'column' }}&gt;&#10;            &lt;Text style={{ fontSize: 21, fontWeight: 'bold', color: '#1A2230' }}&gt;同一个简报任务，三种做法各跑 6 次&lt;/Text&gt;&#10;            &lt;Table&#10;                style={{ width: 620, height: 268, marginTop: 12 }}&#10;                defaultTextStyle={{ fontSize: 17, textAlign: 'center', color: '#1A2230' }}&#10;                defaultCellStyle={{&#10;                    border: {&#10;                        left: { width: 1, color: '#D6DCE5' },&#10;                        right: { width: 1, color: '#D6DCE5' },&#10;                        top: { width: 1, color: '#D6DCE5' },&#10;                        bottom: { width: 1, color: '#D6DCE5' },&#10;                    },&#10;                    background: { color: '#FFFFFF' },&#10;                }}&#10;                cells={[&#10;                    [&#10;                        { text: '做法', textStyle: { bold: true, color: '#FFFFFF', fontSize: 17 }, cellStyle: { background: { color: '#0E3F8C' } } },&#10;                        { text: '成功率', textStyle: { bold: true, color: '#FFFFFF', fontSize: 17 }, cellStyle: { background: { color: '#0E3F8C' } } },&#10;                        { text: '失败形态', textStyle: { bold: true, color: '#FFFFFF', fontSize: 17 }, cellStyle: { background: { color: '#0E3F8C' } } },&#10;                    ],&#10;                    [&#10;                        { text: '自由文本 + 本地宽容解析', textStyle: { fontSize: 16, textAlign: 'left' } },&#10;                        { text: '3 次挂 1 次', textStyle: { fontSize: 16, color: '#D9534F', bold: true } },&#10;                        { text: 'JSON 语法已写坏，本地救不回', textStyle: { fontSize: 15, textAlign: 'left' } },&#10;                    ],&#10;                    [&#10;                        { text: '服务端返回 JSON 对象', textStyle: { fontSize: 16, textAlign: 'left' }, cellStyle: { background: { color: '#F7F9FC' } } },&#10;                        { text: '5 / 6', textStyle: { fontSize: 16, bold: true }, cellStyle: { background: { color: '#F7F9FC' } } },&#10;                        { text: '能解析，但嵌套结构被压平', textStyle: { fontSize: 15, textAlign: 'left' }, cellStyle: { background: { color: '#F7F9FC' } } },&#10;                    ],&#10;                    [&#10;                        { text: '服务端按 Schema 约束', textStyle: { fontSize: 16, textAlign: 'left', bold: true }, cellStyle: { background: { color: '#F0F5FC' } } },&#10;                        { text: '6 / 6', textStyle: { fontSize: 16, bold: true, color: '#1E4FA8' }, cellStyle: { background: { color: '#F0F5FC' } } },&#10;                        { text: '无', textStyle: { fontSize: 15, textAlign: 'left' }, cellStyle: { background: { color: '#F0F5FC' } } },&#10;                    ],&#10;                ]}&#10;            /&gt;&#10;            &lt;Box style={{ marginTop: 14, padding: '14px 18px', background: '#F7F9FC', borderRadius: 8, border: '1px solid #D6DCE5' }}&gt;&#10;                &lt;Text style={{ fontSize: 18, color: '#1A2230', lineHeight: 1.6 }}&gt;&#10;                    本地此前已有三层兜底（剥围栏、取最外层花括号、宽容解析），但兜底只能处理「格式不规范」，处理不了「已经写错」。&#10;                &lt;/Text&gt;&#10;            &lt;/Box&gt;&#10;        &lt;/Box&gt;&#10;        &lt;Box style={{ flex: 1, flexDirection: 'column', gap: 10 }}&gt;&#10;            &lt;Box style={{ height: 170, background: '#F7F9FC', borderRadius: 10, border: '1px solid #D6DCE5', borderLeft: '5px solid #1E4FA8', padding: '16px 20px', justifyContent: 'space-between' }}&gt;&#10;                &lt;Text style={{ fontSize: 21, fontWeight: 'bold', color: '#1A2230' }}&gt;约束写在哪一层&lt;/Text&gt;&#10;                &lt;Text style={{ fontSize: 17, color: '#4A5568', lineHeight: 1.6 }}&gt;&#10;                    Schema 不手写，从数据模型 &lt;span style={{ fontFamily: 'Consolas, monospace', color: '#0E3F8C' }}&gt;model_json_schema()&lt;/span&gt; 自动派生。手写 9 份的结果一定是改一处忘一处、和本地校验器静默漂移。&#10;                &lt;/Text&gt;&#10;                &lt;Text style={{ fontSize: 15, color: '#8B97A8' }}&gt;约束位置：服务端 &amp;gt; 本地事后修补&lt;/Text&gt;&#10;            &lt;/Box&gt;&#10;            &lt;Box style={{ height: 170, background: '#F7F9FC', borderRadius: 10, border: '1px solid #D6DCE5', borderLeft: '5px solid #1E4FA8', padding: '16px 20px', justifyContent: 'space-between' }}&gt;&#10;                &lt;Text style={{ fontSize: 21, fontWeight: 'bold', color: '#1A2230' }}&gt;重试与回退的边界&lt;/Text&gt;&#10;                &lt;Text style={{ fontSize: 17, color: '#4A5568', lineHeight: 1.6 }}&gt;&#10;                    按错误类型分流：限流、超时、5xx 退避重试，试满 3 次才切下一家；切换时必须同时换模型名并重算输出约束，否则回退等于必然失败。&#10;                &lt;/Text&gt;&#10;                &lt;Text style={{ fontSize: 15, color: '#8B97A8' }}&gt;模拟实现永不作为真实失败的回退目标&lt;/Text&gt;&#10;            &lt;/Box&gt;&#10;            &lt;Box style={{ height: 170, background: '#F7F9FC', borderRadius: 10, border: '1px solid #D6DCE5', borderLeft: '5px solid #1E4FA8', padding: '16px 20px', justifyContent: 'space-between' }}&gt;&#10;                &lt;Text style={{ fontSize: 21, fontWeight: 'bold', color: '#1A2230' }}&gt;成本闸门与缓存计价&lt;/Text&gt;&#10;                &lt;Text style={{ fontSize: 17, color: '#4A5568', lineHeight: 1.6 }}&gt;&#10;                    思考模式按任务配表开关：深度推理、冲突判定、因果归因开，标准对话、意图分流、规划与简报关。缓存命中的输入价只有未命中的五十分之一，忽略它会高估一个量级。&#10;                &lt;/Text&gt;&#10;                &lt;Text style={{ fontSize: 15, color: '#8B97A8' }}&gt;记账按实际服务的模型名取价&lt;/Text&gt;&#10;            &lt;/Box&gt;&#10;        &lt;/Box&gt;&#10;    &lt;/Box&gt;&#10;    &lt;Box style={{ margin: '10px 40px 0 40px', padding: '12px 24px', background: '#0E3F8C', borderRadius: 8 }}&gt;&#10;        &lt;Text style={{ fontSize: 19, color: '#FFFFFF', textAlign: 'center' }}&gt;&#10;            实验结论：约束交给服务端，比事后在本地修补可靠；但按供应商能力位分派，两边各拿各自的最优解&#10;        &lt;/Text&gt;&#10;    &lt;/Box&gt;&#10;    &lt;Box style={{ flexDirection: 'row', justifyContent: 'space-between', alignItems: 'center', padding: '10px 40px 14px 40px' }}&gt;&#10;        &lt;Text style={{ fontSize: 14, color: '#8B97A8' }}&gt;认知副驾 · Cognitive Copilot&lt;/Text&gt;&#10;        &lt;Text style={{ fontSize: 14, color: '#1E4FA8' }}&gt;09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7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5524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技术一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模型工程：把约束交给服务端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8296275" y="438150"/>
            <a:ext cx="3514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结构化输出对比实验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重试与回退边界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成本闸门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381000" y="752475"/>
            <a:ext cx="5905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同一个简报任务，三种做法各跑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6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graphicFrame>
        <p:nvGraphicFramePr>
          <p:cNvPr id="721" name=""/>
          <p:cNvGraphicFramePr/>
          <p:nvPr/>
        </p:nvGraphicFramePr>
        <p:xfrm rot="0" flipH="0" flipV="0">
          <a:off x="381000" y="1114425"/>
          <a:ext cx="5905500" cy="2552700"/>
        </p:xfrm>
        <a:graphic>
          <a:graphicData uri="http://schemas.openxmlformats.org/drawingml/2006/table">
            <a:tbl>
              <a:tblGrid>
                <a:gridCol w="2250385">
                  <a:extLst>
                    <a:ext uri="{9D8B030D-6E8A-4147-A177-3AD203B41FA5}">
                      <a16:colId val="1"/>
                    </a:ext>
                  </a:extLst>
                </a:gridCol>
                <a:gridCol w="1087608">
                  <a:extLst>
                    <a:ext uri="{9D8B030D-6E8A-4147-A177-3AD203B41FA5}">
                      <a16:colId val="2"/>
                    </a:ext>
                  </a:extLst>
                </a:gridCol>
                <a:gridCol w="2567507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6523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做法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成功率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失败形态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3346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自由文本 + 本地宽容解析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3 次挂 1 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JSON 语法已写坏，本地救不回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3346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服务端返回 JSON 对象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 / 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能解析，但嵌套结构被压平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3346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服务端按 Schema 约束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6 / 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无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722" name=""/>
          <p:cNvSpPr/>
          <p:nvPr/>
        </p:nvSpPr>
        <p:spPr>
          <a:xfrm rot="0" flipH="0" flipV="0">
            <a:off x="381000" y="3800475"/>
            <a:ext cx="5905500" cy="933450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552450" y="3933825"/>
            <a:ext cx="55626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本地此前已有三层兜底（剥围栏、取最外层花括号、宽容解析），但兜底只能处理「格式不规范」，处理不了「已经写错」。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6543675" y="752475"/>
            <a:ext cx="5314950" cy="161925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25" name=""/>
          <p:cNvSpPr/>
          <p:nvPr/>
        </p:nvSpPr>
        <p:spPr>
          <a:xfrm rot="0" flipH="0" flipV="0">
            <a:off x="6543675" y="752475"/>
            <a:ext cx="5314950" cy="1619250"/>
          </a:xfrm>
          <a:custGeom>
            <a:pathLst>
              <a:path w="558" h="170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65"/>
                </a:lnTo>
                <a:cubicBezTo>
                  <a:pt x="5" y="167"/>
                  <a:pt x="7" y="169"/>
                  <a:pt x="9" y="170"/>
                </a:cubicBezTo>
                <a:cubicBezTo>
                  <a:pt x="4" y="169"/>
                  <a:pt x="0" y="165"/>
                  <a:pt x="0" y="16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6734175" y="904875"/>
            <a:ext cx="48863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约束写在哪一层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6734175" y="1285875"/>
            <a:ext cx="48863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Schema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不手写，从数据模型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>model_json_schema()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自动派生。手写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9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份的结果一定是改一处忘一处、和本地校验器静默漂移。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6734175" y="2047875"/>
            <a:ext cx="488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约束位置：服务端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&gt;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本地事后修补</a:t>
            </a:r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6543675" y="2466975"/>
            <a:ext cx="5314950" cy="161925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30" name=""/>
          <p:cNvSpPr/>
          <p:nvPr/>
        </p:nvSpPr>
        <p:spPr>
          <a:xfrm rot="0" flipH="0" flipV="0">
            <a:off x="6543675" y="2466975"/>
            <a:ext cx="5314950" cy="1619250"/>
          </a:xfrm>
          <a:custGeom>
            <a:pathLst>
              <a:path w="558" h="170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65"/>
                </a:lnTo>
                <a:cubicBezTo>
                  <a:pt x="5" y="167"/>
                  <a:pt x="7" y="169"/>
                  <a:pt x="9" y="170"/>
                </a:cubicBezTo>
                <a:cubicBezTo>
                  <a:pt x="4" y="169"/>
                  <a:pt x="0" y="165"/>
                  <a:pt x="0" y="16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6734175" y="2619375"/>
            <a:ext cx="48863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重试与回退的边界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6734175" y="2867025"/>
            <a:ext cx="48863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按错误类型分流：限流、超时、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5xx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退避重试，试满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3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次才切下一家；切换时必须同时换模型名并重算输出约束，否则回退等于必然失败。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6734175" y="3800475"/>
            <a:ext cx="488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模拟实现永不作为真实失败的回退目标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6543675" y="4181475"/>
            <a:ext cx="5314950" cy="161925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35" name=""/>
          <p:cNvSpPr/>
          <p:nvPr/>
        </p:nvSpPr>
        <p:spPr>
          <a:xfrm rot="0" flipH="0" flipV="0">
            <a:off x="6543675" y="4181475"/>
            <a:ext cx="5314950" cy="1619250"/>
          </a:xfrm>
          <a:custGeom>
            <a:pathLst>
              <a:path w="558" h="170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65"/>
                </a:lnTo>
                <a:cubicBezTo>
                  <a:pt x="5" y="167"/>
                  <a:pt x="7" y="169"/>
                  <a:pt x="9" y="170"/>
                </a:cubicBezTo>
                <a:cubicBezTo>
                  <a:pt x="4" y="169"/>
                  <a:pt x="0" y="165"/>
                  <a:pt x="0" y="16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6734175" y="4333875"/>
            <a:ext cx="48863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成本闸门与缓存计价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6734175" y="4581525"/>
            <a:ext cx="48863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思考模式按任务配表开关：深度推理、冲突判定、因果归因开，标准对话、意图分流、规划与简报关。缓存命中的输入价只有未命中的五十分之一，忽略它会高估一个量级。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6734175" y="5514975"/>
            <a:ext cx="488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记账按实际服务的模型名取价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381000" y="6019800"/>
            <a:ext cx="11430000" cy="447675"/>
          </a:xfrm>
          <a:prstGeom prst="roundRect">
            <a:avLst>
              <a:gd name="adj" fmla="val 1702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609600" y="6134100"/>
            <a:ext cx="109728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实验结论：约束交给服务端，比事后在本地修补可靠；但按供应商能力位分派，两边各拿各自的最优解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381000" y="656272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11353800" y="6562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09 / 27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8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16px 40px 8px 40px' }}&gt;&#10;        &lt;Text style={{ fontSize: 34, fontWeight: 'bold', color: '#0E3F8C' }}&gt;技术二 · RAG 检索工程&lt;/Text&gt;&#10;        &lt;Text style={{ fontSize: 17, color: '#8B97A8' }}&gt;本地向量 · 双通道召回 · 排名融合 · 评估护栏&lt;/Text&gt;&#10;    &lt;/Box&gt;&#10;    &lt;Box style={{ flex: 1, flexDirection: 'column', gap: 10, padding: '2px 40px 0 40px' }}&gt;&#10;        &lt;Box style={{ background: '#F7F9FC', borderRadius: 10, border: '1px solid #D6DCE5', padding: '10px 14px' }}&gt;&#10;            &lt;Text style={{ fontSize: 20, fontWeight: 'bold', color: '#0E3F8C', textAlign: 'center' }}&gt;RAG 与生成全链路 —— 八个环节，除重排外全部落地&lt;/Text&gt;&#10;            &lt;svg width={1160} height={146} viewBox='0 0 1160 146'&gt;&#10;                &lt;rect x='6' y='26' width='178' height='62' rx='8' fill='#E8EFF8' stroke='#3D7BD9' strokeWidth='1' /&gt;&#10;                &lt;text x='95' y='52' fontSize='17' fill='#0E3F8C' textAnchor='middle' fontWeight='bold'&gt;知识录入&lt;/text&gt;&#10;                &lt;text x='95' y='74' fontSize='13' fill='#4A5568' textAnchor='middle'&gt;条目即分块&lt;/text&gt;&#10;                &lt;polygon points='186,51 200,57 186,63' fill='#3D7BD9' /&gt;&#10;                &lt;rect x='200' y='26' width='178' height='62' rx='8' fill='#E8EFF8' stroke='#3D7BD9' strokeWidth='1' /&gt;&#10;                &lt;text x='289' y='52' fontSize='17' fill='#0E3F8C' textAnchor='middle' fontWeight='bold'&gt;向量化&lt;/text&gt;&#10;                &lt;text x='289' y='74' fontSize='13' fill='#4A5568' textAnchor='middle'&gt;BGE 本地离线 · 512 维&lt;/text&gt;&#10;                &lt;polygon points='380,51 394,57 380,63' fill='#3D7BD9' /&gt;&#10;                &lt;rect x='394' y='26' width='178' height='62' rx='8' fill='#E8EFF8' stroke='#3D7BD9' strokeWidth='1' /&gt;&#10;                &lt;text x='483' y='52' fontSize='17' fill='#0E3F8C' textAnchor='middle' fontWeight='bold'&gt;混合召回&lt;/text&gt;&#10;                &lt;text x='483' y='74' fontSize='13' fill='#4A5568' textAnchor='middle'&gt;向量 ＋ 关键词双通道&lt;/text&gt;&#10;                &lt;polygon points='574,51 588,57 574,63' fill='#3D7BD9' /&gt;&#10;                &lt;rect x='588' y='26' width='178' height='62' rx='8' fill='#E8EFF8' stroke='#3D7BD9' strokeWidth='1' /&gt;&#10;                &lt;text x='677' y='52' fontSize='17' fill='#0E3F8C' textAnchor='middle' fontWeight='bold'&gt;RRF 融合&lt;/text&gt;&#10;                &lt;text x='677' y='74' fontSize='13' fill='#4A5568' textAnchor='middle'&gt;按排名 · 免调参&lt;/text&gt;&#10;                &lt;polygon points='768,51 782,57 768,63' fill='#3D7BD9' /&gt;&#10;                &lt;rect x='782' y='26' width='178' height='62' rx='8' fill='#FFC107' opacity='0.9' /&gt;&#10;                &lt;text x='871' y='52' fontSize='17' fill='#1A2230' textAnchor='middle' fontWeight='bold'&gt;评估护栏&lt;/text&gt;&#10;                &lt;text x='871' y='74' fontSize='13' fill='#1A2230' textAnchor='middle'&gt;recall@5 ≥ 0.95&lt;/text&gt;&#10;                &lt;polygon points='962,51 976,57 962,63' fill='#3D7BD9' /&gt;&#10;                &lt;rect x='976' y='26' width='178' height='62' rx='8' fill='#0E3F8C' /&gt;&#10;                &lt;text x='1065' y='52' fontSize='17' fill='#FFFFFF' textAnchor='middle' fontWeight='bold'&gt;受约束生成&lt;/text&gt;&#10;                &lt;text x='1065' y='74' fontSize='13' fill='#BBD0F0' textAnchor='middle'&gt;Schema 约束 6/6&lt;/text&gt;&#10;                &lt;text x='6' y='120' fontSize='14' fill='#8B97A8'&gt;检索失败自动降级关键词通道，不丢条目、不阻断主链路；嵌入模型记录版本，可增量重建；单用户规模下未启用重排与查询改写——取舍已登记。&lt;/text&gt;&#10;            &lt;/svg&gt;&#10;        &lt;/Box&gt;&#10;        &lt;Box style={{ flexDirection: 'row', gap: 12 }}&gt;&#10;            &lt;Box style={{ flex: 1, height: 176, background: '#F7F9FC', borderRadius: 10, border: '1px solid #D6DCE5', borderTop: '4px solid #1E4FA8', padding: '13px 16px', justifyContent: 'space-between' }}&gt;&#10;                &lt;Text style={{ fontSize: 20, fontWeight: 'bold', color: '#1A2230' }}&gt;本地向量模型 · BGE&lt;/Text&gt;&#10;                &lt;Text style={{ fontSize: 16, color: '#4A5568', lineHeight: 1.55 }}&gt;&#10;                    bge-small-zh-v1.5 · 512 维 · ONNX 离线部署 · 输出 L2 归一化（归一后余弦等价于内积）。&#10;                &lt;/Text&gt;&#10;                &lt;Text style={{ fontSize: 15, color: '#8B97A8' }}&gt;不依赖对话模型的接口 · 离线可复现 · 零调用成本&lt;/Text&gt;&#10;            &lt;/Box&gt;&#10;            &lt;Box style={{ flex: 1, height: 176, background: '#F7F9FC', borderRadius: 10, border: '1px solid #D6DCE5', borderTop: '4px solid #1E4FA8', padding: '13px 16px', justifyContent: 'space-between' }}&gt;&#10;                &lt;Text style={{ fontSize: 20, fontWeight: 'bold', color: '#1A2230' }}&gt;双通道召回 ＋ RRF 融合&lt;/Text&gt;&#10;                &lt;Text style={{ fontSize: 16, color: '#4A5568', lineHeight: 1.55 }}&gt;&#10;                    向量管语义相近（「拖延症」≈「执行力差」），关键词管字面精确（术语与符号）；融合用 Σ w/(60＋rank)。&#10;                &lt;/Text&gt;&#10;                &lt;Text style={{ fontSize: 15, color: '#8B97A8' }}&gt;对分数尺度不敏感 · 消掉了旧方案的硬编码惩罚&lt;/Text&gt;&#10;            &lt;/Box&gt;&#10;        &lt;/Box&gt;&#10;        &lt;Box style={{ flexDirection: 'row', gap: 12 }}&gt;&#10;            &lt;Box style={{ flex: 1, height: 176, background: '#F7F9FC', borderRadius: 10, border: '1px solid #D6DCE5', borderTop: '4px solid #1E4FA8', padding: '13px 16px', justifyContent: 'space-between' }}&gt;&#10;                &lt;Text style={{ fontSize: 20, fontWeight: 'bold', color: '#1A2230' }}&gt;评估护栏 · 让质量变成数字&lt;/Text&gt;&#10;                &lt;Text style={{ fontSize: 16, color: '#4A5568', lineHeight: 1.55 }}&gt;&#10;                    20 条语料 / 16 条查询，recall@5 ≥ 0.95、recall@1 ≥ 0.75 写成断言，并要求新融合方式不得差于旧加权方案。&#10;                &lt;/Text&gt;&#10;                &lt;Text style={{ fontSize: 15, color: '#8B97A8' }}&gt;改任何检索参数，跑一次测试就知道变好还是变坏&lt;/Text&gt;&#10;            &lt;/Box&gt;&#10;            &lt;Box style={{ flex: 1, height: 176, background: '#F7F9FC', borderRadius: 10, border: '1px solid #D6DCE5', borderTop: '4px solid #1E4FA8', padding: '13px 16px', justifyContent: 'space-between' }}&gt;&#10;                &lt;Text style={{ fontSize: 20, fontWeight: 'bold', color: '#1A2230' }}&gt;库内检索与向量版本管理&lt;/Text&gt;&#10;                &lt;Text style={{ fontSize: 16, color: '#4A5568', lineHeight: 1.55 }}&gt;&#10;                    pgvector 用 &amp;lt;=&amp;gt; 余弦距离算子把排序下推到库内；每条内容记录嵌入模型与维度，换模型只增量重建陈旧条目。&#10;                &lt;/Text&gt;&#10;                &lt;Text style={{ fontSize: 15, color: '#8B97A8' }}&gt;VectorStore 抽象两实现：内存索引 ｜ pgvector&lt;/Text&gt;&#10;            &lt;/Box&gt;&#10;        &lt;/Box&gt;&#10;    &lt;/Box&gt;&#10;    &lt;Box style={{ flexDirection: 'row', justifyContent: 'space-between', alignItems: 'center', padding: '10px 40px 14px 40px' }}&gt;&#10;        &lt;Text style={{ fontSize: 14, color: '#8B97A8' }}&gt;认知副驾 · Cognitive Copilot&lt;/Text&gt;&#10;        &lt;Text style={{ fontSize: 14, color: '#1E4FA8' }}&gt;10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4194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技术二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· RAG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检索工程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648700" y="419100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本地向量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双通道召回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排名融合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评估护栏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381000" y="714375"/>
            <a:ext cx="11430000" cy="180975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14350" y="809625"/>
            <a:ext cx="111633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RAG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与生成全链路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 ——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八个环节，除重排外全部落地</a:t>
            </a:r>
            <a:endParaRPr/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14350" y="1038225"/>
            <a:ext cx="11049000" cy="1390650"/>
          </a:xfrm>
          <a:prstGeom prst="rect">
            <a:avLst/>
          </a:prstGeom>
          <a:ln/>
        </p:spPr>
      </p:pic>
      <p:sp>
        <p:nvSpPr>
          <p:cNvPr id="26" name=""/>
          <p:cNvSpPr/>
          <p:nvPr/>
        </p:nvSpPr>
        <p:spPr>
          <a:xfrm rot="0" flipH="0" flipV="0">
            <a:off x="381000" y="2657475"/>
            <a:ext cx="5657850" cy="1638300"/>
          </a:xfrm>
          <a:prstGeom prst="roundRect">
            <a:avLst>
              <a:gd name="adj" fmla="val 5814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381000" y="2657475"/>
            <a:ext cx="5657850" cy="1638300"/>
          </a:xfrm>
          <a:custGeom>
            <a:pathLst>
              <a:path w="594" h="172">
                <a:moveTo>
                  <a:pt x="584" y="0"/>
                </a:moveTo>
                <a:cubicBezTo>
                  <a:pt x="589" y="0"/>
                  <a:pt x="593" y="4"/>
                  <a:pt x="594" y="8"/>
                </a:cubicBezTo>
                <a:cubicBezTo>
                  <a:pt x="593" y="6"/>
                  <a:pt x="591" y="4"/>
                  <a:pt x="58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58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33400" y="2781300"/>
            <a:ext cx="5353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本地向量模型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 · BGE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33400" y="3219450"/>
            <a:ext cx="53530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bge-small-zh-v1.5 · 512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维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ONNX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离线部署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输出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L2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归一化（归一后余弦等价于内积）。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33400" y="4000500"/>
            <a:ext cx="5353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不依赖对话模型的接口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离线可复现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零调用成本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153150" y="2657475"/>
            <a:ext cx="5657850" cy="1638300"/>
          </a:xfrm>
          <a:prstGeom prst="roundRect">
            <a:avLst>
              <a:gd name="adj" fmla="val 5814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6153150" y="2657475"/>
            <a:ext cx="5657850" cy="1638300"/>
          </a:xfrm>
          <a:custGeom>
            <a:pathLst>
              <a:path w="594" h="172">
                <a:moveTo>
                  <a:pt x="584" y="0"/>
                </a:moveTo>
                <a:cubicBezTo>
                  <a:pt x="589" y="0"/>
                  <a:pt x="593" y="4"/>
                  <a:pt x="594" y="8"/>
                </a:cubicBezTo>
                <a:cubicBezTo>
                  <a:pt x="593" y="6"/>
                  <a:pt x="591" y="4"/>
                  <a:pt x="58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58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305550" y="2781300"/>
            <a:ext cx="5353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双通道召回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＋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 RRF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融合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305550" y="3219450"/>
            <a:ext cx="53530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向量管语义相近（「拖延症」≈「执行力差」），关键词管字面精确（术语与符号）；融合用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Σ w/(60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＋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rank)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305550" y="4000500"/>
            <a:ext cx="5353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对分数尺度不敏感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消掉了旧方案的硬编码惩罚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381000" y="4429125"/>
            <a:ext cx="5657850" cy="1638300"/>
          </a:xfrm>
          <a:prstGeom prst="roundRect">
            <a:avLst>
              <a:gd name="adj" fmla="val 5814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381000" y="4429125"/>
            <a:ext cx="5657850" cy="1638300"/>
          </a:xfrm>
          <a:custGeom>
            <a:pathLst>
              <a:path w="594" h="172">
                <a:moveTo>
                  <a:pt x="584" y="0"/>
                </a:moveTo>
                <a:cubicBezTo>
                  <a:pt x="589" y="0"/>
                  <a:pt x="593" y="4"/>
                  <a:pt x="594" y="8"/>
                </a:cubicBezTo>
                <a:cubicBezTo>
                  <a:pt x="593" y="6"/>
                  <a:pt x="591" y="4"/>
                  <a:pt x="58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58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533400" y="4552950"/>
            <a:ext cx="5353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评估护栏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让质量变成数字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33400" y="4991100"/>
            <a:ext cx="53530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20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条语料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16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条查询，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recall@5 ≥ 0.95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recall@1 ≥ 0.75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写成断言，并要求新融合方式不得差于旧加权方案。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33400" y="5772150"/>
            <a:ext cx="5353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改任何检索参数，跑一次测试就知道变好还是变坏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6153150" y="4429125"/>
            <a:ext cx="5657850" cy="1638300"/>
          </a:xfrm>
          <a:prstGeom prst="roundRect">
            <a:avLst>
              <a:gd name="adj" fmla="val 5814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6153150" y="4429125"/>
            <a:ext cx="5657850" cy="1638300"/>
          </a:xfrm>
          <a:custGeom>
            <a:pathLst>
              <a:path w="594" h="172">
                <a:moveTo>
                  <a:pt x="584" y="0"/>
                </a:moveTo>
                <a:cubicBezTo>
                  <a:pt x="589" y="0"/>
                  <a:pt x="593" y="4"/>
                  <a:pt x="594" y="8"/>
                </a:cubicBezTo>
                <a:cubicBezTo>
                  <a:pt x="593" y="6"/>
                  <a:pt x="591" y="4"/>
                  <a:pt x="58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58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305550" y="4552950"/>
            <a:ext cx="5353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库内检索与向量版本管理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305550" y="4991100"/>
            <a:ext cx="53530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pgvector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&lt;=&gt;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余弦距离算子把排序下推到库内；每条内容记录嵌入模型与维度，换模型只增量重建陈旧条目。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305550" y="5772150"/>
            <a:ext cx="5353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VectorStore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抽象两实现：内存索引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｜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pgvector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381000" y="656272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1353800" y="6562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10 / 27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8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16px 40px 8px 40px' }}&gt;&#10;        &lt;Text style={{ fontSize: 34, fontWeight: 'bold', color: '#0E3F8C' }}&gt;技术三 · 冲突检测：先向量后模型的漏斗&lt;/Text&gt;&#10;        &lt;Text style={{ fontSize: 17, color: '#8B97A8' }}&gt;把平方级的两两比较压到每轮 ≤20 对&lt;/Text&gt;&#10;    &lt;/Box&gt;&#10;    &lt;Box style={{ flex: 1, flexDirection: 'column', gap: 9, padding: '2px 40px 0 40px' }}&gt;&#10;        &lt;Box style={{ flexDirection: 'row', alignItems: 'center', gap: 14 }}&gt;&#10;            &lt;Box style={{ width: 206, height: 54, justifyContent: 'center' }}&gt;&#10;                &lt;Text style={{ fontSize: 18, fontWeight: 'bold', color: '#0E3F8C' }}&gt;① 全部主张对&lt;/Text&gt;&#10;            &lt;/Box&gt;&#10;            &lt;Box style={{ width: 800, height: 54, background: '#BBD0F0', borderRadius: 6, padding: '0 16px', justifyContent: 'center' }}&gt;&#10;                &lt;Text style={{ fontSize: 17, color: '#0E3F8C' }}&gt;两两比较：1000 条主张约 50 万对——全送模型既不现实也不必要&lt;/Text&gt;&#10;            &lt;/Box&gt;&#10;        &lt;/Box&gt;&#10;        &lt;Box style={{ flexDirection: 'row', alignItems: 'center', gap: 14 }}&gt;&#10;            &lt;Box style={{ width: 206, height: 54, justifyContent: 'center' }}&gt;&#10;                &lt;Text style={{ fontSize: 18, fontWeight: 'bold', color: '#0E3F8C' }}&gt;② 向量距离带&lt;/Text&gt;&#10;            &lt;/Box&gt;&#10;            &lt;Box style={{ width: 676, height: 54, background: '#8FB0E4', borderRadius: 6, padding: '0 16px', justifyContent: 'center' }}&gt;&#10;                &lt;Text style={{ fontSize: 17, color: '#0E3F8C' }}&gt;只留 0.35 ≤ 余弦 ≤ 0.95：太近≈重复表述，太远≈无关，两端都排除&lt;/Text&gt;&#10;            &lt;/Box&gt;&#10;        &lt;/Box&gt;&#10;        &lt;Box style={{ flexDirection: 'row', alignItems: 'center', gap: 14 }}&gt;&#10;            &lt;Box style={{ width: 206, height: 54, justifyContent: 'center' }}&gt;&#10;                &lt;Text style={{ fontSize: 18, fontWeight: 'bold', color: '#0E3F8C' }}&gt;③ 硬闸门&lt;/Text&gt;&#10;            &lt;/Box&gt;&#10;            &lt;Box style={{ width: 552, height: 54, background: '#5C8AD4', borderRadius: 6, padding: '0 16px', justifyContent: 'center' }}&gt;&#10;                &lt;Text style={{ fontSize: 17, color: '#FFFFFF' }}&gt;单轮最多 20 对送模型判定——成本闸门，超出的转 pending 下轮补&lt;/Text&gt;&#10;            &lt;/Box&gt;&#10;        &lt;/Box&gt;&#10;        &lt;Box style={{ flexDirection: 'row', alignItems: 'center', gap: 14 }}&gt;&#10;            &lt;Box style={{ width: 206, height: 54, justifyContent: 'center' }}&gt;&#10;                &lt;Text style={{ fontSize: 18, fontWeight: 'bold', color: '#0E3F8C' }}&gt;④ 置信度过滤&lt;/Text&gt;&#10;            &lt;/Box&gt;&#10;            &lt;Box style={{ width: 428, height: 54, background: '#3D7BD9', borderRadius: 6, padding: '0 16px', justifyContent: 'center' }}&gt;&#10;                &lt;Text style={{ fontSize: 17, color: '#FFFFFF' }}&gt;低于 0.5 直接丢弃——入库前最后一道，不硬猜&lt;/Text&gt;&#10;            &lt;/Box&gt;&#10;        &lt;/Box&gt;&#10;        &lt;Box style={{ flexDirection: 'row', alignItems: 'center', gap: 14 }}&gt;&#10;            &lt;Box style={{ width: 206, height: 54, justifyContent: 'center' }}&gt;&#10;                &lt;Text style={{ fontSize: 18, fontWeight: 'bold', color: '#0E3F8C' }}&gt;⑤ 低置信复核&lt;/Text&gt;&#10;            &lt;/Box&gt;&#10;            &lt;Box style={{ width: 328, height: 54, background: '#1E4FA8', borderRadius: 6, padding: '0 16px', justifyContent: 'center' }}&gt;&#10;                &lt;Text style={{ fontSize: 17, color: '#FFFFFF' }}&gt;0.35~0.75 换角度重判，每轮 ≤5 次&lt;/Text&gt;&#10;            &lt;/Box&gt;&#10;        &lt;/Box&gt;&#10;        &lt;Box style={{ flexDirection: 'row', gap: 12, marginTop: 4 }}&gt;&#10;            &lt;Box style={{ flex: 1, height: 178, background: '#F7F9FC', borderRadius: 10, border: '1px solid #D6DCE5', borderTop: '4px solid #1E4FA8', padding: '13px 16px', justifyContent: 'space-between' }}&gt;&#10;                &lt;Text style={{ fontSize: 20, fontWeight: 'bold', color: '#1A2230' }}&gt;阈值不是拍的&lt;/Text&gt;&#10;                &lt;Text style={{ fontSize: 16, color: '#4A5568', lineHeight: 1.55 }}&gt;&#10;                    先人工看一批主张对的余弦分布：「相关但立场不同」集中在 0.4~0.85，&amp;gt;0.95 基本是同义重复，&amp;lt;0.35 属不同主题。参数按实测分布切。&#10;                &lt;/Text&gt;&#10;                &lt;Text style={{ fontSize: 15, color: '#8B97A8' }}&gt;全部阈值放配置，可随数据重新校准&lt;/Text&gt;&#10;            &lt;/Box&gt;&#10;            &lt;Box style={{ flex: 1, height: 178, background: '#F7F9FC', borderRadius: 10, border: '1px solid #D6DCE5', borderTop: '4px solid #1E4FA8', padding: '13px 16px', justifyContent: 'space-between' }}&gt;&#10;                &lt;Text style={{ fontSize: 20, fontWeight: 'bold', color: '#1A2230' }}&gt;真实评测结果&lt;/Text&gt;&#10;                &lt;Text style={{ fontSize: 16, color: '#4A5568', lineHeight: 1.55 }}&gt;&#10;                    关系判定准确率 0.83；矛盾判定的准确率、召回率、F1 均为 1.0；给出回归承诺「后续迭代不低于基线 0.83」并已兑现。&#10;                &lt;/Text&gt;&#10;                &lt;Text style={{ fontSize: 15, color: '#8B97A8' }}&gt;评测集自建、规模有限，不作通用 benchmark&lt;/Text&gt;&#10;            &lt;/Box&gt;&#10;            &lt;Box style={{ flex: 1, height: 178, background: '#F7F9FC', borderRadius: 10, border: '1px solid #D6DCE5', borderTop: '4px solid #1E4FA8', padding: '13px 16px', justifyContent: 'space-between' }}&gt;&#10;                &lt;Text style={{ fontSize: 20, fontWeight: 'bold', color: '#1A2230' }}&gt;这一层的成本意义&lt;/Text&gt;&#10;                &lt;Text style={{ fontSize: 16, color: '#4A5568', lineHeight: 1.55 }}&gt;&#10;                    让便宜的向量先判断「值不值得让贵的模型看」：模型调用量降若干个数量级，等待时间同步下降。&#10;                &lt;/Text&gt;&#10;                &lt;Text style={{ fontSize: 15, color: '#8B97A8' }}&gt;复杂度瓶颈仍在组对阶段，已列为下一步&lt;/Text&gt;&#10;            &lt;/Box&gt;&#10;        &lt;/Box&gt;&#10;    &lt;/Box&gt;&#10;    &lt;Box style={{ flexDirection: 'row', justifyContent: 'space-between', alignItems: 'center', padding: '10px 40px 14px 40px' }}&gt;&#10;        &lt;Text style={{ fontSize: 14, color: '#8B97A8' }}&gt;认知副驾 · Cognitive Copilot&lt;/Text&gt;&#10;        &lt;Text style={{ fontSize: 14, color: '#1E4FA8' }}&gt;11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5848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技术三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冲突检测：先向量后模型的漏斗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9134475" y="419100"/>
            <a:ext cx="2676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把平方级的两两比较压到每轮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≤20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对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381000" y="866775"/>
            <a:ext cx="1962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①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全部主张对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2476500" y="714375"/>
            <a:ext cx="7620000" cy="514350"/>
          </a:xfrm>
          <a:prstGeom prst="roundRect">
            <a:avLst>
              <a:gd name="adj" fmla="val 11111"/>
            </a:avLst>
          </a:prstGeom>
          <a:solidFill>
            <a:srgbClr val="BBD0F0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2628900" y="876300"/>
            <a:ext cx="7315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两两比较：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>1000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条主张约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> 50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万对——全送模型既不现实也不必要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81000" y="1466850"/>
            <a:ext cx="1962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②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向量距离带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2476500" y="1314450"/>
            <a:ext cx="6438900" cy="514350"/>
          </a:xfrm>
          <a:prstGeom prst="roundRect">
            <a:avLst>
              <a:gd name="adj" fmla="val 11111"/>
            </a:avLst>
          </a:prstGeom>
          <a:solidFill>
            <a:srgbClr val="8FB0E4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2628900" y="1476375"/>
            <a:ext cx="6134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只留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> 0.35 ≤ 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余弦</a:t>
            </a:r>
            <a:r>
              <a:rPr lang="en-US" sz="1275">
                <a:solidFill>
                  <a:srgbClr val="0E3F8C"/>
                </a:solidFill>
                <a:latin typeface="Microsoft YaHei"/>
                <a:ea typeface="Microsoft YaHei"/>
              </a:rPr>
              <a:t> ≤ 0.95</a:t>
            </a:r>
            <a:r>
              <a:rPr lang="zh-CN" sz="1275">
                <a:solidFill>
                  <a:srgbClr val="0E3F8C"/>
                </a:solidFill>
                <a:latin typeface="Microsoft YaHei"/>
                <a:ea typeface="Microsoft YaHei"/>
              </a:rPr>
              <a:t>：太近≈重复表述，太远≈无关，两端都排除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381000" y="2066925"/>
            <a:ext cx="1962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③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硬闸门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2476500" y="1914525"/>
            <a:ext cx="5257800" cy="514350"/>
          </a:xfrm>
          <a:prstGeom prst="roundRect">
            <a:avLst>
              <a:gd name="adj" fmla="val 11111"/>
            </a:avLst>
          </a:prstGeom>
          <a:solidFill>
            <a:srgbClr val="5C8AD4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2628900" y="207645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单轮最多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 20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对送模型判定——成本闸门，超出的转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 pending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下轮补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81000" y="2667000"/>
            <a:ext cx="1962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④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置信度过滤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2476500" y="2514600"/>
            <a:ext cx="4076700" cy="514350"/>
          </a:xfrm>
          <a:prstGeom prst="roundRect">
            <a:avLst>
              <a:gd name="adj" fmla="val 11111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2628900" y="2676525"/>
            <a:ext cx="3771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低于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 0.5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直接丢弃——入库前最后一道，不硬猜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381000" y="3267075"/>
            <a:ext cx="1962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⑤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低置信复核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2476500" y="3114675"/>
            <a:ext cx="3124200" cy="514350"/>
          </a:xfrm>
          <a:prstGeom prst="roundRect">
            <a:avLst>
              <a:gd name="adj" fmla="val 1111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2628900" y="3276600"/>
            <a:ext cx="2819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0.35~0.75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换角度重判，每轮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 ≤5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381000" y="3790950"/>
            <a:ext cx="3733800" cy="1657350"/>
          </a:xfrm>
          <a:prstGeom prst="roundRect">
            <a:avLst>
              <a:gd name="adj" fmla="val 574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381000" y="3790950"/>
            <a:ext cx="3733800" cy="1657350"/>
          </a:xfrm>
          <a:custGeom>
            <a:pathLst>
              <a:path w="392" h="174">
                <a:moveTo>
                  <a:pt x="382" y="0"/>
                </a:moveTo>
                <a:cubicBezTo>
                  <a:pt x="387" y="0"/>
                  <a:pt x="391" y="4"/>
                  <a:pt x="392" y="8"/>
                </a:cubicBezTo>
                <a:cubicBezTo>
                  <a:pt x="391" y="6"/>
                  <a:pt x="389" y="4"/>
                  <a:pt x="386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82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33400" y="3914775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阈值不是拍的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33400" y="4219575"/>
            <a:ext cx="34290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先人工看一批主张对的余弦分布：「相关但立场不同」集中在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0.4~0.85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&gt;0.95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基本是同义重复，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&lt;0.35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属不同主题。参数按实测分布切。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533400" y="5153025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全部阈值放配置，可随数据重新校准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4229100" y="3790950"/>
            <a:ext cx="3733800" cy="1657350"/>
          </a:xfrm>
          <a:prstGeom prst="roundRect">
            <a:avLst>
              <a:gd name="adj" fmla="val 574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4229100" y="3790950"/>
            <a:ext cx="3733800" cy="1657350"/>
          </a:xfrm>
          <a:custGeom>
            <a:pathLst>
              <a:path w="392" h="174">
                <a:moveTo>
                  <a:pt x="382" y="0"/>
                </a:moveTo>
                <a:cubicBezTo>
                  <a:pt x="387" y="0"/>
                  <a:pt x="391" y="4"/>
                  <a:pt x="392" y="8"/>
                </a:cubicBezTo>
                <a:cubicBezTo>
                  <a:pt x="391" y="6"/>
                  <a:pt x="389" y="4"/>
                  <a:pt x="386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82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381500" y="3914775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真实评测结果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381500" y="4219575"/>
            <a:ext cx="34290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关系判定准确率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0.83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；矛盾判定的准确率、召回率、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F1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均为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1.0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；给出回归承诺「后续迭代不低于基线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0.83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」并已兑现。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381500" y="5153025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评测集自建、规模有限，不作通用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benchmark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8077200" y="3790950"/>
            <a:ext cx="3733800" cy="1657350"/>
          </a:xfrm>
          <a:prstGeom prst="roundRect">
            <a:avLst>
              <a:gd name="adj" fmla="val 574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8077200" y="3790950"/>
            <a:ext cx="3733800" cy="1657350"/>
          </a:xfrm>
          <a:custGeom>
            <a:pathLst>
              <a:path w="392" h="174">
                <a:moveTo>
                  <a:pt x="382" y="0"/>
                </a:moveTo>
                <a:cubicBezTo>
                  <a:pt x="387" y="0"/>
                  <a:pt x="391" y="4"/>
                  <a:pt x="392" y="8"/>
                </a:cubicBezTo>
                <a:cubicBezTo>
                  <a:pt x="391" y="6"/>
                  <a:pt x="389" y="4"/>
                  <a:pt x="386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82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229600" y="3914775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这一层的成本意义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229600" y="4362450"/>
            <a:ext cx="34290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让便宜的向量先判断「值不值得让贵的模型看」：模型调用量降若干个数量级，等待时间同步下降。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229600" y="5153025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复杂度瓶颈仍在组对阶段，已列为下一步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381000" y="656272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1353800" y="6562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11 / 27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5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18px 40px 10px 40px' }}&gt;&#10;        &lt;Text style={{ fontSize: 34, fontWeight: 'bold', color: '#0E3F8C' }}&gt;技术四 · 可靠性工程：让失败可见&lt;/Text&gt;&#10;        &lt;Text style={{ fontSize: 17, color: '#8B97A8' }}&gt;幂等 · 退避重试 · 死信 · 降级边界 · 自检端点&lt;/Text&gt;&#10;    &lt;/Box&gt;&#10;    &lt;Box style={{ flex: 1, flexDirection: 'column', gap: 12, padding: '2px 40px 0 40px' }}&gt;&#10;        &lt;Box style={{ flexDirection: 'row', gap: 12 }}&gt;&#10;            &lt;Box style={{ flex: 1, height: 244, background: '#F7F9FC', borderRadius: 10, border: '1px solid #D6DCE5', borderTop: '4px solid #1E4FA8', padding: '16px 18px', justifyContent: 'space-between' }}&gt;&#10;                &lt;Box&gt;&#10;                    &lt;Text style={{ fontSize: 22, fontWeight: 'bold', color: '#1A2230' }}&gt;异步任务框架（自研，约 200 行）&lt;/Text&gt;&#10;                    &lt;Text style={{ fontSize: 17, color: '#4A5568', marginTop: 10, lineHeight: 1.6 }}&gt;&#10;                        幂等键唯一约束，重复入队由数据库直接挡回；失败按 2 的 n−1 次方退避重试，超过 3 次转死信并保留 last_error 现场；running 超时 10 分钟回收，防进程崩溃后任务卡死。&#10;                    &lt;/Text&gt;&#10;                &lt;/Box&gt;&#10;                &lt;Text style={{ fontSize: 15, color: '#8B97A8' }}&gt;零额外基础设施：不依赖 Redis / Celery，可靠性语义与业务幂等对齐&lt;/Text&gt;&#10;            &lt;/Box&gt;&#10;            &lt;Box style={{ flex: 1, height: 244, background: '#F7F9FC', borderRadius: 10, border: '1px solid #D6DCE5', borderTop: '4px solid #1E4FA8', padding: '16px 18px', justifyContent: 'space-between' }}&gt;&#10;                &lt;Box&gt;&#10;                    &lt;Text style={{ fontSize: 22, fontWeight: 'bold', color: '#1A2230' }}&gt;异步回合不引入新表&lt;/Text&gt;&#10;                    &lt;Text style={{ fontSize: 17, color: '#4A5568', marginTop: 10, lineHeight: 1.6 }}&gt;&#10;                        状态直接落在会话消息上：先写一条「进行中」卡，后台跑完就地改写那条消息，重新打开看到的是最终结果而不是永久转圈。同步与异步共用同一段执行逻辑，避免两套实现静默分叉。&#10;                    &lt;/Text&gt;&#10;                &lt;/Box&gt;&#10;                &lt;Text style={{ fontSize: 15, color: '#8B97A8' }}&gt;没有后台进程时自动退回同步执行&lt;/Text&gt;&#10;            &lt;/Box&gt;&#10;        &lt;/Box&gt;&#10;        &lt;Box style={{ flexDirection: 'row', gap: 12 }}&gt;&#10;            &lt;Box style={{ flex: 1, height: 244, background: '#F7F9FC', borderRadius: 10, border: '1px solid #D6DCE5', borderTop: '4px solid #1E4FA8', padding: '16px 18px', justifyContent: 'space-between' }}&gt;&#10;                &lt;Box&gt;&#10;                    &lt;Text style={{ fontSize: 22, fontWeight: 'bold', color: '#1A2230' }}&gt;降级有边界&lt;/Text&gt;&#10;                    &lt;Text style={{ fontSize: 17, color: '#4A5568', marginTop: 10, lineHeight: 1.6 }}&gt;&#10;                        检索失败降级关键词通道、嵌入不可用切确定性兜底、会话过期静默续期、异常输入有提示不裸抛错误——但&lt;span style={{ fontWeight: 'bold', color: '#0E3F8C' }}&gt;模拟结果永不冒充真实结果&lt;/span&gt;，每次降级都记日志并落事件。&#10;                    &lt;/Text&gt;&#10;                &lt;/Box&gt;&#10;                &lt;Text style={{ fontSize: 15, color: '#8B97A8' }}&gt;容错的代价必须可见，否则等于把缺陷藏起来&lt;/Text&gt;&#10;            &lt;/Box&gt;&#10;            &lt;Box style={{ flex: 1, height: 244, background: '#F7F9FC', borderRadius: 10, border: '1px solid #D6DCE5', borderTop: '4px solid #1E4FA8', padding: '16px 18px', justifyContent: 'space-between' }}&gt;&#10;                &lt;Box&gt;&#10;                    &lt;Text style={{ fontSize: 22, fontWeight: 'bold', color: '#1A2230' }}&gt;自检端点：一次调用查五项&lt;/Text&gt;&#10;                    &lt;Text style={{ fontSize: 17, color: '#4A5568', marginTop: 10, lineHeight: 1.6 }}&gt;&#10;                        数据库连通、模型可用性、嵌入后端、向量索引一致性、陈旧向量——任何一项异常都能立刻定位到是哪一层出的问题，而不是从「结果不对」开始猜。&#10;                    &lt;/Text&gt;&#10;                &lt;/Box&gt;&#10;                &lt;Text style={{ fontSize: 15, color: '#8B97A8' }}&gt;让「不报错但不对」有地方暴露出来&lt;/Text&gt;&#10;            &lt;/Box&gt;&#10;        &lt;/Box&gt;&#10;    &lt;/Box&gt;&#10;    &lt;Box style={{ margin: '10px 40px 0 40px', padding: '12px 24px', background: '#0E3F8C', borderRadius: 8 }}&gt;&#10;        &lt;Text style={{ fontSize: 19, color: '#FFFFFF', textAlign: 'center' }}&gt;&#10;            测试保证「不报错」，评估保证「没变差」——这两件事我用了两套机制，因为降级链会把缺陷悄悄吃掉&#10;        &lt;/Text&gt;&#10;    &lt;/Box&gt;&#10;    &lt;Box style={{ flexDirection: 'row', justifyContent: 'space-between', alignItems: 'center', padding: '10px 40px 14px 40px' }}&gt;&#10;        &lt;Text style={{ fontSize: 14, color: '#8B97A8' }}&gt;认知副驾 · Cognitive Copilot&lt;/Text&gt;&#10;        &lt;Text style={{ fontSize: 14, color: '#1E4FA8' }}&gt;12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4876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技术四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可靠性工程：让失败可见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677275" y="438150"/>
            <a:ext cx="3133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幂等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退避重试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死信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降级边界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自检端点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381000" y="790575"/>
            <a:ext cx="5657850" cy="2286000"/>
          </a:xfrm>
          <a:prstGeom prst="roundRect">
            <a:avLst>
              <a:gd name="adj" fmla="val 41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381000" y="790575"/>
            <a:ext cx="5657850" cy="2286000"/>
          </a:xfrm>
          <a:custGeom>
            <a:pathLst>
              <a:path w="594" h="240">
                <a:moveTo>
                  <a:pt x="584" y="0"/>
                </a:moveTo>
                <a:cubicBezTo>
                  <a:pt x="589" y="0"/>
                  <a:pt x="593" y="4"/>
                  <a:pt x="594" y="8"/>
                </a:cubicBezTo>
                <a:cubicBezTo>
                  <a:pt x="593" y="6"/>
                  <a:pt x="591" y="4"/>
                  <a:pt x="58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58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52450" y="942975"/>
            <a:ext cx="5314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异步任务框架（自研，约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 200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行）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52450" y="1295400"/>
            <a:ext cx="53149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幂等键唯一约束，重复入队由数据库直接挡回；失败按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2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的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n−1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次方退避重试，超过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3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次转死信并保留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last_error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现场；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running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超时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10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分钟回收，防进程崩溃后任务卡死。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552450" y="2752725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零额外基础设施：不依赖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Redis / Celery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，可靠性语义与业务幂等对齐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153150" y="790575"/>
            <a:ext cx="5657850" cy="2286000"/>
          </a:xfrm>
          <a:prstGeom prst="roundRect">
            <a:avLst>
              <a:gd name="adj" fmla="val 41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6153150" y="790575"/>
            <a:ext cx="5657850" cy="2286000"/>
          </a:xfrm>
          <a:custGeom>
            <a:pathLst>
              <a:path w="594" h="240">
                <a:moveTo>
                  <a:pt x="584" y="0"/>
                </a:moveTo>
                <a:cubicBezTo>
                  <a:pt x="589" y="0"/>
                  <a:pt x="593" y="4"/>
                  <a:pt x="594" y="8"/>
                </a:cubicBezTo>
                <a:cubicBezTo>
                  <a:pt x="593" y="6"/>
                  <a:pt x="591" y="4"/>
                  <a:pt x="58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58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324600" y="942975"/>
            <a:ext cx="5314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异步回合不引入新表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324600" y="1295400"/>
            <a:ext cx="53149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状态直接落在会话消息上：先写一条「进行中」卡，后台跑完就地改写那条消息，重新打开看到的是最终结果而不是永久转圈。同步与异步共用同一段执行逻辑，避免两套实现静默分叉。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324600" y="2752725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没有后台进程时自动退回同步执行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381000" y="3228975"/>
            <a:ext cx="5657850" cy="2286000"/>
          </a:xfrm>
          <a:prstGeom prst="roundRect">
            <a:avLst>
              <a:gd name="adj" fmla="val 41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381000" y="3228975"/>
            <a:ext cx="5657850" cy="2286000"/>
          </a:xfrm>
          <a:custGeom>
            <a:pathLst>
              <a:path w="594" h="240">
                <a:moveTo>
                  <a:pt x="584" y="0"/>
                </a:moveTo>
                <a:cubicBezTo>
                  <a:pt x="589" y="0"/>
                  <a:pt x="593" y="4"/>
                  <a:pt x="594" y="8"/>
                </a:cubicBezTo>
                <a:cubicBezTo>
                  <a:pt x="593" y="6"/>
                  <a:pt x="591" y="4"/>
                  <a:pt x="58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58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52450" y="3381375"/>
            <a:ext cx="5314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降级有边界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52450" y="3733800"/>
            <a:ext cx="53149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检索失败降级关键词通道、嵌入不可用切确定性兜底、会话过期静默续期、异常输入有提示不裸抛错误——但</a:t>
            </a: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模拟结果永不冒充真实结果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，每次降级都记日志并落事件。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52450" y="5191125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容错的代价必须可见，否则等于把缺陷藏起来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153150" y="3228975"/>
            <a:ext cx="5657850" cy="2286000"/>
          </a:xfrm>
          <a:prstGeom prst="roundRect">
            <a:avLst>
              <a:gd name="adj" fmla="val 416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6153150" y="3228975"/>
            <a:ext cx="5657850" cy="2286000"/>
          </a:xfrm>
          <a:custGeom>
            <a:pathLst>
              <a:path w="594" h="240">
                <a:moveTo>
                  <a:pt x="584" y="0"/>
                </a:moveTo>
                <a:cubicBezTo>
                  <a:pt x="589" y="0"/>
                  <a:pt x="593" y="4"/>
                  <a:pt x="594" y="8"/>
                </a:cubicBezTo>
                <a:cubicBezTo>
                  <a:pt x="593" y="6"/>
                  <a:pt x="591" y="4"/>
                  <a:pt x="58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58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324600" y="3381375"/>
            <a:ext cx="5314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自检端点：一次调用查五项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324600" y="3733800"/>
            <a:ext cx="53149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数据库连通、模型可用性、嵌入后端、向量索引一致性、陈旧向量——任何一项异常都能立刻定位到是哪一层出的问题，而不是从「结果不对」开始猜。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324600" y="5191125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让「不报错但不对」有地方暴露出来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381000" y="6019800"/>
            <a:ext cx="11430000" cy="447675"/>
          </a:xfrm>
          <a:prstGeom prst="roundRect">
            <a:avLst>
              <a:gd name="adj" fmla="val 1702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09600" y="6134100"/>
            <a:ext cx="109728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测试保证「不报错」，评估保证「没变差」——这两件事我用了两套机制，因为降级链会把缺陷悄悄吃掉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381000" y="656272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1353800" y="6562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12 / 27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4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18px 40px 10px 40px' }}&gt;&#10;        &lt;Text style={{ fontSize: 34, fontWeight: 'bold', color: '#0E3F8C' }}&gt;技术五 · 数据与安全&lt;/Text&gt;&#10;        &lt;Text style={{ fontSize: 17, color: '#8B97A8' }}&gt;认证 · 限流 · 隔离 · 凭据与隐私&lt;/Text&gt;&#10;    &lt;/Box&gt;&#10;    &lt;Box style={{ flex: 1, flexDirection: 'column', gap: 12, padding: '2px 40px 0 40px' }}&gt;&#10;        &lt;Box style={{ flexDirection: 'row', gap: 12 }}&gt;&#10;            &lt;Box style={{ flex: 1, height: 236, background: '#F7F9FC', borderRadius: 10, border: '1px solid #D6DCE5', borderTop: '4px solid #1E4FA8', padding: '16px 18px', justifyContent: 'space-between' }}&gt;&#10;                &lt;Box&gt;&#10;                    &lt;Text style={{ fontSize: 22, fontWeight: 'bold', color: '#1A2230' }}&gt;认证与会话&lt;/Text&gt;&#10;                    &lt;Text style={{ fontSize: 17, color: '#4A5568', marginTop: 10, lineHeight: 1.6 }}&gt;&#10;                        JWT（HS256）无状态令牌：Access Token 2 小时、Refresh Token 7 天，前端统一管理续期。密码只存 PBKDF2 派生值，迭代 60 万次（对齐 OWASP 推荐量级），不可逆推。&#10;                    &lt;/Text&gt;&#10;                &lt;/Box&gt;&#10;                &lt;Text style={{ fontSize: 15, color: '#8B97A8' }}&gt;401 统一走续期流程，不让页面烂成空壳&lt;/Text&gt;&#10;            &lt;/Box&gt;&#10;            &lt;Box style={{ flex: 1, height: 236, background: '#F7F9FC', borderRadius: 10, border: '1px solid #D6DCE5', borderTop: '4px solid #1E4FA8', padding: '16px 18px', justifyContent: 'space-between' }}&gt;&#10;                &lt;Box&gt;&#10;                    &lt;Text style={{ fontSize: 22, fontWeight: 'bold', color: '#1A2230' }}&gt;接口防滥用&lt;/Text&gt;&#10;                    &lt;Text style={{ fontSize: 17, color: '#4A5568', marginTop: 10, lineHeight: 1.6 }}&gt;&#10;                        登录按账号 5 次失败 / 5 分钟窗口、锁 5 分钟；按来源 IP 20 次（阈值故意放宽，避免 NAT 后的正常用户被连带）；注册另按 IP 限流 10 次——因为每次注册都要跑 PBKDF2，是可被利用的 CPU 消耗点。&#10;                    &lt;/Text&gt;&#10;                &lt;/Box&gt;&#10;                &lt;Text style={{ fontSize: 15, color: '#8B97A8' }}&gt;限流状态在进程内，多 worker 下阈值等效放大（已知边界）&lt;/Text&gt;&#10;            &lt;/Box&gt;&#10;        &lt;/Box&gt;&#10;        &lt;Box style={{ flexDirection: 'row', gap: 12 }}&gt;&#10;            &lt;Box style={{ flex: 1, height: 236, background: '#F7F9FC', borderRadius: 10, border: '1px solid #D6DCE5', borderTop: '4px solid #1E4FA8', padding: '16px 18px', justifyContent: 'space-between' }}&gt;&#10;                &lt;Box&gt;&#10;                    &lt;Text style={{ fontSize: 22, fontWeight: 'bold', color: '#1A2230' }}&gt;数据隔离是结构性的&lt;/Text&gt;&#10;                    &lt;Text style={{ fontSize: 17, color: '#4A5568', marginTop: 10, lineHeight: 1.6 }}&gt;&#10;                        仓储层强制带 user_id 条件，而不是靠每个查询自觉加过滤——越权读取在数据访问层就被挡住，不依赖接口层「记得加条件」。&#10;                    &lt;/Text&gt;&#10;                &lt;/Box&gt;&#10;                &lt;Text style={{ fontSize: 15, color: '#8B97A8' }}&gt;能力层与前端不直接拼 SQL，一律走仓储&lt;/Text&gt;&#10;            &lt;/Box&gt;&#10;            &lt;Box style={{ flex: 1, height: 236, background: '#F7F9FC', borderRadius: 10, border: '1px solid #D6DCE5', borderTop: '4px solid #1E4FA8', padding: '16px 18px', justifyContent: 'space-between' }}&gt;&#10;                &lt;Box&gt;&#10;                    &lt;Text style={{ fontSize: 22, fontWeight: 'bold', color: '#1A2230' }}&gt;凭据与隐私边界&lt;/Text&gt;&#10;                    &lt;Text style={{ fontSize: 17, color: '#4A5568', marginTop: 10, lineHeight: 1.6 }}&gt;&#10;                        模型 Key 与微信读书 Key 一律配置注入，不入代码、不入仓库；微信读书走官方只读接口（幂等靠 bookmarkId / reviewId）；向量化在本机完成，笔记不因建索引而外发。&#10;                    &lt;/Text&gt;&#10;                &lt;/Box&gt;&#10;                &lt;Text style={{ fontSize: 15, color: '#8B97A8' }}&gt;边界：语义生成仍会调用外部模型，注入上下文有条数与长度上限&lt;/Text&gt;&#10;            &lt;/Box&gt;&#10;        &lt;/Box&gt;&#10;    &lt;/Box&gt;&#10;    &lt;Box style={{ margin: '10px 40px 0 40px', padding: '12px 24px', background: '#F0F5FC', borderRadius: 8, borderLeft: '5px solid #1E4FA8' }}&gt;&#10;        &lt;Text style={{ fontSize: 19, color: '#1A2230', lineHeight: 1.6 }}&gt;&#10;            &lt;span style={{ fontWeight: 'bold', color: '#0E3F8C' }}&gt;定位说明：&lt;/span&gt;当前是单人自托管系统，多租户与配额不在范围内——这是主动划的边界，不是遗漏；数据层已有隔离约束，走向多用户主要改调度与配额层。&#10;        &lt;/Text&gt;&#10;    &lt;/Box&gt;&#10;    &lt;Box style={{ flexDirection: 'row', justifyContent: 'space-between', alignItems: 'center', padding: '10px 40px 14px 40px' }}&gt;&#10;        &lt;Text style={{ fontSize: 14, color: '#8B97A8' }}&gt;认知副驾 · Cognitive Copilot&lt;/Text&gt;&#10;        &lt;Text style={{ fontSize: 14, color: '#1E4FA8' }}&gt;13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2933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技术五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数据与安全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9620250" y="438150"/>
            <a:ext cx="219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认证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限流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隔离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凭据与隐私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381000" y="790575"/>
            <a:ext cx="5657850" cy="2209800"/>
          </a:xfrm>
          <a:prstGeom prst="roundRect">
            <a:avLst>
              <a:gd name="adj" fmla="val 4310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381000" y="790575"/>
            <a:ext cx="5657850" cy="2209800"/>
          </a:xfrm>
          <a:custGeom>
            <a:pathLst>
              <a:path w="594" h="232">
                <a:moveTo>
                  <a:pt x="584" y="0"/>
                </a:moveTo>
                <a:cubicBezTo>
                  <a:pt x="589" y="0"/>
                  <a:pt x="593" y="4"/>
                  <a:pt x="594" y="8"/>
                </a:cubicBezTo>
                <a:cubicBezTo>
                  <a:pt x="593" y="6"/>
                  <a:pt x="591" y="4"/>
                  <a:pt x="58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58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52450" y="942975"/>
            <a:ext cx="5314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认证与会话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52450" y="1295400"/>
            <a:ext cx="53149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JWT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HS256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）无状态令牌：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Access Token 2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小时、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Refresh Token 7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天，前端统一管理续期。密码只存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PBKDF2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派生值，迭代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60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万次（对齐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OWASP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推荐量级），不可逆推。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52450" y="2676525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401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统一走续期流程，不让页面烂成空壳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153150" y="790575"/>
            <a:ext cx="5657850" cy="2209800"/>
          </a:xfrm>
          <a:prstGeom prst="roundRect">
            <a:avLst>
              <a:gd name="adj" fmla="val 4310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6153150" y="790575"/>
            <a:ext cx="5657850" cy="2209800"/>
          </a:xfrm>
          <a:custGeom>
            <a:pathLst>
              <a:path w="594" h="232">
                <a:moveTo>
                  <a:pt x="584" y="0"/>
                </a:moveTo>
                <a:cubicBezTo>
                  <a:pt x="589" y="0"/>
                  <a:pt x="593" y="4"/>
                  <a:pt x="594" y="8"/>
                </a:cubicBezTo>
                <a:cubicBezTo>
                  <a:pt x="593" y="6"/>
                  <a:pt x="591" y="4"/>
                  <a:pt x="58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58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324600" y="942975"/>
            <a:ext cx="5314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接口防滥用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324600" y="1295400"/>
            <a:ext cx="53149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登录按账号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5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次失败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/ 5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分钟窗口、锁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5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分钟；按来源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IP 20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次（阈值故意放宽，避免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NAT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后的正常用户被连带）；注册另按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IP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限流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10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次——因为每次注册都要跑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PBKDF2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，是可被利用的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CPU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消耗点。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324600" y="2676525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限流状态在进程内，多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worker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下阈值等效放大（已知边界）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381000" y="3152775"/>
            <a:ext cx="5657850" cy="2209800"/>
          </a:xfrm>
          <a:prstGeom prst="roundRect">
            <a:avLst>
              <a:gd name="adj" fmla="val 4310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30" name=""/>
          <p:cNvSpPr/>
          <p:nvPr/>
        </p:nvSpPr>
        <p:spPr>
          <a:xfrm rot="0" flipH="0" flipV="0">
            <a:off x="381000" y="3152775"/>
            <a:ext cx="5657850" cy="2209800"/>
          </a:xfrm>
          <a:custGeom>
            <a:pathLst>
              <a:path w="594" h="232">
                <a:moveTo>
                  <a:pt x="584" y="0"/>
                </a:moveTo>
                <a:cubicBezTo>
                  <a:pt x="589" y="0"/>
                  <a:pt x="593" y="4"/>
                  <a:pt x="594" y="8"/>
                </a:cubicBezTo>
                <a:cubicBezTo>
                  <a:pt x="593" y="6"/>
                  <a:pt x="591" y="4"/>
                  <a:pt x="58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58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52450" y="3305175"/>
            <a:ext cx="5314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数据隔离是结构性的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52450" y="3657600"/>
            <a:ext cx="53149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仓储层强制带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user_id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条件，而不是靠每个查询自觉加过滤——越权读取在数据访问层就被挡住，不依赖接口层「记得加条件」。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52450" y="5038725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能力层与前端不直接拼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SQL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，一律走仓储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6153150" y="3152775"/>
            <a:ext cx="5657850" cy="2209800"/>
          </a:xfrm>
          <a:prstGeom prst="roundRect">
            <a:avLst>
              <a:gd name="adj" fmla="val 4310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6153150" y="3152775"/>
            <a:ext cx="5657850" cy="2209800"/>
          </a:xfrm>
          <a:custGeom>
            <a:pathLst>
              <a:path w="594" h="232">
                <a:moveTo>
                  <a:pt x="584" y="0"/>
                </a:moveTo>
                <a:cubicBezTo>
                  <a:pt x="589" y="0"/>
                  <a:pt x="593" y="4"/>
                  <a:pt x="594" y="8"/>
                </a:cubicBezTo>
                <a:cubicBezTo>
                  <a:pt x="593" y="6"/>
                  <a:pt x="591" y="4"/>
                  <a:pt x="588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58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324600" y="3305175"/>
            <a:ext cx="5314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凭据与隐私边界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324600" y="3657600"/>
            <a:ext cx="53149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模型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Key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与微信读书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Key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一律配置注入，不入代码、不入仓库；微信读书走官方只读接口（幂等靠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bookmarkId / reviewId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）；向量化在本机完成，笔记不因建索引而外发。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324600" y="5038725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边界：语义生成仍会调用外部模型，注入上下文有条数与长度上限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428625" y="5543550"/>
            <a:ext cx="11430000" cy="923925"/>
          </a:xfrm>
          <a:prstGeom prst="roundRect">
            <a:avLst>
              <a:gd name="adj" fmla="val 824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428625" y="5543550"/>
            <a:ext cx="11430000" cy="923925"/>
          </a:xfrm>
          <a:custGeom>
            <a:pathLst>
              <a:path w="1200" h="97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94"/>
                </a:lnTo>
                <a:cubicBezTo>
                  <a:pt x="5" y="96"/>
                  <a:pt x="6" y="97"/>
                  <a:pt x="8" y="97"/>
                </a:cubicBezTo>
                <a:cubicBezTo>
                  <a:pt x="3" y="97"/>
                  <a:pt x="0" y="93"/>
                  <a:pt x="0" y="8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57225" y="5657850"/>
            <a:ext cx="1092517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定位说明：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当前是单人自托管系统，多租户与配额不在范围内——这是主动划的边界，不是遗漏；数据层已有隔离约束，走向多用户主要改调度与配额层。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381000" y="656272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1353800" y="6562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13 / 27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44" name="" descr="&lt;Slide style={{ width: 1280, height: 720, background: '#0E3F8C', position: 'relative', overflow: 'hidden' }}&gt;&#10;    &lt;svg width={1280} height={720} viewBox='0 0 1280 720' style={{ position: 'absolute', top: 0, left: 0 }}&gt;&#10;        &lt;circle cx='1152' cy='604' r='324' fill='#1E4FA8' opacity='0.3' /&gt;&#10;    &lt;/svg&gt;&#10;    &lt;Box style={{ position: 'absolute', top: 92, left: 96, flexDirection: 'row', alignItems: 'flex-end', gap: 32 }}&gt;&#10;        &lt;Text style={{ fontSize: 200, fontWeight: 'bold', color: '#FFFFFF', opacity: 0.26, lineHeight: 1 }}&gt;03&lt;/Text&gt;&#10;        &lt;Box style={{ paddingBottom: 26 }}&gt;&#10;            &lt;Text style={{ fontSize: 52, fontWeight: 'bold', color: '#FFFFFF', letterSpacing: 4 }}&gt;对照评价标准 · 逐维度汇报&lt;/Text&gt;&#10;            &lt;Box style={{ width: 64, height: 4, background: '#FFC107', marginTop: 16 }} /&gt;&#10;            &lt;Text style={{ fontSize: 22, color: '#BBD0F0', marginTop: 16 }}&gt;按评分表顺序给证据：每个维度先亮分值，再讲做到了什么&lt;/Text&gt;&#10;        &lt;/Box&gt;&#10;    &lt;/Box&gt;&#10;    &lt;Box style={{ position: 'absolute', top: 452, left: 96, width: 1088, flexDirection: 'row', gap: 16 }}&gt;&#10;        &lt;Box style={{ flex: 1, padding: '20px 0', background: '#1E4FA8', borderRadius: 10, border: '1px solid #3D7BD9', alignItems: 'center' }}&gt;&#10;            &lt;Text style={{ fontSize: 34, fontWeight: 'bold', color: '#FFC107' }}&gt;20&lt;/Text&gt;&#10;            &lt;Text style={{ fontSize: 19, color: '#FFFFFF', marginTop: 8 }}&gt;实用性&lt;/Text&gt;&#10;        &lt;/Box&gt;&#10;        &lt;Box style={{ flex: 1, padding: '20px 0', background: '#1E4FA8', borderRadius: 10, border: '1px solid #3D7BD9', alignItems: 'center' }}&gt;&#10;            &lt;Text style={{ fontSize: 34, fontWeight: 'bold', color: '#FFC107' }}&gt;15&lt;/Text&gt;&#10;            &lt;Text style={{ fontSize: 19, color: '#FFFFFF', marginTop: 8 }}&gt;创新性&lt;/Text&gt;&#10;        &lt;/Box&gt;&#10;        &lt;Box style={{ flex: 1, padding: '20px 0', background: '#1E4FA8', borderRadius: 10, border: '1px solid #3D7BD9', alignItems: 'center' }}&gt;&#10;            &lt;Text style={{ fontSize: 34, fontWeight: 'bold', color: '#FFC107' }}&gt;20&lt;/Text&gt;&#10;            &lt;Text style={{ fontSize: 19, color: '#FFFFFF', marginTop: 8 }}&gt;技术先进性&lt;/Text&gt;&#10;        &lt;/Box&gt;&#10;        &lt;Box style={{ flex: 1, padding: '20px 0', background: '#1E4FA8', borderRadius: 10, border: '1px solid #3D7BD9', alignItems: 'center' }}&gt;&#10;            &lt;Text style={{ fontSize: 34, fontWeight: 'bold', color: '#FFC107' }}&gt;20&lt;/Text&gt;&#10;            &lt;Text style={{ fontSize: 19, color: '#FFFFFF', marginTop: 8 }}&gt;功能完善性&lt;/Text&gt;&#10;        &lt;/Box&gt;&#10;        &lt;Box style={{ flex: 1, padding: '20px 0', background: '#1E4FA8', borderRadius: 10, border: '1px solid #3D7BD9', alignItems: 'center' }}&gt;&#10;            &lt;Text style={{ fontSize: 34, fontWeight: 'bold', color: '#FFC107' }}&gt;10&lt;/Text&gt;&#10;            &lt;Text style={{ fontSize: 19, color: '#FFFFFF', marginTop: 8 }}&gt;开发工作量&lt;/Text&gt;&#10;        &lt;/Box&gt;&#10;        &lt;Box style={{ flex: 1, padding: '20px 0', background: '#1E4FA8', borderRadius: 10, border: '1px solid #3D7BD9', alignItems: 'center' }}&gt;&#10;            &lt;Text style={{ fontSize: 34, fontWeight: 'bold', color: '#FFC107' }}&gt;15&lt;/Text&gt;&#10;            &lt;Text style={{ fontSize: 19, color: '#FFFFFF', marginTop: 8 }}&gt;现场表现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1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3571875" y="1714500"/>
            <a:ext cx="649605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 spc="300">
                <a:solidFill>
                  <a:srgbClr val="FFFFFF"/>
                </a:solidFill>
                <a:latin typeface="Microsoft YaHei"/>
                <a:ea typeface="Microsoft YaHei"/>
              </a:rPr>
              <a:t>对照评价标准</a:t>
            </a:r>
            <a:r>
              <a:rPr lang="en-US" sz="3900" b="1" spc="30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3900" b="1" spc="300">
                <a:solidFill>
                  <a:srgbClr val="FFFFFF"/>
                </a:solidFill>
                <a:latin typeface="Microsoft YaHei"/>
                <a:ea typeface="Microsoft YaHei"/>
              </a:rPr>
              <a:t>逐维度汇报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3571875" y="246697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3571875" y="2657475"/>
            <a:ext cx="6496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BBD0F0"/>
                </a:solidFill>
                <a:latin typeface="Microsoft YaHei"/>
                <a:ea typeface="Microsoft YaHei"/>
              </a:rPr>
              <a:t>按评分表顺序给证据：每个维度先亮分值，再讲做到了什么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914400" y="8763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FFFFFF">
                    <a:alpha val="26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914400" y="4305300"/>
            <a:ext cx="1600200" cy="1066800"/>
          </a:xfrm>
          <a:prstGeom prst="roundRect">
            <a:avLst>
              <a:gd name="adj" fmla="val 8929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514475" y="4495800"/>
            <a:ext cx="40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C107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447800" y="496252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实用性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2667000" y="4305300"/>
            <a:ext cx="1600200" cy="1066800"/>
          </a:xfrm>
          <a:prstGeom prst="roundRect">
            <a:avLst>
              <a:gd name="adj" fmla="val 8929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3267075" y="4495800"/>
            <a:ext cx="40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C107"/>
                </a:solidFill>
                <a:latin typeface="Microsoft YaHei"/>
                <a:ea typeface="Microsoft YaHei"/>
              </a:rPr>
              <a:t>15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3200400" y="4962525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创新性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4419600" y="4305300"/>
            <a:ext cx="1600200" cy="1066800"/>
          </a:xfrm>
          <a:prstGeom prst="roundRect">
            <a:avLst>
              <a:gd name="adj" fmla="val 8929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019675" y="4495800"/>
            <a:ext cx="40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C107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772025" y="496252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技术先进性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172200" y="4305300"/>
            <a:ext cx="1600200" cy="1066800"/>
          </a:xfrm>
          <a:prstGeom prst="roundRect">
            <a:avLst>
              <a:gd name="adj" fmla="val 8929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772275" y="4495800"/>
            <a:ext cx="40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C107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524625" y="496252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功能完善性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7924800" y="4305300"/>
            <a:ext cx="1600200" cy="1066800"/>
          </a:xfrm>
          <a:prstGeom prst="roundRect">
            <a:avLst>
              <a:gd name="adj" fmla="val 8929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524875" y="4495800"/>
            <a:ext cx="40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C107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277225" y="496252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开发工作量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9677400" y="4305300"/>
            <a:ext cx="1600200" cy="1066800"/>
          </a:xfrm>
          <a:prstGeom prst="roundRect">
            <a:avLst>
              <a:gd name="adj" fmla="val 8929"/>
            </a:avLst>
          </a:prstGeom>
          <a:solidFill>
            <a:srgbClr val="1E4FA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0277475" y="4495800"/>
            <a:ext cx="40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C107"/>
                </a:solidFill>
                <a:latin typeface="Microsoft YaHei"/>
                <a:ea typeface="Microsoft YaHei"/>
              </a:rPr>
              <a:t>15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0115550" y="496252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现场表现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69" name="" descr="&lt;Slide style={{ width: 1280, height: 720, background: '#FFFFFF', flexDirection: 'column' }}&gt;&#10;    &lt;Box style={{ width: '100%', height: 8, background: '#1E4FA8' }} /&gt;&#10;    &lt;Box style={{ flex: 1, flexDirection: 'row', gap: 28, padding: '22px 40px 0 40px' }}&gt;&#10;        &lt;Box style={{ width: 330, height: 585, background: '#0E3F8C', borderRadius: 10, padding: '34px 30px', justifyContent: 'space-between' }}&gt;&#10;            &lt;Box&gt;&#10;                &lt;Text style={{ fontSize: 18, color: '#9FBCE8', letterSpacing: 3 }}&gt;维度一&lt;/Text&gt;&#10;                &lt;Text style={{ fontSize: 40, fontWeight: 'bold', color: '#FFFFFF', marginTop: 12 }}&gt;实用性&lt;/Text&gt;&#10;                &lt;Box style={{ flexDirection: 'row', alignItems: 'flex-end', gap: 8, marginTop: 16 }}&gt;&#10;                    &lt;Text style={{ fontSize: 62, fontWeight: 'bold', color: '#FFC107', lineHeight: 1 }}&gt;20&lt;/Text&gt;&#10;                    &lt;Text style={{ fontSize: 22, color: '#BBD0F0', paddingBottom: 6 }}&gt;分&lt;/Text&gt;&#10;                &lt;/Box&gt;&#10;            &lt;/Box&gt;&#10;            &lt;Text style={{ fontSize: 21, color: '#E8EFF8', lineHeight: 1.75 }}&gt;&#10;                做得实的标准不是功能多，而是&lt;span style={{ fontWeight: 'bold', color: '#FFC107' }}&gt;每天真的在用&lt;/span&gt;：&#10;                数据源是真的、阅读量是真的、行为记录是真的。&#10;            &lt;/Text&gt;&#10;        &lt;/Box&gt;&#10;        &lt;Box style={{ flex: 1, flexDirection: 'column', justifyContent: 'space-between', padding: '2px 0' }}&gt;&#10;            &lt;Box style={{ flexDirection: 'row', alignItems: 'center', gap: 12, padding: '12px 20px', background: '#E8EFF8', borderRadius: 8 }}&gt;&#10;                &lt;FAIcon name='image' style={{ fill: '#1E4FA8', width: 22, height: 22 }} /&gt;&#10;                &lt;Text style={{ fontSize: 19, color: '#0E3F8C', fontWeight: 'bold' }}&gt;真实界面证据见「演示实录」六页（P21–P26）——全部为系统实际运行截图&lt;/Text&gt;&#10;            &lt;/Box&gt;&#10;            &lt;Box style={{ flexDirection: 'row', alignItems: 'center', gap: 20, height: 142, padding: '14px 22px', background: '#F7F9FC', borderRadius: 10, border: '1px solid #D6DCE5' }}&gt;&#10;                &lt;Box style={{ width: 58, height: 58, background: '#E8EFF8', borderRadius: 12, justifyContent: 'center', alignItems: 'center' }}&gt;&#10;                    &lt;FAIcon name='sync' style={{ fill: '#1E4FA8', width: 30, height: 30 }} /&gt;&#10;                &lt;/Box&gt;&#10;                &lt;Box style={{ flex: 1 }}&gt;&#10;                    &lt;Text style={{ fontSize: 24, fontWeight: 'bold', color: '#1A2230' }}&gt;真实数据源：微信读书官方接口同步&lt;/Text&gt;&#10;                    &lt;Text style={{ fontSize: 19, color: '#4A5568', marginTop: 6, lineHeight: 1.55 }}&gt;&#10;                        划线、想法、书评按官方只读接口进知识库，幂等去重、可跳回原文——与手写笔记同等参与后续全部能力&#10;                    &lt;/Text&gt;&#10;                &lt;/Box&gt;&#10;            &lt;/Box&gt;&#10;            &lt;Box style={{ flexDirection: 'row', alignItems: 'center', gap: 20, height: 142, padding: '14px 22px', background: '#F7F9FC', borderRadius: 10, border: '1px solid #D6DCE5' }}&gt;&#10;                &lt;Box style={{ width: 58, height: 58, background: '#E8EFF8', borderRadius: 12, justifyContent: 'center', alignItems: 'center' }}&gt;&#10;                    &lt;FAIcon name='book' style={{ fill: '#1E4FA8', width: 30, height: 30 }} /&gt;&#10;                &lt;/Box&gt;&#10;                &lt;Box style={{ flex: 1 }}&gt;&#10;                    &lt;Text style={{ fontSize: 24, fontWeight: 'bold', color: '#1A2230' }}&gt;真实阅读量：4 本完整通读的书籍&lt;/Text&gt;&#10;                    &lt;Text style={{ fontSize: 19, color: '#4A5568', marginTop: 6, lineHeight: 1.55 }}&gt;&#10;                        单本最高 20.8 万字、零截断；txt / epub / pdf 解析成章节，阅读进度与划词想法全部落库&#10;                    &lt;/Text&gt;&#10;                &lt;/Box&gt;&#10;            &lt;/Box&gt;&#10;            &lt;Box style={{ flexDirection: 'row', alignItems: 'center', gap: 20, height: 142, padding: '14px 22px', background: '#F7F9FC', borderRadius: 10, border: '1px solid #D6DCE5' }}&gt;&#10;                &lt;Box style={{ width: 58, height: 58, background: '#E8EFF8', borderRadius: 12, justifyContent: 'center', alignItems: 'center' }}&gt;&#10;                    &lt;FAIcon name='database' style={{ fill: '#1E4FA8', width: 30, height: 30 }} /&gt;&#10;                &lt;/Box&gt;&#10;                &lt;Box style={{ flex: 1 }}&gt;&#10;                    &lt;Text style={{ fontSize: 24, fontWeight: 'bold', color: '#1A2230' }}&gt;真实行为数据：支撑五层能力运转&lt;/Text&gt;&#10;                    &lt;Text style={{ fontSize: 19, color: '#4A5568', marginTop: 6, lineHeight: 1.55 }}&gt;&#10;                        知识条目、观点主张、589 条学习行为事件持续入库（09-23 快照），L1–L5 每一层都在真实数据上跑&#10;                    &lt;/Text&gt;&#10;                &lt;/Box&gt;&#10;            &lt;/Box&gt;&#10;            &lt;Box style={{ padding: '12px 20px', background: '#F0F5FC', borderRadius: 8, borderLeft: '5px solid #1E4FA8' }}&gt;&#10;                &lt;Text style={{ fontSize: 20, color: '#1A2230', lineHeight: 1.6 }}&gt;&#10;                    &lt;span style={{ fontWeight: 'bold', color: '#0E3F8C' }}&gt;佐证：&lt;/span&gt;项目全程 19 篇开发日志、每日真实使用轨迹——这个系统先服务了开发者自己，才谈得上智能。&#10;                &lt;/Text&gt;&#10;            &lt;/Box&gt;&#10;        &lt;/Box&gt;&#10;    &lt;/Box&gt;&#10;    &lt;Box style={{ flexDirection: 'row', justifyContent: 'space-between', alignItems: 'center', padding: '12px 40px 16px 40px' }}&gt;&#10;        &lt;Text style={{ fontSize: 14, color: '#8B97A8' }}&gt;认知副驾 · Cognitive Copilot&lt;/Text&gt;&#10;        &lt;Text style={{ fontSize: 14, color: '#1E4FA8' }}&gt;15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381000" y="285750"/>
            <a:ext cx="3143250" cy="5572125"/>
          </a:xfrm>
          <a:prstGeom prst="roundRect">
            <a:avLst>
              <a:gd name="adj" fmla="val 303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66750" y="609600"/>
            <a:ext cx="257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9FBCE8"/>
                </a:solidFill>
                <a:latin typeface="Microsoft YaHei"/>
                <a:ea typeface="Microsoft YaHei"/>
              </a:rPr>
              <a:t>维度一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66750" y="933450"/>
            <a:ext cx="2571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实用性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66750" y="1543050"/>
            <a:ext cx="73342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FFC107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476375" y="1943100"/>
            <a:ext cx="209550" cy="314325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650">
                <a:solidFill>
                  <a:srgbClr val="BBD0F0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66750" y="3848100"/>
            <a:ext cx="2571750" cy="1685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575">
                <a:solidFill>
                  <a:srgbClr val="E8EFF8"/>
                </a:solidFill>
                <a:latin typeface="Microsoft YaHei"/>
                <a:ea typeface="Microsoft YaHei"/>
              </a:rPr>
              <a:t>做得实的标准不是功能多，而是</a:t>
            </a:r>
            <a:r>
              <a:rPr lang="zh-CN" sz="1575" b="1">
                <a:solidFill>
                  <a:srgbClr val="FFC107"/>
                </a:solidFill>
                <a:latin typeface="Microsoft YaHei"/>
                <a:ea typeface="Microsoft YaHei"/>
              </a:rPr>
              <a:t>每天真的在用</a:t>
            </a:r>
            <a:r>
              <a:rPr lang="zh-CN" sz="1575">
                <a:solidFill>
                  <a:srgbClr val="E8EFF8"/>
                </a:solidFill>
                <a:latin typeface="Microsoft YaHei"/>
                <a:ea typeface="Microsoft YaHei"/>
              </a:rPr>
              <a:t>：</a:t>
            </a:r>
            <a:r>
              <a:rPr lang="en-US" sz="1575">
                <a:solidFill>
                  <a:srgbClr val="E8EFF8"/>
                </a:solidFill>
                <a:latin typeface="Microsoft YaHei"/>
                <a:ea typeface="Microsoft YaHei"/>
              </a:rPr>
              <a:t> </a:t>
            </a:r>
            <a:r>
              <a:rPr lang="zh-CN" sz="1575">
                <a:solidFill>
                  <a:srgbClr val="E8EFF8"/>
                </a:solidFill>
                <a:latin typeface="Microsoft YaHei"/>
                <a:ea typeface="Microsoft YaHei"/>
              </a:rPr>
              <a:t>数据源是真的、阅读量是真的、行为记录是真的。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3790950" y="304800"/>
            <a:ext cx="8020050" cy="447675"/>
          </a:xfrm>
          <a:prstGeom prst="roundRect">
            <a:avLst>
              <a:gd name="adj" fmla="val 17021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81450" y="428625"/>
            <a:ext cx="209550" cy="209550"/>
          </a:xfrm>
          <a:prstGeom prst="rect">
            <a:avLst/>
          </a:prstGeom>
          <a:ln/>
        </p:spPr>
      </p:pic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305300" y="419100"/>
            <a:ext cx="6248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真实界面证据见「演示实录」六页（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P21–P26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）——全部为系统实际运行截图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3790950" y="914400"/>
            <a:ext cx="8020050" cy="1352550"/>
          </a:xfrm>
          <a:prstGeom prst="roundRect">
            <a:avLst>
              <a:gd name="adj" fmla="val 704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4000500" y="1314450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133850" y="1447800"/>
            <a:ext cx="285750" cy="285750"/>
          </a:xfrm>
          <a:prstGeom prst="rect">
            <a:avLst/>
          </a:prstGeom>
          <a:ln/>
        </p:spPr>
      </p:pic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743450" y="1085850"/>
            <a:ext cx="6858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真实数据源：微信读书官方接口同步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743450" y="1419225"/>
            <a:ext cx="68580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划线、想法、书评按官方只读接口进知识库，幂等去重、可跳回原文——与手写笔记同等参与后续全部能力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3790950" y="2428875"/>
            <a:ext cx="8020050" cy="1352550"/>
          </a:xfrm>
          <a:prstGeom prst="roundRect">
            <a:avLst>
              <a:gd name="adj" fmla="val 704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4000500" y="2828925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133850" y="2962275"/>
            <a:ext cx="285750" cy="285750"/>
          </a:xfrm>
          <a:prstGeom prst="rect">
            <a:avLst/>
          </a:prstGeom>
          <a:ln/>
        </p:spPr>
      </p:pic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743450" y="2600325"/>
            <a:ext cx="6858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真实阅读量：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4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本完整通读的书籍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743450" y="2933700"/>
            <a:ext cx="68580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单本最高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20.8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万字、零截断；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txt / epub / pdf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解析成章节，阅读进度与划词想法全部落库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3790950" y="3933825"/>
            <a:ext cx="8020050" cy="1352550"/>
          </a:xfrm>
          <a:prstGeom prst="roundRect">
            <a:avLst>
              <a:gd name="adj" fmla="val 704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4000500" y="4333875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133850" y="4467225"/>
            <a:ext cx="285750" cy="285750"/>
          </a:xfrm>
          <a:prstGeom prst="rect">
            <a:avLst/>
          </a:prstGeom>
          <a:ln/>
        </p:spPr>
      </p:pic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743450" y="4105275"/>
            <a:ext cx="6858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真实行为数据：支撑五层能力运转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743450" y="4438650"/>
            <a:ext cx="68580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知识条目、观点主张、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589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条学习行为事件持续入库（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09-23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快照），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L1–L5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每一层都在真实数据上跑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3838575" y="5448300"/>
            <a:ext cx="8020050" cy="962025"/>
          </a:xfrm>
          <a:prstGeom prst="roundRect">
            <a:avLst>
              <a:gd name="adj" fmla="val 792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97" name=""/>
          <p:cNvSpPr/>
          <p:nvPr/>
        </p:nvSpPr>
        <p:spPr>
          <a:xfrm rot="0" flipH="0" flipV="0">
            <a:off x="3838575" y="5448300"/>
            <a:ext cx="8020050" cy="962025"/>
          </a:xfrm>
          <a:custGeom>
            <a:pathLst>
              <a:path w="842" h="101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98"/>
                </a:lnTo>
                <a:cubicBezTo>
                  <a:pt x="5" y="100"/>
                  <a:pt x="6" y="101"/>
                  <a:pt x="8" y="101"/>
                </a:cubicBezTo>
                <a:cubicBezTo>
                  <a:pt x="3" y="101"/>
                  <a:pt x="0" y="97"/>
                  <a:pt x="0" y="9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029075" y="5562600"/>
            <a:ext cx="7591425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佐证：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项目全程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19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篇开发日志、每日真实使用轨迹——这个系统先服务了开发者自己，才谈得上智能。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381000" y="654367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1353800" y="65436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15 / 27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01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16px 40px 8px 40px' }}&gt;&#10;        &lt;Text style={{ fontSize: 34, fontWeight: 'bold', color: '#0E3F8C' }}&gt;维度二 · 创新性（15 分）：和现有方案比，好在哪里&lt;/Text&gt;&#10;        &lt;Text style={{ fontSize: 17, color: '#8B97A8' }}&gt;结构对比 · 不靠名词&lt;/Text&gt;&#10;    &lt;/Box&gt;&#10;    &lt;Box style={{ flex: 1, flexDirection: 'row', gap: 24, padding: '2px 40px 0 40px' }}&gt;&#10;        &lt;Box style={{ width: 726, flexDirection: 'column' }}&gt;&#10;            &lt;Table&#10;                style={{ width: 726, height: 336 }}&#10;                defaultTextStyle={{ fontSize: 17, textAlign: 'center', color: '#1A2230' }}&#10;                defaultCellStyle={{&#10;                    border: {&#10;                        left: { width: 1, color: '#D6DCE5' },&#10;                        right: { width: 1, color: '#D6DCE5' },&#10;                        top: { width: 1, color: '#D6DCE5' },&#10;                        bottom: { width: 1, color: '#D6DCE5' },&#10;                    },&#10;                    background: { color: '#FFFFFF' },&#10;                }}&#10;                cells={[&#10;                    [&#10;                        { text: '判定问题', textStyle: { bold: true, color: '#FFFFFF', fontSize: 17 }, cellStyle: { background: { color: '#0E3F8C' } } },&#10;                        { text: '网页 AI（豆包类）', textStyle: { bold: true, color: '#FFFFFF', fontSize: 17 }, cellStyle: { background: { color: '#0E3F8C' } } },&#10;                        { text: '笔记软件（Notion 类）', textStyle: { bold: true, color: '#FFFFFF', fontSize: 17 }, cellStyle: { background: { color: '#0E3F8C' } } },&#10;                        { text: '认知副驾', textStyle: { bold: true, color: '#FFC107', fontSize: 17 }, cellStyle: { background: { color: '#0E3F8C' } } },&#10;                    ],&#10;                    [&#10;                        { text: '有跨会话的持久状态？', textStyle: { textAlign: 'left', fontSize: 16 } },&#10;                        { text: '✗ 对话完就忘', textStyle: { color: '#D9534F', fontSize: 16 } },&#10;                        { text: '△ 只存内容', textStyle: { color: '#B8860B', fontSize: 16 } },&#10;                        { text: '✓ 知识＋观点＋行为轨迹', textStyle: { bold: true, color: '#1E4FA8', fontSize: 16 }, cellStyle: { background: { color: '#F0F5FC' } } },&#10;                    ],&#10;                    [&#10;                        { text: '能改变外部世界？', textStyle: { textAlign: 'left', fontSize: 16 }, cellStyle: { background: { color: '#F7F9FC' } } },&#10;                        { text: '✗ 输出即结束', textStyle: { color: '#D9534F', fontSize: 16 }, cellStyle: { background: { color: '#F7F9FC' } } },&#10;                        { text: '✗ 靠手动整理', textStyle: { color: '#D9534F', fontSize: 16 }, cellStyle: { background: { color: '#F7F9FC' } } },&#10;                        { text: '✓ 写库·改计划·触发扫描', textStyle: { bold: true, color: '#1E4FA8', fontSize: 16 }, cellStyle: { background: { color: '#F0F5FC' } } },&#10;                    ],&#10;                    [&#10;                        { text: '会主动发起？', textStyle: { textAlign: 'left', fontSize: 16 } },&#10;                        { text: '✗ 一问一答', textStyle: { color: '#D9534F', fontSize: 16 } },&#10;                        { text: '✗ 等你打开', textStyle: { color: '#D9534F', fontSize: 16 } },&#10;                        { text: '✓ 定时巡检·推送简报', textStyle: { bold: true, color: '#1E4FA8', fontSize: 16 }, cellStyle: { background: { color: '#F0F5FC' } } },&#10;                    ],&#10;                    [&#10;                        { text: '输出能反向改进自己？', textStyle: { textAlign: 'left', fontSize: 16 }, cellStyle: { background: { color: '#F7F9FC' } } },&#10;                        { text: '✗ 无状态', textStyle: { color: '#D9534F', fontSize: 16 }, cellStyle: { background: { color: '#F7F9FC' } } },&#10;                        { text: '✗ 不理解内容', textStyle: { color: '#D9534F', fontSize: 16 }, cellStyle: { background: { color: '#F7F9FC' } } },&#10;                        { text: '✓ 采纳诊断→计划改写', textStyle: { bold: true, color: '#1E4FA8', fontSize: 16 }, cellStyle: { background: { color: '#F0F5FC' } } },&#10;                    ],&#10;                ]}&#10;            /&gt;&#10;            &lt;Text style={{ fontSize: 16, color: '#8B97A8', marginTop: 10 }}&gt;四个判定问题上，纯大模型与笔记软件几乎全是「否」——这是结构差别，不是能力强弱。&lt;/Text&gt;&#10;        &lt;/Box&gt;&#10;        &lt;Box style={{ flex: 1, flexDirection: 'column', justifyContent: 'space-between' }}&gt;&#10;            &lt;Box style={{ padding: '16px 20px', background: '#F7F9FC', borderRadius: 10, border: '1px solid #D6DCE5', borderTop: '4px solid #1E4FA8' }}&gt;&#10;                &lt;Text style={{ fontSize: 21, fontWeight: 'bold', color: '#1A2230' }}&gt;选题创新 · 切「认知过程」&lt;/Text&gt;&#10;                &lt;Text style={{ fontSize: 18, color: '#4A5568', marginTop: 8, lineHeight: 1.55 }}&gt;&#10;                    不做内容存储的又一套轮子，管的是你的盲区、矛盾与病根——信息系统覆盖不到的那一半。&#10;                &lt;/Text&gt;&#10;            &lt;/Box&gt;&#10;            &lt;Box style={{ padding: '16px 20px', background: '#F7F9FC', borderRadius: 10, border: '1px solid #D6DCE5', borderTop: '4px solid #1E4FA8' }}&gt;&#10;                &lt;Text style={{ fontSize: 21, fontWeight: 'bold', color: '#1A2230' }}&gt;方案创新 · 冲突检测与影子主张&lt;/Text&gt;&#10;                &lt;Text style={{ fontSize: 18, color: '#4A5568', marginTop: 8, lineHeight: 1.55 }}&gt;&#10;                    L2 识别同主题对立主张；书籍通读提取观点，与个人笔记跨来源对撞——已用 4 本真书验证。&#10;                &lt;/Text&gt;&#10;            &lt;/Box&gt;&#10;            &lt;Box style={{ padding: '16px 20px', background: '#F7F9FC', borderRadius: 10, border: '1px solid #D6DCE5', borderTop: '4px solid #1E4FA8' }}&gt;&#10;                &lt;Text style={{ fontSize: 21, fontWeight: 'bold', color: '#1A2230' }}&gt;工程创新 · 先向量后模型&lt;/Text&gt;&#10;                &lt;Text style={{ fontSize: 18, color: '#4A5568', marginTop: 8, lineHeight: 1.55 }}&gt;&#10;                    让便宜的向量先判断「值不值得让贵的模型看」，判定候选对从全量两两比较压到每次 ≤20 对。&#10;                &lt;/Text&gt;&#10;            &lt;/Box&gt;&#10;        &lt;/Box&gt;&#10;    &lt;/Box&gt;&#10;    &lt;Box style={{ margin: '10px 40px 0 40px', padding: '12px 24px', background: '#0E3F8C', borderRadius: 8 }}&gt;&#10;        &lt;Text style={{ fontSize: 20, color: '#FFFFFF', textAlign: 'center' }}&gt;&#10;            创新落在结构上，不落在名词上——这张对比表就是「和现有方案比，我好在哪里」的回答&#10;        &lt;/Text&gt;&#10;    &lt;/Box&gt;&#10;    &lt;Box style={{ flexDirection: 'row', justifyContent: 'space-between', alignItems: 'center', padding: '10px 40px 14px 40px' }}&gt;&#10;        &lt;Text style={{ fontSize: 14, color: '#8B97A8' }}&gt;认知副驾 · Cognitive Copilot&lt;/Text&gt;&#10;        &lt;Text style={{ fontSize: 14, color: '#1E4FA8' }}&gt;16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7639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维度二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创新性（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15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分）：和现有方案比，好在哪里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0372725" y="419100"/>
            <a:ext cx="1438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结构对比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不靠名词</a:t>
            </a:r>
            <a:endParaRPr/>
          </a:p>
        </p:txBody>
      </p:sp>
      <p:graphicFrame>
        <p:nvGraphicFramePr>
          <p:cNvPr id="206" name=""/>
          <p:cNvGraphicFramePr/>
          <p:nvPr/>
        </p:nvGraphicFramePr>
        <p:xfrm rot="0" flipH="0" flipV="0">
          <a:off x="381000" y="714375"/>
          <a:ext cx="6915150" cy="3200400"/>
        </p:xfrm>
        <a:graphic>
          <a:graphicData uri="http://schemas.openxmlformats.org/drawingml/2006/table">
            <a:tbl>
              <a:tblGrid>
                <a:gridCol w="1660263">
                  <a:extLst>
                    <a:ext uri="{9D8B030D-6E8A-4147-A177-3AD203B41FA5}">
                      <a16:colId val="1"/>
                    </a:ext>
                  </a:extLst>
                </a:gridCol>
                <a:gridCol w="1493845">
                  <a:extLst>
                    <a:ext uri="{9D8B030D-6E8A-4147-A177-3AD203B41FA5}">
                      <a16:colId val="2"/>
                    </a:ext>
                  </a:extLst>
                </a:gridCol>
                <a:gridCol w="1895205">
                  <a:extLst>
                    <a:ext uri="{9D8B030D-6E8A-4147-A177-3AD203B41FA5}">
                      <a16:colId val="3"/>
                    </a:ext>
                  </a:extLst>
                </a:gridCol>
                <a:gridCol w="1865837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65523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判定问题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网页 AI（豆包类）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笔记软件（Notion 类）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C107"/>
                          </a:solidFill>
                          <a:latin typeface="Microsoft YaHei"/>
                          <a:ea typeface="Microsoft YaHei"/>
                        </a:rPr>
                        <a:t>认知副驾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3629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有跨会话的持久状态？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✗ 对话完就忘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B8860B"/>
                          </a:solidFill>
                          <a:latin typeface="Microsoft YaHei"/>
                          <a:ea typeface="Microsoft YaHei"/>
                        </a:rPr>
                        <a:t>△ 只存内容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✓ 知识＋观点＋行为轨迹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3629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能改变外部世界？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✗ 输出即结束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✗ 靠手动整理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✓ 写库·改计划·触发扫描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3629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会主动发起？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✗ 一问一答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✗ 等你打开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✓ 定时巡检·推送简报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3629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输出能反向改进自己？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✗ 无状态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✗ 不理解内容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✓ 采纳诊断→计划改写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81000" y="4010025"/>
            <a:ext cx="6915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四个判定问题上，纯大模型与笔记软件几乎全是「否」——这是结构差别，不是能力强弱。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7524750" y="752475"/>
            <a:ext cx="4286250" cy="1304925"/>
          </a:xfrm>
          <a:prstGeom prst="roundRect">
            <a:avLst>
              <a:gd name="adj" fmla="val 7299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7524750" y="752475"/>
            <a:ext cx="4286250" cy="1304925"/>
          </a:xfrm>
          <a:custGeom>
            <a:pathLst>
              <a:path w="450" h="137">
                <a:moveTo>
                  <a:pt x="440" y="0"/>
                </a:moveTo>
                <a:cubicBezTo>
                  <a:pt x="445" y="0"/>
                  <a:pt x="449" y="4"/>
                  <a:pt x="450" y="8"/>
                </a:cubicBezTo>
                <a:cubicBezTo>
                  <a:pt x="449" y="6"/>
                  <a:pt x="447" y="4"/>
                  <a:pt x="444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440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715250" y="904875"/>
            <a:ext cx="3905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选题创新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切「认知过程」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715250" y="1228725"/>
            <a:ext cx="39052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不做内容存储的又一套轮子，管的是你的盲区、矛盾与病根——信息系统覆盖不到的那一半。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7524750" y="2705100"/>
            <a:ext cx="4286250" cy="1304925"/>
          </a:xfrm>
          <a:prstGeom prst="roundRect">
            <a:avLst>
              <a:gd name="adj" fmla="val 7299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7524750" y="2705100"/>
            <a:ext cx="4286250" cy="1304925"/>
          </a:xfrm>
          <a:custGeom>
            <a:pathLst>
              <a:path w="450" h="137">
                <a:moveTo>
                  <a:pt x="440" y="0"/>
                </a:moveTo>
                <a:cubicBezTo>
                  <a:pt x="445" y="0"/>
                  <a:pt x="449" y="4"/>
                  <a:pt x="450" y="8"/>
                </a:cubicBezTo>
                <a:cubicBezTo>
                  <a:pt x="449" y="6"/>
                  <a:pt x="447" y="4"/>
                  <a:pt x="444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440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715250" y="2857500"/>
            <a:ext cx="3905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方案创新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冲突检测与影子主张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715250" y="3181350"/>
            <a:ext cx="39052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L2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识别同主题对立主张；书籍通读提取观点，与个人笔记跨来源对撞——已用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4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本真书验证。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7524750" y="4648200"/>
            <a:ext cx="4286250" cy="1304925"/>
          </a:xfrm>
          <a:prstGeom prst="roundRect">
            <a:avLst>
              <a:gd name="adj" fmla="val 7299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7524750" y="4648200"/>
            <a:ext cx="4286250" cy="1304925"/>
          </a:xfrm>
          <a:custGeom>
            <a:pathLst>
              <a:path w="450" h="137">
                <a:moveTo>
                  <a:pt x="440" y="0"/>
                </a:moveTo>
                <a:cubicBezTo>
                  <a:pt x="445" y="0"/>
                  <a:pt x="449" y="4"/>
                  <a:pt x="450" y="8"/>
                </a:cubicBezTo>
                <a:cubicBezTo>
                  <a:pt x="449" y="6"/>
                  <a:pt x="447" y="4"/>
                  <a:pt x="444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440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715250" y="4800600"/>
            <a:ext cx="3905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工程创新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先向量后模型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715250" y="5124450"/>
            <a:ext cx="39052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让便宜的向量先判断「值不值得让贵的模型看」，判定候选对从全量两两比较压到每次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≤20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对。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381000" y="6010275"/>
            <a:ext cx="11430000" cy="457200"/>
          </a:xfrm>
          <a:prstGeom prst="roundRect">
            <a:avLst>
              <a:gd name="adj" fmla="val 1666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09600" y="6124575"/>
            <a:ext cx="109728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创新落在结构上，不落在名词上——这张对比表就是「和现有方案比，我好在哪里」的回答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381000" y="656272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353800" y="6562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16 / 27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24" name="" descr="&lt;Slide style={{ width: 1280, height: 720, background: '#FFFFFF', flexDirection: 'column' }}&gt;&#10;    &lt;Box style={{ width: '100%', height: 8, background: '#1E4FA8' }} /&gt;&#10;    &lt;Box style={{ flex: 1, flexDirection: 'row', gap: 28, padding: '22px 40px 0 40px' }}&gt;&#10;        &lt;Box style={{ width: 330, height: 585, background: '#0E3F8C', borderRadius: 10, padding: '34px 30px', justifyContent: 'space-between' }}&gt;&#10;            &lt;Box&gt;&#10;                &lt;Text style={{ fontSize: 18, color: '#9FBCE8', letterSpacing: 3 }}&gt;维度三&lt;/Text&gt;&#10;                &lt;Text style={{ fontSize: 40, fontWeight: 'bold', color: '#FFFFFF', marginTop: 12 }}&gt;技术先进性&lt;/Text&gt;&#10;                &lt;Box style={{ flexDirection: 'row', alignItems: 'flex-end', gap: 8, marginTop: 16 }}&gt;&#10;                    &lt;Text style={{ fontSize: 62, fontWeight: 'bold', color: '#FFC107', lineHeight: 1 }}&gt;20&lt;/Text&gt;&#10;                    &lt;Text style={{ fontSize: 22, color: '#BBD0F0', paddingBottom: 6 }}&gt;分&lt;/Text&gt;&#10;                &lt;/Box&gt;&#10;            &lt;/Box&gt;&#10;            &lt;Box style={{ flexDirection: 'column', gap: 8 }}&gt;&#10;                &lt;Text style={{ fontSize: 19, color: '#E8EFF8', lineHeight: 1.6 }}&gt;对照评分细则三个子项：&lt;/Text&gt;&#10;                &lt;Text style={{ fontSize: 19, color: '#FFC107', lineHeight: 1.6 }}&gt;技术选型 · 6 分&lt;/Text&gt;&#10;                &lt;Text style={{ fontSize: 19, color: '#FFC107', lineHeight: 1.6 }}&gt;AI 应用深度 · 8 分&lt;/Text&gt;&#10;                &lt;Text style={{ fontSize: 19, color: '#FFC107', lineHeight: 1.6 }}&gt;技术难度 · 6 分&lt;/Text&gt;&#10;            &lt;/Box&gt;&#10;            &lt;Text style={{ fontSize: 18, color: '#BBD0F0', lineHeight: 1.6 }}&gt;每个名词都落到「我怎么做、为什么这样做、边界在哪」。&lt;/Text&gt;&#10;        &lt;/Box&gt;&#10;        &lt;Box style={{ flex: 1, flexDirection: 'column', justifyContent: 'space-between' }}&gt;&#10;            &lt;Box style={{ flexDirection: 'row', gap: 18, height: 172, padding: '16px 20px', background: '#F7F9FC', borderRadius: 10, border: '1px solid #D6DCE5', borderLeft: '5px solid #1E4FA8' }}&gt;&#10;                &lt;Box style={{ width: 112, flexDirection: 'column', justifyContent: 'center', alignItems: 'center', gap: 6 }}&gt;&#10;                    &lt;Text style={{ fontSize: 34, fontWeight: 'bold', color: '#0E3F8C', lineHeight: 1 }}&gt;6&lt;span style={{ fontSize: 18 }}&gt; 分&lt;/span&gt;&lt;/Text&gt;&#10;                    &lt;Text style={{ fontSize: 15, color: '#8B97A8', textAlign: 'center' }}&gt;技术选型&lt;/Text&gt;&#10;                &lt;/Box&gt;&#10;                &lt;Box style={{ width: 1, height: '100%', background: '#D6DCE5' }} /&gt;&#10;                &lt;Box style={{ flex: 1, justifyContent: 'space-between' }}&gt;&#10;                    &lt;Text style={{ fontSize: 21, fontWeight: 'bold', color: '#1A2230' }}&gt;五层架构与三处选型理由 → 见 P07&lt;/Text&gt;&#10;                    &lt;Text style={{ fontSize: 17, color: '#4A5568', lineHeight: 1.55 }}&gt;&#10;                        前端 / 接口 / 能力 / 支撑 / 存储五层，层间只通过接口说话；FastAPI 类型即契约、前端零框架无构建、SQLite 对单人规模是负复杂度选择。&#10;                    &lt;/Text&gt;&#10;                    &lt;Text style={{ fontSize: 15, color: '#8B97A8' }}&gt;证明方式：现场可展示分层目录与 46 个接口的契约定义&lt;/Text&gt;&#10;                &lt;/Box&gt;&#10;            &lt;/Box&gt;&#10;            &lt;Box style={{ flexDirection: 'row', gap: 18, height: 172, padding: '16px 20px', background: '#F7F9FC', borderRadius: 10, border: '1px solid #D6DCE5', borderLeft: '5px solid #1E4FA8' }}&gt;&#10;                &lt;Box style={{ width: 112, flexDirection: 'column', justifyContent: 'center', alignItems: 'center', gap: 6 }}&gt;&#10;                    &lt;Text style={{ fontSize: 34, fontWeight: 'bold', color: '#0E3F8C', lineHeight: 1 }}&gt;8&lt;span style={{ fontSize: 18 }}&gt; 分&lt;/span&gt;&lt;/Text&gt;&#10;                    &lt;Text style={{ fontSize: 15, color: '#8B97A8', textAlign: 'center' }}&gt;AI 应用深度&lt;/Text&gt;&#10;                &lt;/Box&gt;&#10;                &lt;Box style={{ width: 1, height: '100%', background: '#D6DCE5' }} /&gt;&#10;                &lt;Box style={{ flex: 1, justifyContent: 'space-between' }}&gt;&#10;                    &lt;Text style={{ fontSize: 21, fontWeight: 'bold', color: '#1A2230' }}&gt;模型工程与检索工程 → 见 P09 / P10&lt;/Text&gt;&#10;                    &lt;Text style={{ fontSize: 17, color: '#4A5568', lineHeight: 1.55 }}&gt;&#10;                        结构化输出交给服务端 Schema 约束（对比实验 6/6 vs 自由文本 3 次挂 1）；RAG 八个环节除重排外全部落地；意图路由规则与模型分流，命令式说法零模型调用。&#10;                    &lt;/Text&gt;&#10;                    &lt;Text style={{ fontSize: 15, color: '#8B97A8' }}&gt;证明方式：实验数据 + 可复跑的五项自检端点&lt;/Text&gt;&#10;                &lt;/Box&gt;&#10;            &lt;/Box&gt;&#10;            &lt;Box style={{ flexDirection: 'row', gap: 18, height: 172, padding: '16px 20px', background: '#F7F9FC', borderRadius: 10, border: '1px solid #D6DCE5', borderLeft: '5px solid #1E4FA8' }}&gt;&#10;                &lt;Box style={{ width: 112, flexDirection: 'column', justifyContent: 'center', alignItems: 'center', gap: 6 }}&gt;&#10;                    &lt;Text style={{ fontSize: 34, fontWeight: 'bold', color: '#0E3F8C', lineHeight: 1 }}&gt;6&lt;span style={{ fontSize: 18 }}&gt; 分&lt;/span&gt;&lt;/Text&gt;&#10;                    &lt;Text style={{ fontSize: 15, color: '#8B97A8', textAlign: 'center' }}&gt;技术难度&lt;/Text&gt;&#10;                &lt;/Box&gt;&#10;                &lt;Box style={{ width: 1, height: '100%', background: '#D6DCE5' }} /&gt;&#10;                &lt;Box style={{ flex: 1, justifyContent: 'space-between' }}&gt;&#10;                    &lt;Text style={{ fontSize: 21, fontWeight: 'bold', color: '#1A2230' }}&gt;冲突算法与可靠性工程 → 见 P11 / P12&lt;/Text&gt;&#10;                    &lt;Text style={{ fontSize: 17, color: '#4A5568', lineHeight: 1.55 }}&gt;&#10;                        向量距离带把平方级候选对压到每轮 ≤20 对；评估护栏 recall@5 ≥ 0.95；判定真实评测 F1 = 1.0 并给出回归承诺；自研任务框架含幂等、退避、死信与超时回收。&#10;                    &lt;/Text&gt;&#10;                    &lt;Text style={{ fontSize: 15, color: '#8B97A8' }}&gt;证明方式：660 项测试 + 评估护栏断言 + 20 条复盘&lt;/Text&gt;&#10;                &lt;/Box&gt;&#10;            &lt;/Box&gt;&#10;        &lt;/Box&gt;&#10;    &lt;/Box&gt;&#10;    &lt;Box style={{ flexDirection: 'row', justifyContent: 'space-between', alignItems: 'center', padding: '12px 40px 16px 40px' }}&gt;&#10;        &lt;Text style={{ fontSize: 14, color: '#8B97A8' }}&gt;认知副驾 · Cognitive Copilot&lt;/Text&gt;&#10;        &lt;Text style={{ fontSize: 14, color: '#1E4FA8' }}&gt;17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6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381000" y="285750"/>
            <a:ext cx="3143250" cy="5572125"/>
          </a:xfrm>
          <a:prstGeom prst="roundRect">
            <a:avLst>
              <a:gd name="adj" fmla="val 303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66750" y="609600"/>
            <a:ext cx="257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9FBCE8"/>
                </a:solidFill>
                <a:latin typeface="Microsoft YaHei"/>
                <a:ea typeface="Microsoft YaHei"/>
              </a:rPr>
              <a:t>维度三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66750" y="933450"/>
            <a:ext cx="2571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技术先进性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66750" y="1543050"/>
            <a:ext cx="73342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FFC107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476375" y="1943100"/>
            <a:ext cx="209550" cy="314325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650">
                <a:solidFill>
                  <a:srgbClr val="BBD0F0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66750" y="2743200"/>
            <a:ext cx="257175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E8EFF8"/>
                </a:solidFill>
                <a:latin typeface="Microsoft YaHei"/>
                <a:ea typeface="Microsoft YaHei"/>
              </a:rPr>
              <a:t>对照评分细则三个子项：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66750" y="3171825"/>
            <a:ext cx="257175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C107"/>
                </a:solidFill>
                <a:latin typeface="Microsoft YaHei"/>
                <a:ea typeface="Microsoft YaHei"/>
              </a:rPr>
              <a:t>技术选型</a:t>
            </a:r>
            <a:r>
              <a:rPr lang="en-US" sz="1425">
                <a:solidFill>
                  <a:srgbClr val="FFC107"/>
                </a:solidFill>
                <a:latin typeface="Microsoft YaHei"/>
                <a:ea typeface="Microsoft YaHei"/>
              </a:rPr>
              <a:t> · 6 </a:t>
            </a:r>
            <a:r>
              <a:rPr lang="zh-CN" sz="1425">
                <a:solidFill>
                  <a:srgbClr val="FFC107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66750" y="3600450"/>
            <a:ext cx="257175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425">
                <a:solidFill>
                  <a:srgbClr val="FFC107"/>
                </a:solidFill>
                <a:latin typeface="Microsoft YaHei"/>
                <a:ea typeface="Microsoft YaHei"/>
              </a:rPr>
              <a:t>AI </a:t>
            </a:r>
            <a:r>
              <a:rPr lang="zh-CN" sz="1425">
                <a:solidFill>
                  <a:srgbClr val="FFC107"/>
                </a:solidFill>
                <a:latin typeface="Microsoft YaHei"/>
                <a:ea typeface="Microsoft YaHei"/>
              </a:rPr>
              <a:t>应用深度</a:t>
            </a:r>
            <a:r>
              <a:rPr lang="en-US" sz="1425">
                <a:solidFill>
                  <a:srgbClr val="FFC107"/>
                </a:solidFill>
                <a:latin typeface="Microsoft YaHei"/>
                <a:ea typeface="Microsoft YaHei"/>
              </a:rPr>
              <a:t> · 8 </a:t>
            </a:r>
            <a:r>
              <a:rPr lang="zh-CN" sz="1425">
                <a:solidFill>
                  <a:srgbClr val="FFC107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66750" y="4029075"/>
            <a:ext cx="257175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C107"/>
                </a:solidFill>
                <a:latin typeface="Microsoft YaHei"/>
                <a:ea typeface="Microsoft YaHei"/>
              </a:rPr>
              <a:t>技术难度</a:t>
            </a:r>
            <a:r>
              <a:rPr lang="en-US" sz="1425">
                <a:solidFill>
                  <a:srgbClr val="FFC107"/>
                </a:solidFill>
                <a:latin typeface="Microsoft YaHei"/>
                <a:ea typeface="Microsoft YaHei"/>
              </a:rPr>
              <a:t> · 6 </a:t>
            </a:r>
            <a:r>
              <a:rPr lang="zh-CN" sz="1425">
                <a:solidFill>
                  <a:srgbClr val="FFC107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66750" y="4867275"/>
            <a:ext cx="25717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BBD0F0"/>
                </a:solidFill>
                <a:latin typeface="Microsoft YaHei"/>
                <a:ea typeface="Microsoft YaHei"/>
              </a:rPr>
              <a:t>每个名词都落到「我怎么做、为什么这样做、边界在哪」。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3838575" y="285750"/>
            <a:ext cx="8020050" cy="1638300"/>
          </a:xfrm>
          <a:prstGeom prst="roundRect">
            <a:avLst>
              <a:gd name="adj" fmla="val 5814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3838575" y="285750"/>
            <a:ext cx="8020050" cy="1638300"/>
          </a:xfrm>
          <a:custGeom>
            <a:pathLst>
              <a:path w="842" h="172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67"/>
                </a:lnTo>
                <a:cubicBezTo>
                  <a:pt x="5" y="169"/>
                  <a:pt x="7" y="171"/>
                  <a:pt x="9" y="172"/>
                </a:cubicBezTo>
                <a:cubicBezTo>
                  <a:pt x="4" y="171"/>
                  <a:pt x="0" y="167"/>
                  <a:pt x="0" y="16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4352925" y="800100"/>
            <a:ext cx="4286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6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276725" y="1247775"/>
            <a:ext cx="571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技术选型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5267325" y="438150"/>
            <a:ext cx="9525" cy="13335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448300" y="438150"/>
            <a:ext cx="6172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五层架构与三处选型理由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见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P07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5448300" y="838200"/>
            <a:ext cx="61722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前端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接口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能力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支撑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存储五层，层间只通过接口说话；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FastAPI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类型即契约、前端零框架无构建、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SQLite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对单人规模是负复杂度选择。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5448300" y="1600200"/>
            <a:ext cx="617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证明方式：现场可展示分层目录与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46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个接口的契约定义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3838575" y="2543175"/>
            <a:ext cx="8020050" cy="1638300"/>
          </a:xfrm>
          <a:prstGeom prst="roundRect">
            <a:avLst>
              <a:gd name="adj" fmla="val 5814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3838575" y="2543175"/>
            <a:ext cx="8020050" cy="1638300"/>
          </a:xfrm>
          <a:custGeom>
            <a:pathLst>
              <a:path w="842" h="172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67"/>
                </a:lnTo>
                <a:cubicBezTo>
                  <a:pt x="5" y="169"/>
                  <a:pt x="7" y="171"/>
                  <a:pt x="9" y="172"/>
                </a:cubicBezTo>
                <a:cubicBezTo>
                  <a:pt x="4" y="171"/>
                  <a:pt x="0" y="167"/>
                  <a:pt x="0" y="16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352925" y="3057525"/>
            <a:ext cx="4286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8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4181475" y="3505200"/>
            <a:ext cx="7620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AI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应用深度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5267325" y="2695575"/>
            <a:ext cx="9525" cy="13335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5448300" y="2695575"/>
            <a:ext cx="6172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模型工程与检索工程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见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P09 / P10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5448300" y="3095625"/>
            <a:ext cx="61722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结构化输出交给服务端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Schema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约束（对比实验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6/6 vs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自由文本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3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次挂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1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）；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RAG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八个环节除重排外全部落地；意图路由规则与模型分流，命令式说法零模型调用。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5448300" y="3857625"/>
            <a:ext cx="617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证明方式：实验数据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可复跑的五项自检端点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3838575" y="4791075"/>
            <a:ext cx="8020050" cy="1638300"/>
          </a:xfrm>
          <a:prstGeom prst="roundRect">
            <a:avLst>
              <a:gd name="adj" fmla="val 5814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3838575" y="4791075"/>
            <a:ext cx="8020050" cy="1638300"/>
          </a:xfrm>
          <a:custGeom>
            <a:pathLst>
              <a:path w="842" h="172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67"/>
                </a:lnTo>
                <a:cubicBezTo>
                  <a:pt x="5" y="169"/>
                  <a:pt x="7" y="171"/>
                  <a:pt x="9" y="172"/>
                </a:cubicBezTo>
                <a:cubicBezTo>
                  <a:pt x="4" y="171"/>
                  <a:pt x="0" y="167"/>
                  <a:pt x="0" y="16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4352925" y="5305425"/>
            <a:ext cx="4286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6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4276725" y="5753100"/>
            <a:ext cx="571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技术难度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5267325" y="4943475"/>
            <a:ext cx="9525" cy="13335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448300" y="4943475"/>
            <a:ext cx="6172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冲突算法与可靠性工程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见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P11 / P12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5448300" y="5343525"/>
            <a:ext cx="61722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向量距离带把平方级候选对压到每轮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≤20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对；评估护栏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recall@5 ≥ 0.95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；判定真实评测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F1 = 1.0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并给出回归承诺；自研任务框架含幂等、退避、死信与超时回收。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448300" y="6105525"/>
            <a:ext cx="617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证明方式：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660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项测试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评估护栏断言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+ 20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条复盘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381000" y="654367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1353800" y="65436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17 / 27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63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18px 40px 10px 40px' }}&gt;&#10;        &lt;Text style={{ fontSize: 34, fontWeight: 'bold', color: '#0E3F8C' }}&gt;维度四 · 功能完善性（20 分）&lt;/Text&gt;&#10;        &lt;Text style={{ fontSize: 17, color: '#8B97A8' }}&gt;按评分细则四个子项逐一对齐&lt;/Text&gt;&#10;    &lt;/Box&gt;&#10;    &lt;Box style={{ flex: 1, flexDirection: 'row', gap: 18, padding: '2px 40px 0 40px' }}&gt;&#10;        &lt;Box style={{ flex: 1, background: '#F7F9FC', borderRadius: 10, border: '1px solid #D6DCE5', borderTop: '5px solid #1E4FA8', padding: '20px 20px', justifyContent: 'space-between' }}&gt;&#10;            &lt;Box&gt;&#10;                &lt;Box style={{ flexDirection: 'row', justifyContent: 'space-between', alignItems: 'center' }}&gt;&#10;                    &lt;Text style={{ fontSize: 23, fontWeight: 'bold', color: '#1A2230' }}&gt;功能完成度&lt;/Text&gt;&#10;                    &lt;Box style={{ padding: '4px 12px', background: '#E8EFF8', borderRadius: 14 }}&gt;&#10;                        &lt;Text style={{ fontSize: 16, fontWeight: 'bold', color: '#0E3F8C' }}&gt;8 分&lt;/Text&gt;&#10;                    &lt;/Box&gt;&#10;                &lt;/Box&gt;&#10;                &lt;Text style={{ fontSize: 18, color: '#4A5568', marginTop: 14, lineHeight: 1.6 }}&gt;&#10;                    策划承诺的核心功能全部实现、可现场演示。&lt;span style={{ fontWeight: 'bold', color: '#0E3F8C' }}&gt;10 项能力全部接入对话入口&lt;/span&gt;，一句话即可调用。&#10;                &lt;/Text&gt;&#10;            &lt;/Box&gt;&#10;            &lt;Text style={{ fontSize: 15, color: '#8B97A8', lineHeight: 1.5 }}&gt;挖掘 / 冲突 / 简报 / 计划 / 诊断 / 录入 / 同步 / 书架&lt;/Text&gt;&#10;        &lt;/Box&gt;&#10;        &lt;Box style={{ flex: 1, background: '#F7F9FC', borderRadius: 10, border: '1px solid #D6DCE5', borderTop: '5px solid #1E4FA8', padding: '20px 20px', justifyContent: 'space-between' }}&gt;&#10;            &lt;Box&gt;&#10;                &lt;Box style={{ flexDirection: 'row', justifyContent: 'space-between', alignItems: 'center' }}&gt;&#10;                    &lt;Text style={{ fontSize: 23, fontWeight: 'bold', color: '#1A2230' }}&gt;稳定与容错&lt;/Text&gt;&#10;                    &lt;Box style={{ padding: '4px 12px', background: '#E8EFF8', borderRadius: 14 }}&gt;&#10;                        &lt;Text style={{ fontSize: 16, fontWeight: 'bold', color: '#0E3F8C' }}&gt;5 分&lt;/Text&gt;&#10;                    &lt;/Box&gt;&#10;                &lt;/Box&gt;&#10;                &lt;Text style={{ fontSize: 18, color: '#4A5568', marginTop: 14, lineHeight: 1.6 }}&gt;&#10;                    检索失败自动降级关键词通道；向量模型不可用自动切换哈希兜底；会话过期&lt;span style={{ fontWeight: 'bold', color: '#0E3F8C' }}&gt;静默续期&lt;/span&gt;；异常输入有兜底提示，不裸抛错误。&#10;                &lt;/Text&gt;&#10;            &lt;/Box&gt;&#10;            &lt;Text style={{ fontSize: 15, color: '#8B97A8', lineHeight: 1.5 }}&gt;降级有边界：模拟结果绝不冒充真实结果&lt;/Text&gt;&#10;        &lt;/Box&gt;&#10;        &lt;Box style={{ flex: 1, background: '#F7F9FC', borderRadius: 10, border: '1px solid #D6DCE5', borderTop: '5px solid #1E4FA8', padding: '20px 20px', justifyContent: 'space-between' }}&gt;&#10;            &lt;Box&gt;&#10;                &lt;Box style={{ flexDirection: 'row', justifyContent: 'space-between', alignItems: 'center' }}&gt;&#10;                    &lt;Text style={{ fontSize: 23, fontWeight: 'bold', color: '#1A2230' }}&gt;界面体验&lt;/Text&gt;&#10;                    &lt;Box style={{ padding: '4px 12px', background: '#E8EFF8', borderRadius: 14 }}&gt;&#10;                        &lt;Text style={{ fontSize: 16, fontWeight: 'bold', color: '#0E3F8C' }}&gt;4 分&lt;/Text&gt;&#10;                    &lt;/Box&gt;&#10;                &lt;/Box&gt;&#10;                &lt;Text style={{ fontSize: 18, color: '#4A5568', marginTop: 14, lineHeight: 1.6 }}&gt;&#10;                    登录即落地&lt;span style={{ fontWeight: 'bold', color: '#0E3F8C' }}&gt;对话工作台&lt;/span&gt;，耗时能力先回「进行中」卡、完成后就地改写；9 个功能页全保留，信息直给、无冗余装饰。&#10;                &lt;/Text&gt;&#10;            &lt;/Box&gt;&#10;            &lt;Text style={{ fontSize: 15, color: '#8B97A8', lineHeight: 1.5 }}&gt;结果以卡片回写会话，打开即见最终状态&lt;/Text&gt;&#10;        &lt;/Box&gt;&#10;        &lt;Box style={{ flex: 1, background: '#F7F9FC', borderRadius: 10, border: '1px solid #D6DCE5', borderTop: '5px solid #1E4FA8', padding: '20px 20px', justifyContent: 'space-between' }}&gt;&#10;            &lt;Box&gt;&#10;                &lt;Box style={{ flexDirection: 'row', justifyContent: 'space-between', alignItems: 'center' }}&gt;&#10;                    &lt;Text style={{ fontSize: 23, fontWeight: 'bold', color: '#1A2230' }}&gt;代码质量&lt;/Text&gt;&#10;                    &lt;Box style={{ padding: '4px 12px', background: '#E8EFF8', borderRadius: 14 }}&gt;&#10;                        &lt;Text style={{ fontSize: 16, fontWeight: 'bold', color: '#0E3F8C' }}&gt;3 分&lt;/Text&gt;&#10;                    &lt;/Box&gt;&#10;                &lt;/Box&gt;&#10;                &lt;Text style={{ fontSize: 18, color: '#4A5568', marginTop: 14, lineHeight: 1.6 }}&gt;&#10;                    分层清晰（网关 / 领域 / 能力 / 前端），仓储层结构性强制账号隔离；&lt;span style={{ fontWeight: 'bold', color: '#0E3F8C' }}&gt;660 项测试全绿&lt;/span&gt;、提交粒度真实、20 条复盘沉淀。&#10;                &lt;/Text&gt;&#10;            &lt;/Box&gt;&#10;            &lt;Text style={{ fontSize: 15, color: '#8B97A8', lineHeight: 1.5 }}&gt;测试全程模拟调用，不联网、秒级可回归&lt;/Text&gt;&#10;        &lt;/Box&gt;&#10;    &lt;/Box&gt;&#10;    &lt;Box style={{ margin: '14px 40px 0 40px', padding: '13px 24px', background: '#0E3F8C', borderRadius: 8 }}&gt;&#10;        &lt;Text style={{ fontSize: 20, color: '#FFFFFF', textAlign: 'center' }}&gt;&#10;            稳定性的底气来自工程习惯：每一次降级都设计过边界，每一个静默失败都被写进复盘并加了测试断言&#10;        &lt;/Text&gt;&#10;    &lt;/Box&gt;&#10;    &lt;Box style={{ flexDirection: 'row', justifyContent: 'space-between', alignItems: 'center', padding: '10px 40px 14px 40px' }}&gt;&#10;        &lt;Text style={{ fontSize: 14, color: '#8B97A8' }}&gt;认知副驾 · Cognitive Copilot&lt;/Text&gt;&#10;        &lt;Text style={{ fontSize: 14, color: '#1E4FA8' }}&gt;18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4400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维度四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功能完善性（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20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分）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705975" y="438150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按评分细则四个子项逐一对齐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381000" y="800100"/>
            <a:ext cx="2733675" cy="5105400"/>
          </a:xfrm>
          <a:prstGeom prst="roundRect">
            <a:avLst>
              <a:gd name="adj" fmla="val 3484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rot="0" flipH="0" flipV="0">
            <a:off x="381000" y="800100"/>
            <a:ext cx="2733675" cy="5105400"/>
          </a:xfrm>
          <a:custGeom>
            <a:pathLst>
              <a:path w="287" h="536">
                <a:moveTo>
                  <a:pt x="277" y="0"/>
                </a:moveTo>
                <a:cubicBezTo>
                  <a:pt x="282" y="0"/>
                  <a:pt x="286" y="4"/>
                  <a:pt x="287" y="9"/>
                </a:cubicBezTo>
                <a:cubicBezTo>
                  <a:pt x="286" y="6"/>
                  <a:pt x="284" y="5"/>
                  <a:pt x="282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71500" y="990600"/>
            <a:ext cx="10953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功能完成度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2400300" y="990600"/>
            <a:ext cx="523875" cy="2667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2514600" y="1028700"/>
            <a:ext cx="295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8 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71500" y="1390650"/>
            <a:ext cx="2352675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策划承诺的核心功能全部实现、可现场演示。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10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项能力全部接入对话入口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，一句话即可调用。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71500" y="5153025"/>
            <a:ext cx="2352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挖掘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冲突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简报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计划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诊断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录入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同步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书架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3286125" y="800100"/>
            <a:ext cx="2724150" cy="5105400"/>
          </a:xfrm>
          <a:prstGeom prst="roundRect">
            <a:avLst>
              <a:gd name="adj" fmla="val 349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6" name=""/>
          <p:cNvSpPr/>
          <p:nvPr/>
        </p:nvSpPr>
        <p:spPr>
          <a:xfrm rot="0" flipH="0" flipV="0">
            <a:off x="3286125" y="800100"/>
            <a:ext cx="2724150" cy="5105400"/>
          </a:xfrm>
          <a:custGeom>
            <a:pathLst>
              <a:path w="286" h="536">
                <a:moveTo>
                  <a:pt x="276" y="0"/>
                </a:moveTo>
                <a:cubicBezTo>
                  <a:pt x="281" y="0"/>
                  <a:pt x="285" y="4"/>
                  <a:pt x="286" y="9"/>
                </a:cubicBezTo>
                <a:cubicBezTo>
                  <a:pt x="285" y="6"/>
                  <a:pt x="283" y="5"/>
                  <a:pt x="281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3476625" y="990600"/>
            <a:ext cx="10953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稳定与容错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5295900" y="990600"/>
            <a:ext cx="523875" cy="2667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5410200" y="1028700"/>
            <a:ext cx="295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5 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3476625" y="1390650"/>
            <a:ext cx="2343150" cy="1647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检索失败自动降级关键词通道；向量模型不可用自动切换哈希兜底；会话过期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静默续期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；异常输入有兜底提示，不裸抛错误。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3476625" y="5153025"/>
            <a:ext cx="2343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降级有边界：模拟结果绝不冒充真实结果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181725" y="800100"/>
            <a:ext cx="2733675" cy="5105400"/>
          </a:xfrm>
          <a:prstGeom prst="roundRect">
            <a:avLst>
              <a:gd name="adj" fmla="val 3484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6181725" y="800100"/>
            <a:ext cx="2733675" cy="5105400"/>
          </a:xfrm>
          <a:custGeom>
            <a:pathLst>
              <a:path w="287" h="536">
                <a:moveTo>
                  <a:pt x="277" y="0"/>
                </a:moveTo>
                <a:cubicBezTo>
                  <a:pt x="282" y="0"/>
                  <a:pt x="286" y="4"/>
                  <a:pt x="287" y="9"/>
                </a:cubicBezTo>
                <a:cubicBezTo>
                  <a:pt x="286" y="6"/>
                  <a:pt x="284" y="5"/>
                  <a:pt x="282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372225" y="990600"/>
            <a:ext cx="876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界面体验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8201025" y="990600"/>
            <a:ext cx="523875" cy="2667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315325" y="1028700"/>
            <a:ext cx="295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4 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372225" y="1390650"/>
            <a:ext cx="2352675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登录即落地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对话工作台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，耗时能力先回「进行中」卡、完成后就地改写；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9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个功能页全保留，信息直给、无冗余装饰。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372225" y="5153025"/>
            <a:ext cx="2352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结果以卡片回写会话，打开即见最终状态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9086850" y="800100"/>
            <a:ext cx="2724150" cy="5105400"/>
          </a:xfrm>
          <a:prstGeom prst="roundRect">
            <a:avLst>
              <a:gd name="adj" fmla="val 349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9086850" y="800100"/>
            <a:ext cx="2724150" cy="5105400"/>
          </a:xfrm>
          <a:custGeom>
            <a:pathLst>
              <a:path w="286" h="536">
                <a:moveTo>
                  <a:pt x="276" y="0"/>
                </a:moveTo>
                <a:cubicBezTo>
                  <a:pt x="281" y="0"/>
                  <a:pt x="285" y="4"/>
                  <a:pt x="286" y="9"/>
                </a:cubicBezTo>
                <a:cubicBezTo>
                  <a:pt x="285" y="6"/>
                  <a:pt x="283" y="5"/>
                  <a:pt x="281" y="5"/>
                </a:cubicBezTo>
                <a:lnTo>
                  <a:pt x="5" y="5"/>
                </a:lnTo>
                <a:cubicBezTo>
                  <a:pt x="3" y="5"/>
                  <a:pt x="1" y="7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9277350" y="990600"/>
            <a:ext cx="876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代码质量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11096625" y="990600"/>
            <a:ext cx="523875" cy="2667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1210925" y="1028700"/>
            <a:ext cx="295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3 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9277350" y="1390650"/>
            <a:ext cx="2343150" cy="1647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分层清晰（网关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领域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能力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前端），仓储层结构性强制账号隔离；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660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项测试全绿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、提交粒度真实、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20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条复盘沉淀。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9277350" y="5153025"/>
            <a:ext cx="2343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测试全程模拟调用，不联网、秒级可回归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381000" y="5991225"/>
            <a:ext cx="11430000" cy="476250"/>
          </a:xfrm>
          <a:prstGeom prst="roundRect">
            <a:avLst>
              <a:gd name="adj" fmla="val 16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09728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稳定性的底气来自工程习惯：每一次降级都设计过边界，每一个静默失败都被写进复盘并加了测试断言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381000" y="656272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1353800" y="6562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18 / 27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300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18px 40px 10px 40px' }}&gt;&#10;        &lt;Text style={{ fontSize: 34, fontWeight: 'bold', color: '#0E3F8C' }}&gt;维度五 · 开发工作量（10 分）&lt;/Text&gt;&#10;        &lt;Text style={{ fontSize: 17, color: '#8B97A8' }}&gt;规模 · 过程 · 迭代深度&lt;/Text&gt;&#10;    &lt;/Box&gt;&#10;    &lt;Box style={{ flex: 1, padding: '2px 40px 0 40px', flexDirection: 'column', justifyContent: 'space-between' }}&gt;&#10;        &lt;Table&#10;            style={{ width: 1200, height: 240 }}&#10;            defaultTextStyle={{ fontSize: 17, textAlign: 'center', color: '#1A2230' }}&#10;            defaultCellStyle={{&#10;                border: {&#10;                    left: { width: 1, color: '#D6DCE5' },&#10;                    right: { width: 1, color: '#D6DCE5' },&#10;                    top: { width: 1, color: '#D6DCE5' },&#10;                    bottom: { width: 1, color: '#D6DCE5' },&#10;                },&#10;                background: { color: '#FFFFFF' },&#10;            }}&#10;            cells={[&#10;                [&#10;                    { text: '阶段', textStyle: { bold: true, color: '#FFFFFF', fontSize: 17 }, cellStyle: { background: { color: '#0E3F8C' } } },&#10;                    { text: '时间', textStyle: { bold: true, color: '#FFFFFF', fontSize: 17 }, cellStyle: { background: { color: '#0E3F8C' } } },&#10;                    { text: '测试规模', textStyle: { bold: true, color: '#FFFFFF', fontSize: 17 }, cellStyle: { background: { color: '#0E3F8C' } } },&#10;                    { text: '关键进展', textStyle: { bold: true, color: '#FFFFFF', fontSize: 17 }, cellStyle: { background: { color: '#0E3F8C' } } },&#10;                ],&#10;                [&#10;                    { text: '骨架验证 → 能力闭环', textStyle: { bold: true, fontSize: 16 } },&#10;                    { text: '09-06 → 09-21', textStyle: { fontSize: 16 } },&#10;                    { text: '7 → 299 项', textStyle: { bold: true, color: '#1E4FA8', fontSize: 16 } },&#10;                    { text: '五层能力全部闭环；阅读器（txt/epub/pdf）＋微信读书同步；认证、任务框架、推送调度', textStyle: { textAlign: 'left', fontSize: 15 } },&#10;                ],&#10;                [&#10;                    { text: '对话收口 → 双层重做', textStyle: { bold: true, fontSize: 16 }, cellStyle: { background: { color: '#F7F9FC' } } },&#10;                    { text: '09-21 → 09-23', textStyle: { fontSize: 16 }, cellStyle: { background: { color: '#F7F9FC' } } },&#10;                    { text: '299 → 522 项', textStyle: { bold: true, color: '#1E4FA8', fontSize: 16 }, cellStyle: { background: { color: '#F7F9FC' } } },&#10;                    { text: '10 项能力全部接入对话；检索层库内重构＋pgvector 向量库＋评估护栏', textStyle: { textAlign: 'left', fontSize: 15 }, cellStyle: { background: { color: '#F7F9FC' } } },&#10;                ],&#10;                [&#10;                    { text: '判定增强 → 自主性', textStyle: { bold: true, fontSize: 16 } },&#10;                    { text: '09-24 → 10-02', textStyle: { fontSize: 16 } },&#10;                    { text: '522 → 660 项', textStyle: { bold: true, color: '#1E4FA8', fontSize: 16 } },&#10;                    { text: 'L2 置信度校准＋复核机制；4 本真书影子主张链路；自动巡检、事件反应、学习教练；手机端适配与 PWA', textStyle: { textAlign: 'left', fontSize: 15 } },&#10;                ],&#10;            ]}&#10;        /&gt;&#10;        &lt;Box style={{ flexDirection: 'row', gap: 16 }}&gt;&#10;            &lt;Box style={{ flex: 1, padding: '14px 18px', background: '#F0F5FC', borderRadius: 8, borderLeft: '4px solid #1E4FA8' }}&gt;&#10;                &lt;Text style={{ fontSize: 18, color: '#1A2230', lineHeight: 1.55 }}&gt;&#10;                    &lt;span style={{ fontWeight: 'bold', color: '#0E3F8C' }}&gt;中期检查已达标：&lt;/span&gt;第 10 周时五层能力与阅读链路均已可用，完成度远超 50% 计分线；当前核心功能全部可演示。&#10;                &lt;/Text&gt;&#10;            &lt;/Box&gt;&#10;            &lt;Box style={{ flex: 1, padding: '14px 18px', background: '#F0F5FC', borderRadius: 8, borderLeft: '4px solid #1E4FA8' }}&gt;&#10;                &lt;Text style={{ fontSize: 18, color: '#1A2230', lineHeight: 1.55 }}&gt;&#10;                    &lt;span style={{ fontWeight: 'bold', color: '#0E3F8C' }}&gt;迭代有深度：&lt;/span&gt;判定质量真实评测四轮，回归承诺「不低于基线 0.83」并已兑现；每轮迭代伴随功能增强、性能优化与缺陷修复。&#10;                &lt;/Text&gt;&#10;            &lt;/Box&gt;&#10;        &lt;/Box&gt;&#10;        &lt;Box style={{ padding: '13px 20px', background: '#F7F9FC', borderRadius: 8, border: '1px solid #D6DCE5' }}&gt;&#10;            &lt;Text style={{ fontSize: 18, color: '#1A2230', lineHeight: 1.6 }}&gt;&#10;                &lt;span style={{ fontWeight: 'bold', color: '#0E3F8C' }}&gt;关于 AI 辅助开发：&lt;/span&gt;全程使用 AI 辅助编程，但每一处改动经 660 项测试、每日开发日志与 20 条复盘文档把关——原理说得清、改动可追溯，这正是「投入过程」可核查的证据。&#10;            &lt;/Text&gt;&#10;        &lt;/Box&gt;&#10;    &lt;/Box&gt;&#10;    &lt;Box style={{ flexDirection: 'row', justifyContent: 'space-between', alignItems: 'center', padding: '10px 40px 14px 40px' }}&gt;&#10;        &lt;Text style={{ fontSize: 14, color: '#8B97A8' }}&gt;认知副驾 · Cognitive Copilot&lt;/Text&gt;&#10;        &lt;Text style={{ fontSize: 14, color: '#1E4FA8' }}&gt;19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4400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维度五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开发工作量（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10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分）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0239375" y="438150"/>
            <a:ext cx="1571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规模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过程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迭代深度</a:t>
            </a:r>
            <a:endParaRPr/>
          </a:p>
        </p:txBody>
      </p:sp>
      <p:graphicFrame>
        <p:nvGraphicFramePr>
          <p:cNvPr id="305" name=""/>
          <p:cNvGraphicFramePr/>
          <p:nvPr/>
        </p:nvGraphicFramePr>
        <p:xfrm rot="0" flipH="0" flipV="0">
          <a:off x="381000" y="752475"/>
          <a:ext cx="11430000" cy="2286000"/>
        </p:xfrm>
        <a:graphic>
          <a:graphicData uri="http://schemas.openxmlformats.org/drawingml/2006/table">
            <a:tbl>
              <a:tblGrid>
                <a:gridCol w="1673481">
                  <a:extLst>
                    <a:ext uri="{9D8B030D-6E8A-4147-A177-3AD203B41FA5}">
                      <a16:colId val="1"/>
                    </a:ext>
                  </a:extLst>
                </a:gridCol>
                <a:gridCol w="1274546">
                  <a:extLst>
                    <a:ext uri="{9D8B030D-6E8A-4147-A177-3AD203B41FA5}">
                      <a16:colId val="2"/>
                    </a:ext>
                  </a:extLst>
                </a:gridCol>
                <a:gridCol w="1182484">
                  <a:extLst>
                    <a:ext uri="{9D8B030D-6E8A-4147-A177-3AD203B41FA5}">
                      <a16:colId val="3"/>
                    </a:ext>
                  </a:extLst>
                </a:gridCol>
                <a:gridCol w="7299488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58416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时间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测试规模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关键进展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6727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骨架验证 → 能力闭环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09-06 → 09-21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7 → 299 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五层能力全部闭环；阅读器（txt/epub/pdf）＋微信读书同步；认证、任务框架、推送调度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6727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对话收口 → 双层重做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09-21 → 09-23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299 → 522 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10 项能力全部接入对话；检索层库内重构＋pgvector 向量库＋评估护栏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6727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判定增强 → 自主性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09-24 → 10-02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522 → 660 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L2 置信度校准＋复核机制；4 本真书影子主张链路；自动巡检、事件反应、学习教练；手机端适配与 PWA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306" name=""/>
          <p:cNvSpPr/>
          <p:nvPr/>
        </p:nvSpPr>
        <p:spPr>
          <a:xfrm rot="0" flipH="0" flipV="0">
            <a:off x="419100" y="3848100"/>
            <a:ext cx="5638800" cy="904875"/>
          </a:xfrm>
          <a:prstGeom prst="roundRect">
            <a:avLst>
              <a:gd name="adj" fmla="val 842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419100" y="3848100"/>
            <a:ext cx="5638800" cy="904875"/>
          </a:xfrm>
          <a:custGeom>
            <a:pathLst>
              <a:path w="592" h="9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1"/>
                </a:lnTo>
                <a:cubicBezTo>
                  <a:pt x="4" y="93"/>
                  <a:pt x="5" y="95"/>
                  <a:pt x="7" y="95"/>
                </a:cubicBezTo>
                <a:cubicBezTo>
                  <a:pt x="3" y="95"/>
                  <a:pt x="0" y="91"/>
                  <a:pt x="0" y="8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590550" y="3981450"/>
            <a:ext cx="52578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中期检查已达标：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第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10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周时五层能力与阅读链路均已可用，完成度远超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50%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计分线；当前核心功能全部可演示。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6210300" y="3848100"/>
            <a:ext cx="5638800" cy="904875"/>
          </a:xfrm>
          <a:prstGeom prst="roundRect">
            <a:avLst>
              <a:gd name="adj" fmla="val 842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10" name=""/>
          <p:cNvSpPr/>
          <p:nvPr/>
        </p:nvSpPr>
        <p:spPr>
          <a:xfrm rot="0" flipH="0" flipV="0">
            <a:off x="6210300" y="3848100"/>
            <a:ext cx="5638800" cy="904875"/>
          </a:xfrm>
          <a:custGeom>
            <a:pathLst>
              <a:path w="592" h="9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1"/>
                </a:lnTo>
                <a:cubicBezTo>
                  <a:pt x="4" y="93"/>
                  <a:pt x="5" y="95"/>
                  <a:pt x="7" y="95"/>
                </a:cubicBezTo>
                <a:cubicBezTo>
                  <a:pt x="3" y="95"/>
                  <a:pt x="0" y="91"/>
                  <a:pt x="0" y="8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381750" y="3981450"/>
            <a:ext cx="52578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迭代有深度：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判定质量真实评测四轮，回归承诺「不低于基线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0.83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」并已兑现；每轮迭代伴随功能增强、性能优化与缺陷修复。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381000" y="5553075"/>
            <a:ext cx="11430000" cy="9144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571500" y="5676900"/>
            <a:ext cx="11049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关于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 AI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辅助开发：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全程使用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AI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辅助编程，但每一处改动经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660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项测试、每日开发日志与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20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条复盘文档把关——原理说得清、改动可追溯，这正是「投入过程」可核查的证据。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381000" y="656272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1353800" y="6562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19 / 27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43" name="" descr="&lt;Slide style={{ width: 1280, height: 720, background: '#FFFFFF', flexDirection: 'column' }}&gt;&#10;    &lt;Box style={{ width: '100%', height: 8, background: '#1E4FA8' }} /&gt;&#10;    &lt;Box style={{ flex: 1, flexDirection: 'row', gap: 28, padding: '22px 40px 0 40px' }}&gt;&#10;        &lt;Box style={{ width: 330, height: 585, background: '#0E3F8C', borderRadius: 10, padding: '34px 30px', justifyContent: 'space-between' }}&gt;&#10;            &lt;Box&gt;&#10;                &lt;Text style={{ fontSize: 18, color: '#9FBCE8', letterSpacing: 3 }}&gt;现场表现&lt;/Text&gt;&#10;                &lt;Text style={{ fontSize: 40, fontWeight: 'bold', color: '#FFFFFF', marginTop: 12 }}&gt;系统演示&lt;/Text&gt;&#10;                &lt;Box style={{ flexDirection: 'row', alignItems: 'flex-end', gap: 8, marginTop: 16 }}&gt;&#10;                    &lt;Text style={{ fontSize: 62, fontWeight: 'bold', color: '#FFC107', lineHeight: 1 }}&gt;15&lt;/Text&gt;&#10;                    &lt;Text style={{ fontSize: 22, color: '#BBD0F0', paddingBottom: 6 }}&gt;分维度&lt;/Text&gt;&#10;                &lt;/Box&gt;&#10;            &lt;/Box&gt;&#10;            &lt;Text style={{ fontSize: 21, color: '#E8EFF8', lineHeight: 1.75 }}&gt;&#10;                演示覆盖 L1–L5 全部五层能力，六页实录全部为&lt;span style={{ fontWeight: 'bold', color: '#FFC107' }}&gt;系统真实运行截图&lt;/span&gt;，未作修饰。&#10;            &lt;/Text&gt;&#10;        &lt;/Box&gt;&#10;        &lt;Box style={{ flex: 1, flexDirection: 'column', justifyContent: 'space-between' }}&gt;&#10;            &lt;Box style={{ flexDirection: 'row', alignItems: 'center', gap: 16, height: 82, padding: '14px 22px', background: '#F7F9FC', borderRadius: 10, border: '1px solid #D6DCE5' }}&gt;&#10;                &lt;Box style={{ width: 44, height: 44, borderRadius: 22, background: '#1E4FA8', justifyContent: 'center', alignItems: 'center' }}&gt;&#10;                    &lt;Text style={{ fontSize: 20, fontWeight: 'bold', color: '#FFFFFF' }}&gt;1&lt;/Text&gt;&#10;                &lt;/Box&gt;&#10;                &lt;Box style={{ flex: 1 }}&gt;&#10;                    &lt;Text style={{ fontSize: 21, fontWeight: 'bold', color: '#1A2230' }}&gt;对话录入&lt;/Text&gt;&#10;                    &lt;Text style={{ fontSize: 17, color: '#4A5568', marginTop: 4 }}&gt;说一句「记一下……」，知识卡直接回写进会话&lt;/Text&gt;&#10;                &lt;/Box&gt;&#10;            &lt;/Box&gt;&#10;            &lt;Box style={{ flexDirection: 'row', alignItems: 'center', gap: 16, height: 82, padding: '14px 22px', background: '#F7F9FC', borderRadius: 10, border: '1px solid #D6DCE5' }}&gt;&#10;                &lt;Box style={{ width: 44, height: 44, borderRadius: 22, background: '#1E4FA8', justifyContent: 'center', alignItems: 'center' }}&gt;&#10;                    &lt;Text style={{ fontSize: 20, fontWeight: 'bold', color: '#FFFFFF' }}&gt;2&lt;/Text&gt;&#10;                &lt;/Box&gt;&#10;                &lt;Box style={{ flex: 1 }}&gt;&#10;                    &lt;Text style={{ fontSize: 21, fontWeight: 'bold', color: '#1A2230' }}&gt;模糊找回（L1）&lt;/Text&gt;&#10;                    &lt;Text style={{ fontSize: 17, color: '#4A5568', marginTop: 4 }}&gt;给一条模糊线索，看多轮追问如何定位到具体条目&lt;/Text&gt;&#10;                &lt;/Box&gt;&#10;            &lt;/Box&gt;&#10;            &lt;Box style={{ flexDirection: 'row', alignItems: 'center', gap: 16, height: 82, padding: '14px 22px', background: '#F7F9FC', borderRadius: 10, border: '1px solid #D6DCE5' }}&gt;&#10;                &lt;Box style={{ width: 44, height: 44, borderRadius: 22, background: '#1E4FA8', justifyContent: 'center', alignItems: 'center' }}&gt;&#10;                    &lt;Text style={{ fontSize: 20, fontWeight: 'bold', color: '#FFFFFF' }}&gt;3&lt;/Text&gt;&#10;                &lt;/Box&gt;&#10;                &lt;Box style={{ flex: 1 }}&gt;&#10;                    &lt;Text style={{ fontSize: 21, fontWeight: 'bold', color: '#1A2230' }}&gt;冲突检测（L2）&lt;/Text&gt;&#10;                    &lt;Text style={{ fontSize: 17, color: '#4A5568', marginTop: 4 }}&gt;发起扫描，展示对立主张识别与判定依据&lt;/Text&gt;&#10;                &lt;/Box&gt;&#10;            &lt;/Box&gt;&#10;            &lt;Box style={{ flexDirection: 'row', alignItems: 'center', gap: 16, height: 82, padding: '14px 22px', background: '#F7F9FC', borderRadius: 10, border: '1px solid #D6DCE5' }}&gt;&#10;                &lt;Box style={{ width: 44, height: 44, borderRadius: 22, background: '#1E4FA8', justifyContent: 'center', alignItems: 'center' }}&gt;&#10;                    &lt;Text style={{ fontSize: 20, fontWeight: 'bold', color: '#FFFFFF' }}&gt;4&lt;/Text&gt;&#10;                &lt;/Box&gt;&#10;                &lt;Box style={{ flex: 1 }}&gt;&#10;                    &lt;Text style={{ fontSize: 21, fontWeight: 'bold', color: '#1A2230' }}&gt;认知助产（L3）＋ 计划修正（L4）&lt;/Text&gt;&#10;                    &lt;Text style={{ fontSize: 17, color: '#4A5568', marginTop: 4 }}&gt;结构信号与追问；目标拆解、偏离检测与自主重排&lt;/Text&gt;&#10;                &lt;/Box&gt;&#10;            &lt;/Box&gt;&#10;            &lt;Box style={{ flexDirection: 'row', alignItems: 'center', gap: 16, height: 82, padding: '14px 22px', background: '#F7F9FC', borderRadius: 10, border: '1px solid #D6DCE5' }}&gt;&#10;                &lt;Box style={{ width: 44, height: 44, borderRadius: 22, background: '#1E4FA8', justifyContent: 'center', alignItems: 'center' }}&gt;&#10;                    &lt;Text style={{ fontSize: 20, fontWeight: 'bold', color: '#FFFFFF' }}&gt;5&lt;/Text&gt;&#10;                &lt;/Box&gt;&#10;                &lt;Box style={{ flex: 1 }}&gt;&#10;                    &lt;Text style={{ fontSize: 21, fontWeight: 'bold', color: '#1A2230' }}&gt;归因诊断（L5）＋ 主动推送&lt;/Text&gt;&#10;                    &lt;Text style={{ fontSize: 17, color: '#4A5568', marginTop: 4 }}&gt;归因结论与推理链；通知中心里的简报、教练与健康报告&lt;/Text&gt;&#10;                &lt;/Box&gt;&#10;            &lt;/Box&gt;&#10;            &lt;Box style={{ padding: '14px 20px', background: '#FFF8E1', borderRadius: 8, borderLeft: '5px solid #FFC107' }}&gt;&#10;                &lt;Text style={{ fontSize: 18, color: '#1A2230', lineHeight: 1.6 }}&gt;&#10;                    &lt;span style={{ fontWeight: 'bold', color: '#B8860B' }}&gt;双保险预案：&lt;/span&gt;现场优先运行真实系统；若环境异常，立即切换预录演示视频与关键界面截图——对应「无法运行且无屏幕备份记 0 分」条款，此风险已提前消除。&#10;                &lt;/Text&gt;&#10;            &lt;/Box&gt;&#10;        &lt;/Box&gt;&#10;    &lt;/Box&gt;&#10;    &lt;Box style={{ flexDirection: 'row', justifyContent: 'space-between', alignItems: 'center', padding: '12px 40px 16px 40px' }}&gt;&#10;        &lt;Text style={{ fontSize: 14, color: '#8B97A8' }}&gt;认知副驾 · Cognitive Copilot&lt;/Text&gt;&#10;        &lt;Text style={{ fontSize: 14, color: '#1E4FA8' }}&gt;20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381000" y="285750"/>
            <a:ext cx="3143250" cy="5572125"/>
          </a:xfrm>
          <a:prstGeom prst="roundRect">
            <a:avLst>
              <a:gd name="adj" fmla="val 303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66750" y="609600"/>
            <a:ext cx="257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9FBCE8"/>
                </a:solidFill>
                <a:latin typeface="Microsoft YaHei"/>
                <a:ea typeface="Microsoft YaHei"/>
              </a:rPr>
              <a:t>现场表现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66750" y="933450"/>
            <a:ext cx="2571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系统演示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66750" y="1543050"/>
            <a:ext cx="73342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FFC107"/>
                </a:solidFill>
                <a:latin typeface="Microsoft YaHei"/>
                <a:ea typeface="Microsoft YaHei"/>
              </a:rPr>
              <a:t>15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476375" y="1943100"/>
            <a:ext cx="628650" cy="314325"/>
          </a:xfrm>
          <a:prstGeom prst="rect"/>
        </p:spPr>
        <p:txBody>
          <a:bodyPr wrap="none" lIns="0" tIns="0" rIns="0" bIns="42863"/>
          <a:p>
            <a:pPr>
              <a:lnSpc>
                <a:spcPct val="100000"/>
              </a:lnSpc>
            </a:pPr>
            <a:r>
              <a:rPr lang="zh-CN" sz="1650">
                <a:solidFill>
                  <a:srgbClr val="BBD0F0"/>
                </a:solidFill>
                <a:latin typeface="Microsoft YaHei"/>
                <a:ea typeface="Microsoft YaHei"/>
              </a:rPr>
              <a:t>分维度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666750" y="4267200"/>
            <a:ext cx="2571750" cy="1266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575">
                <a:solidFill>
                  <a:srgbClr val="E8EFF8"/>
                </a:solidFill>
                <a:latin typeface="Microsoft YaHei"/>
                <a:ea typeface="Microsoft YaHei"/>
              </a:rPr>
              <a:t>演示覆盖</a:t>
            </a:r>
            <a:r>
              <a:rPr lang="en-US" sz="1575">
                <a:solidFill>
                  <a:srgbClr val="E8EFF8"/>
                </a:solidFill>
                <a:latin typeface="Microsoft YaHei"/>
                <a:ea typeface="Microsoft YaHei"/>
              </a:rPr>
              <a:t> L1–L5 </a:t>
            </a:r>
            <a:r>
              <a:rPr lang="zh-CN" sz="1575">
                <a:solidFill>
                  <a:srgbClr val="E8EFF8"/>
                </a:solidFill>
                <a:latin typeface="Microsoft YaHei"/>
                <a:ea typeface="Microsoft YaHei"/>
              </a:rPr>
              <a:t>全部五层能力，六页实录全部为</a:t>
            </a:r>
            <a:r>
              <a:rPr lang="zh-CN" sz="1575" b="1">
                <a:solidFill>
                  <a:srgbClr val="FFC107"/>
                </a:solidFill>
                <a:latin typeface="Microsoft YaHei"/>
                <a:ea typeface="Microsoft YaHei"/>
              </a:rPr>
              <a:t>系统真实运行截图</a:t>
            </a:r>
            <a:r>
              <a:rPr lang="zh-CN" sz="1575">
                <a:solidFill>
                  <a:srgbClr val="E8EFF8"/>
                </a:solidFill>
                <a:latin typeface="Microsoft YaHei"/>
                <a:ea typeface="Microsoft YaHei"/>
              </a:rPr>
              <a:t>，未作修饰。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3790950" y="285750"/>
            <a:ext cx="8020050" cy="781050"/>
          </a:xfrm>
          <a:prstGeom prst="roundRect">
            <a:avLst>
              <a:gd name="adj" fmla="val 1219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53" name=""/>
          <p:cNvSpPr/>
          <p:nvPr/>
        </p:nvSpPr>
        <p:spPr>
          <a:xfrm rot="0" flipH="0" flipV="0">
            <a:off x="4000500" y="4667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4152900" y="5619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4572000" y="438150"/>
            <a:ext cx="7029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对话录入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4572000" y="723900"/>
            <a:ext cx="7029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说一句「记一下……」，知识卡直接回写进会话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3790950" y="1323975"/>
            <a:ext cx="8020050" cy="781050"/>
          </a:xfrm>
          <a:prstGeom prst="roundRect">
            <a:avLst>
              <a:gd name="adj" fmla="val 1219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4000500" y="15049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152900" y="16002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572000" y="1476375"/>
            <a:ext cx="7029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模糊找回（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L1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4572000" y="1762125"/>
            <a:ext cx="7029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给一条模糊线索，看多轮追问如何定位到具体条目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3790950" y="2371725"/>
            <a:ext cx="8020050" cy="781050"/>
          </a:xfrm>
          <a:prstGeom prst="roundRect">
            <a:avLst>
              <a:gd name="adj" fmla="val 1219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4000500" y="25527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152900" y="26479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572000" y="2524125"/>
            <a:ext cx="7029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冲突检测（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L2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4572000" y="2809875"/>
            <a:ext cx="7029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发起扫描，展示对立主张识别与判定依据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3790950" y="3409950"/>
            <a:ext cx="8020050" cy="781050"/>
          </a:xfrm>
          <a:prstGeom prst="roundRect">
            <a:avLst>
              <a:gd name="adj" fmla="val 1219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68" name=""/>
          <p:cNvSpPr/>
          <p:nvPr/>
        </p:nvSpPr>
        <p:spPr>
          <a:xfrm rot="0" flipH="0" flipV="0">
            <a:off x="4000500" y="35909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4152900" y="36861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4572000" y="3562350"/>
            <a:ext cx="7029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认知助产（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L3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）＋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计划修正（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L4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4572000" y="3848100"/>
            <a:ext cx="7029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结构信号与追问；目标拆解、偏离检测与自主重排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3790950" y="4457700"/>
            <a:ext cx="8020050" cy="781050"/>
          </a:xfrm>
          <a:prstGeom prst="roundRect">
            <a:avLst>
              <a:gd name="adj" fmla="val 1219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73" name=""/>
          <p:cNvSpPr/>
          <p:nvPr/>
        </p:nvSpPr>
        <p:spPr>
          <a:xfrm rot="0" flipH="0" flipV="0">
            <a:off x="4000500" y="46386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4152900" y="47339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4572000" y="4610100"/>
            <a:ext cx="7029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归因诊断（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L5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）＋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主动推送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4572000" y="4895850"/>
            <a:ext cx="7029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归因结论与推理链；通知中心里的简报、教练与健康报告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3838575" y="5495925"/>
            <a:ext cx="8020050" cy="933450"/>
          </a:xfrm>
          <a:prstGeom prst="roundRect">
            <a:avLst>
              <a:gd name="adj" fmla="val 8163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378" name=""/>
          <p:cNvSpPr/>
          <p:nvPr/>
        </p:nvSpPr>
        <p:spPr>
          <a:xfrm rot="0" flipH="0" flipV="0">
            <a:off x="3838575" y="5495925"/>
            <a:ext cx="8020050" cy="933450"/>
          </a:xfrm>
          <a:custGeom>
            <a:pathLst>
              <a:path w="842" h="9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95"/>
                </a:lnTo>
                <a:cubicBezTo>
                  <a:pt x="5" y="97"/>
                  <a:pt x="6" y="98"/>
                  <a:pt x="8" y="98"/>
                </a:cubicBezTo>
                <a:cubicBezTo>
                  <a:pt x="3" y="98"/>
                  <a:pt x="0" y="94"/>
                  <a:pt x="0" y="9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4029075" y="5629275"/>
            <a:ext cx="75914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B8860B"/>
                </a:solidFill>
                <a:latin typeface="Microsoft YaHei"/>
                <a:ea typeface="Microsoft YaHei"/>
              </a:rPr>
              <a:t>双保险预案：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现场优先运行真实系统；若环境异常，立即切换预录演示视频与关键界面截图——对应「无法运行且无屏幕备份记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0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分」条款，此风险已提前消除。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381000" y="654367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11353800" y="65436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20 / 27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82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16px 40px 8px 40px' }}&gt;&#10;        &lt;Text style={{ fontSize: 34, fontWeight: 'bold', color: '#0E3F8C' }}&gt;演示实录 ① · 对话录入&lt;/Text&gt;&#10;        &lt;Text style={{ fontSize: 17, color: '#8B97A8' }}&gt;系统真实运行界面 · 未作修饰&lt;/Text&gt;&#10;    &lt;/Box&gt;&#10;    &lt;Box style={{ flex: 1, flexDirection: 'row', gap: 24, padding: '2px 40px 0 40px' }}&gt;&#10;        &lt;Box style={{ width: 580, flexDirection: 'column', gap: 10 }}&gt;&#10;            &lt;Image src=&quot;assets/demo1_input.png&quot; style={{ width: 580, height: 461, objectFit: 'contain', borderRadius: 8, border: '1px solid #D6DCE5' }} /&gt;&#10;            &lt;Text style={{ fontSize: 16, color: '#8B97A8', lineHeight: 1.5 }}&gt;输入框里只有一句话，系统返回的是一张可追溯的知识卡，而不是一段聊天回复。&lt;/Text&gt;&#10;        &lt;/Box&gt;&#10;        &lt;Box style={{ flex: 1, flexDirection: 'column', justifyContent: 'space-between' }}&gt;&#10;            &lt;Box style={{ height: 176, background: '#F7F9FC', borderRadius: 10, border: '1px solid #D6DCE5', borderLeft: '5px solid #1E4FA8', padding: '14px 18px', justifyContent: 'space-between' }}&gt;&#10;                &lt;Text style={{ fontSize: 21, fontWeight: 'bold', color: '#1A2230' }}&gt;一句话即入口&lt;/Text&gt;&#10;                &lt;Text style={{ fontSize: 17, color: '#4A5568', lineHeight: 1.55 }}&gt;&#10;                    命令式说法（「记一下…」「同步微信读书」）走本地确定性规则、零模型调用，只有判不出来时才问模型——因为它每一轮都要跑。&#10;                &lt;/Text&gt;&#10;                &lt;Text style={{ fontSize: 15, color: '#8B97A8' }}&gt;10 项能力全部接入同一入口&lt;/Text&gt;&#10;            &lt;/Box&gt;&#10;            &lt;Box style={{ height: 176, background: '#F7F9FC', borderRadius: 10, border: '1px solid #D6DCE5', borderLeft: '5px solid #1E4FA8', padding: '14px 18px', justifyContent: 'space-between' }}&gt;&#10;                &lt;Text style={{ fontSize: 21, fontWeight: 'bold', color: '#1A2230' }}&gt;结果以卡片回写会话&lt;/Text&gt;&#10;                &lt;Text style={{ fontSize: 17, color: '#4A5568', lineHeight: 1.55 }}&gt;&#10;                    卡片协议是前后端唯一契约；耗时能力先回「进行中」卡，后台跑完就地改写那条消息，重新打开看到的是最终状态而不是转圈。&#10;                &lt;/Text&gt;&#10;                &lt;Text style={{ fontSize: 15, color: '#8B97A8' }}&gt;同步与异步共用同一段执行逻辑&lt;/Text&gt;&#10;            &lt;/Box&gt;&#10;            &lt;Box style={{ height: 176, background: '#F7F9FC', borderRadius: 10, border: '1px solid #D6DCE5', borderLeft: '5px solid #1E4FA8', padding: '14px 18px', justifyContent: 'space-between' }}&gt;&#10;                &lt;Text style={{ fontSize: 21, fontWeight: 'bold', color: '#1A2230' }}&gt;落库即参与全链路&lt;/Text&gt;&#10;                &lt;Text style={{ fontSize: 17, color: '#4A5568', lineHeight: 1.55 }}&gt;&#10;                    条目写入后立刻可被检索、可参与 L2 扫描、可进简报与诊断——不需要额外的同步动作，这是「录入即资产」。&#10;                &lt;/Text&gt;&#10;                &lt;Text style={{ fontSize: 15, color: '#8B97A8' }}&gt;与手写笔记、微信读书划线同等对待&lt;/Text&gt;&#10;            &lt;/Box&gt;&#10;        &lt;/Box&gt;&#10;    &lt;/Box&gt;&#10;    &lt;Box style={{ flexDirection: 'row', justifyContent: 'space-between', alignItems: 'center', padding: '10px 40px 14px 40px' }}&gt;&#10;        &lt;Text style={{ fontSize: 14, color: '#8B97A8' }}&gt;认知副驾 · Cognitive Copilot&lt;/Text&gt;&#10;        &lt;Text style={{ fontSize: 14, color: '#1E4FA8' }}&gt;21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4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35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演示实录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①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对话录入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9725025" y="419100"/>
            <a:ext cx="2085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系统真实运行界面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未作修饰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381000" y="714375"/>
            <a:ext cx="5524500" cy="439102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88" name=""/>
          <p:cNvPicPr>
            <a:picLocks noChangeAspect="1"/>
          </p:cNvPicPr>
          <p:nvPr/>
        </p:nvPicPr>
        <p:blipFill>
          <a:blip r:embed="rId1"/>
          <a:srcRect l="15" t="0" r="15" b="0"/>
          <a:stretch>
            <a:fillRect/>
          </a:stretch>
        </p:blipFill>
        <p:spPr>
          <a:xfrm rot="0" flipH="0" flipV="0">
            <a:off x="381000" y="714375"/>
            <a:ext cx="5524500" cy="4391025"/>
          </a:xfrm>
          <a:prstGeom prst="roundRect">
            <a:avLst>
              <a:gd name="adj" fmla="val 1735"/>
            </a:avLst>
          </a:prstGeom>
          <a:ln/>
        </p:spPr>
      </p:pic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381000" y="5200650"/>
            <a:ext cx="5524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输入框里只有一句话，系统返回的是一张可追溯的知识卡，而不是一段聊天回复。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181725" y="714375"/>
            <a:ext cx="5676900" cy="1676400"/>
          </a:xfrm>
          <a:prstGeom prst="roundRect">
            <a:avLst>
              <a:gd name="adj" fmla="val 568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6181725" y="714375"/>
            <a:ext cx="5676900" cy="1676400"/>
          </a:xfrm>
          <a:custGeom>
            <a:pathLst>
              <a:path w="596" h="17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71"/>
                </a:lnTo>
                <a:cubicBezTo>
                  <a:pt x="5" y="173"/>
                  <a:pt x="7" y="175"/>
                  <a:pt x="9" y="176"/>
                </a:cubicBezTo>
                <a:cubicBezTo>
                  <a:pt x="4" y="175"/>
                  <a:pt x="0" y="171"/>
                  <a:pt x="0" y="16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353175" y="847725"/>
            <a:ext cx="52863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一句话即入口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353175" y="1285875"/>
            <a:ext cx="5286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命令式说法（「记一下…」「同步微信读书」）走本地确定性规则、零模型调用，只有判不出来时才问模型——因为它每一轮都要跑。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6353175" y="2085975"/>
            <a:ext cx="5286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10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项能力全部接入同一入口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6181725" y="2752725"/>
            <a:ext cx="5676900" cy="1676400"/>
          </a:xfrm>
          <a:prstGeom prst="roundRect">
            <a:avLst>
              <a:gd name="adj" fmla="val 568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96" name=""/>
          <p:cNvSpPr/>
          <p:nvPr/>
        </p:nvSpPr>
        <p:spPr>
          <a:xfrm rot="0" flipH="0" flipV="0">
            <a:off x="6181725" y="2752725"/>
            <a:ext cx="5676900" cy="1676400"/>
          </a:xfrm>
          <a:custGeom>
            <a:pathLst>
              <a:path w="596" h="17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71"/>
                </a:lnTo>
                <a:cubicBezTo>
                  <a:pt x="5" y="173"/>
                  <a:pt x="7" y="175"/>
                  <a:pt x="9" y="176"/>
                </a:cubicBezTo>
                <a:cubicBezTo>
                  <a:pt x="4" y="175"/>
                  <a:pt x="0" y="171"/>
                  <a:pt x="0" y="16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6353175" y="2886075"/>
            <a:ext cx="52863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结果以卡片回写会话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353175" y="3324225"/>
            <a:ext cx="5286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卡片协议是前后端唯一契约；耗时能力先回「进行中」卡，后台跑完就地改写那条消息，重新打开看到的是最终状态而不是转圈。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353175" y="4124325"/>
            <a:ext cx="5286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同步与异步共用同一段执行逻辑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6181725" y="4791075"/>
            <a:ext cx="5676900" cy="1676400"/>
          </a:xfrm>
          <a:prstGeom prst="roundRect">
            <a:avLst>
              <a:gd name="adj" fmla="val 568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01" name=""/>
          <p:cNvSpPr/>
          <p:nvPr/>
        </p:nvSpPr>
        <p:spPr>
          <a:xfrm rot="0" flipH="0" flipV="0">
            <a:off x="6181725" y="4791075"/>
            <a:ext cx="5676900" cy="1676400"/>
          </a:xfrm>
          <a:custGeom>
            <a:pathLst>
              <a:path w="596" h="17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71"/>
                </a:lnTo>
                <a:cubicBezTo>
                  <a:pt x="5" y="173"/>
                  <a:pt x="7" y="175"/>
                  <a:pt x="9" y="176"/>
                </a:cubicBezTo>
                <a:cubicBezTo>
                  <a:pt x="4" y="175"/>
                  <a:pt x="0" y="171"/>
                  <a:pt x="0" y="16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353175" y="4924425"/>
            <a:ext cx="52863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落库即参与全链路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6353175" y="5362575"/>
            <a:ext cx="5286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条目写入后立刻可被检索、可参与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L2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扫描、可进简报与诊断——不需要额外的同步动作，这是「录入即资产」。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353175" y="6162675"/>
            <a:ext cx="5286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与手写笔记、微信读书划线同等对待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381000" y="656272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11353800" y="6562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21 / 27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07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16px 40px 8px 40px' }}&gt;&#10;        &lt;Text style={{ fontSize: 34, fontWeight: 'bold', color: '#0E3F8C' }}&gt;演示实录 ② · 模糊找回（L1）&lt;/Text&gt;&#10;        &lt;Text style={{ fontSize: 17, color: '#8B97A8' }}&gt;系统真实运行界面 · 未作修饰&lt;/Text&gt;&#10;    &lt;/Box&gt;&#10;    &lt;Box style={{ flex: 1, flexDirection: 'column', gap: 12, padding: '2px 40px 0 40px' }}&gt;&#10;        &lt;Box style={{ flexDirection: 'row', gap: 20, justifyContent: 'center' }}&gt;&#10;            &lt;Image src=&quot;assets/demo2_l1a.png&quot; style={{ width: 545, height: 350, objectFit: 'contain', borderRadius: 8, border: '1px solid #D6DCE5' }} /&gt;&#10;            &lt;Image src=&quot;assets/demo2_l1b.png&quot; style={{ width: 413, height: 350, objectFit: 'contain', borderRadius: 8, border: '1px solid #D6DCE5' }} /&gt;&#10;        &lt;/Box&gt;&#10;        &lt;Box style={{ padding: '14px 20px', background: '#F0F5FC', borderRadius: 8, borderLeft: '5px solid #1E4FA8' }}&gt;&#10;            &lt;Text style={{ fontSize: 18, color: '#1A2230', lineHeight: 1.6 }}&gt;&#10;                &lt;span style={{ fontWeight: 'bold', color: '#0E3F8C' }}&gt;这一步在做什么：&lt;/span&gt;人往往记不住自己收藏了什么——只记得「讲拖延的、橙色封面」。L1 的解法不是猜，而是&lt;span style={{ fontWeight: 'bold' }}&gt;用追问把线索收敛&lt;/span&gt;：线索不足时由系统主动发问，把候选范围层层缩小到具体条目，并给出定位依据。&#10;            &lt;/Text&gt;&#10;        &lt;/Box&gt;&#10;        &lt;Box style={{ flexDirection: 'row', gap: 14 }}&gt;&#10;            &lt;Box style={{ flex: 1, height: 132, background: '#F7F9FC', borderRadius: 10, border: '1px solid #D6DCE5', borderTop: '4px solid #1E4FA8', padding: '14px 18px', justifyContent: 'space-between' }}&gt;&#10;                &lt;Text style={{ fontSize: 20, fontWeight: 'bold', color: '#1A2230' }}&gt;不猜，靠追问&lt;/Text&gt;&#10;                &lt;Text style={{ fontSize: 16, color: '#4A5568', lineHeight: 1.55 }}&gt;给出的是可验证的候选与依据，而不是一个看起来像答案的猜测。&lt;/Text&gt;&#10;            &lt;/Box&gt;&#10;            &lt;Box style={{ flex: 1, height: 132, background: '#F7F9FC', borderRadius: 10, border: '1px solid #D6DCE5', borderTop: '4px solid #1E4FA8', padding: '14px 18px', justifyContent: 'space-between' }}&gt;&#10;                &lt;Text style={{ fontSize: 20, fontWeight: 'bold', color: '#1A2230' }}&gt;检索侧在背后支撑&lt;/Text&gt;&#10;                &lt;Text style={{ fontSize: 16, color: '#4A5568', lineHeight: 1.55 }}&gt;向量＋关键词双通道召回，RRF 融合；评估护栏 recall@5 ≥ 0.95。&lt;/Text&gt;&#10;            &lt;/Box&gt;&#10;            &lt;Box style={{ flex: 1, height: 132, background: '#F7F9FC', borderRadius: 10, border: '1px solid #D6DCE5', borderTop: '4px solid #1E4FA8', padding: '14px 18px', justifyContent: 'space-between' }}&gt;&#10;                &lt;Text style={{ fontSize: 20, fontWeight: 'bold', color: '#1A2230' }}&gt;定位后可回原文&lt;/Text&gt;&#10;                &lt;Text style={{ fontSize: 16, color: '#4A5568', lineHeight: 1.55 }}&gt;找回的不只是一个标题，而是可以跳到原文、看到当时的划词与想法。&lt;/Text&gt;&#10;            &lt;/Box&gt;&#10;        &lt;/Box&gt;&#10;    &lt;/Box&gt;&#10;    &lt;Box style={{ flexDirection: 'row', justifyContent: 'space-between', alignItems: 'center', padding: '10px 40px 14px 40px' }}&gt;&#10;        &lt;Text style={{ fontSize: 14, color: '#8B97A8' }}&gt;认知副驾 · Cognitive Copilot&lt;/Text&gt;&#10;        &lt;Text style={{ fontSize: 14, color: '#1E4FA8' }}&gt;22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4371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演示实录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②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模糊找回（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L1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9725025" y="419100"/>
            <a:ext cx="2085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系统真实运行界面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未作修饰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1438275" y="714375"/>
            <a:ext cx="5191125" cy="33337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413" name=""/>
          <p:cNvPicPr>
            <a:picLocks noChangeAspect="1"/>
          </p:cNvPicPr>
          <p:nvPr/>
        </p:nvPicPr>
        <p:blipFill>
          <a:blip r:embed="rId1"/>
          <a:srcRect l="10" t="0" r="10" b="0"/>
          <a:stretch>
            <a:fillRect/>
          </a:stretch>
        </p:blipFill>
        <p:spPr>
          <a:xfrm rot="0" flipH="0" flipV="0">
            <a:off x="1438275" y="714375"/>
            <a:ext cx="5191125" cy="3333750"/>
          </a:xfrm>
          <a:prstGeom prst="roundRect">
            <a:avLst>
              <a:gd name="adj" fmla="val 2286"/>
            </a:avLst>
          </a:prstGeom>
          <a:ln/>
        </p:spPr>
      </p:pic>
      <p:sp>
        <p:nvSpPr>
          <p:cNvPr id="414" name=""/>
          <p:cNvSpPr/>
          <p:nvPr/>
        </p:nvSpPr>
        <p:spPr>
          <a:xfrm rot="0" flipH="0" flipV="0">
            <a:off x="6819900" y="714375"/>
            <a:ext cx="3933825" cy="33337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415" name=""/>
          <p:cNvPicPr>
            <a:picLocks noChangeAspect="1"/>
          </p:cNvPicPr>
          <p:nvPr/>
        </p:nvPicPr>
        <p:blipFill>
          <a:blip r:embed="rId2"/>
          <a:srcRect l="38" t="0" r="38" b="0"/>
          <a:stretch>
            <a:fillRect/>
          </a:stretch>
        </p:blipFill>
        <p:spPr>
          <a:xfrm rot="0" flipH="0" flipV="0">
            <a:off x="6819900" y="714375"/>
            <a:ext cx="3933825" cy="3333750"/>
          </a:xfrm>
          <a:prstGeom prst="roundRect">
            <a:avLst>
              <a:gd name="adj" fmla="val 2286"/>
            </a:avLst>
          </a:prstGeom>
          <a:ln/>
        </p:spPr>
      </p:pic>
      <p:sp>
        <p:nvSpPr>
          <p:cNvPr id="416" name=""/>
          <p:cNvSpPr/>
          <p:nvPr/>
        </p:nvSpPr>
        <p:spPr>
          <a:xfrm rot="0" flipH="0" flipV="0">
            <a:off x="428625" y="4162425"/>
            <a:ext cx="11430000" cy="933450"/>
          </a:xfrm>
          <a:prstGeom prst="roundRect">
            <a:avLst>
              <a:gd name="adj" fmla="val 816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17" name=""/>
          <p:cNvSpPr/>
          <p:nvPr/>
        </p:nvSpPr>
        <p:spPr>
          <a:xfrm rot="0" flipH="0" flipV="0">
            <a:off x="428625" y="4162425"/>
            <a:ext cx="11430000" cy="933450"/>
          </a:xfrm>
          <a:custGeom>
            <a:pathLst>
              <a:path w="1200" h="9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95"/>
                </a:lnTo>
                <a:cubicBezTo>
                  <a:pt x="5" y="97"/>
                  <a:pt x="6" y="98"/>
                  <a:pt x="8" y="98"/>
                </a:cubicBezTo>
                <a:cubicBezTo>
                  <a:pt x="3" y="98"/>
                  <a:pt x="0" y="94"/>
                  <a:pt x="0" y="9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619125" y="4295775"/>
            <a:ext cx="110013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这一步在做什么：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人往往记不住自己收藏了什么——只记得「讲拖延的、橙色封面」。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L1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的解法不是猜，而是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用追问把线索收敛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：线索不足时由系统主动发问，把候选范围层层缩小到具体条目，并给出定位依据。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381000" y="5248275"/>
            <a:ext cx="3724275" cy="1219200"/>
          </a:xfrm>
          <a:prstGeom prst="roundRect">
            <a:avLst>
              <a:gd name="adj" fmla="val 781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20" name=""/>
          <p:cNvSpPr/>
          <p:nvPr/>
        </p:nvSpPr>
        <p:spPr>
          <a:xfrm rot="0" flipH="0" flipV="0">
            <a:off x="381000" y="5248275"/>
            <a:ext cx="3724275" cy="1219200"/>
          </a:xfrm>
          <a:custGeom>
            <a:pathLst>
              <a:path w="391" h="128">
                <a:moveTo>
                  <a:pt x="381" y="0"/>
                </a:moveTo>
                <a:cubicBezTo>
                  <a:pt x="386" y="0"/>
                  <a:pt x="390" y="4"/>
                  <a:pt x="391" y="8"/>
                </a:cubicBezTo>
                <a:cubicBezTo>
                  <a:pt x="390" y="6"/>
                  <a:pt x="388" y="4"/>
                  <a:pt x="385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81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552450" y="5381625"/>
            <a:ext cx="3381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不猜，靠追问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52450" y="5762625"/>
            <a:ext cx="33813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给出的是可验证的候选与依据，而不是一个看起来像答案的猜测。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4238625" y="5248275"/>
            <a:ext cx="3714750" cy="1219200"/>
          </a:xfrm>
          <a:prstGeom prst="roundRect">
            <a:avLst>
              <a:gd name="adj" fmla="val 781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4238625" y="5248275"/>
            <a:ext cx="3714750" cy="1219200"/>
          </a:xfrm>
          <a:custGeom>
            <a:pathLst>
              <a:path w="390" h="128">
                <a:moveTo>
                  <a:pt x="380" y="0"/>
                </a:moveTo>
                <a:cubicBezTo>
                  <a:pt x="385" y="0"/>
                  <a:pt x="389" y="4"/>
                  <a:pt x="390" y="8"/>
                </a:cubicBezTo>
                <a:cubicBezTo>
                  <a:pt x="389" y="6"/>
                  <a:pt x="387" y="4"/>
                  <a:pt x="384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80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4410075" y="5381625"/>
            <a:ext cx="3371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检索侧在背后支撑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4410075" y="5762625"/>
            <a:ext cx="3371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向量＋关键词双通道召回，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RRF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融合；评估护栏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recall@5 ≥ 0.95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8086725" y="5248275"/>
            <a:ext cx="3724275" cy="1219200"/>
          </a:xfrm>
          <a:prstGeom prst="roundRect">
            <a:avLst>
              <a:gd name="adj" fmla="val 781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28" name=""/>
          <p:cNvSpPr/>
          <p:nvPr/>
        </p:nvSpPr>
        <p:spPr>
          <a:xfrm rot="0" flipH="0" flipV="0">
            <a:off x="8086725" y="5248275"/>
            <a:ext cx="3724275" cy="1219200"/>
          </a:xfrm>
          <a:custGeom>
            <a:pathLst>
              <a:path w="391" h="128">
                <a:moveTo>
                  <a:pt x="381" y="0"/>
                </a:moveTo>
                <a:cubicBezTo>
                  <a:pt x="386" y="0"/>
                  <a:pt x="390" y="4"/>
                  <a:pt x="391" y="8"/>
                </a:cubicBezTo>
                <a:cubicBezTo>
                  <a:pt x="390" y="6"/>
                  <a:pt x="388" y="4"/>
                  <a:pt x="385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81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8258175" y="5381625"/>
            <a:ext cx="3381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定位后可回原文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8258175" y="5762625"/>
            <a:ext cx="33813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找回的不只是一个标题，而是可以跳到原文、看到当时的划词与想法。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381000" y="656272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11353800" y="6562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22 / 27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33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16px 40px 8px 40px' }}&gt;&#10;        &lt;Text style={{ fontSize: 34, fontWeight: 'bold', color: '#0E3F8C' }}&gt;演示实录 ③ · 冲突检测（L2）&lt;/Text&gt;&#10;        &lt;Text style={{ fontSize: 17, color: '#8B97A8' }}&gt;系统真实运行界面 · 未作修饰&lt;/Text&gt;&#10;    &lt;/Box&gt;&#10;    &lt;Box style={{ flex: 1, flexDirection: 'column', gap: 12, padding: '2px 40px 0 40px' }}&gt;&#10;        &lt;Box style={{ justifyContent: 'center', alignItems: 'center' }}&gt;&#10;            &lt;Image src=&quot;assets/demo3_l2.png&quot; style={{ width: 760, height: 330, objectFit: 'contain', borderRadius: 8, border: '1px solid #D6DCE5' }} /&gt;&#10;        &lt;/Box&gt;&#10;        &lt;Box style={{ padding: '14px 20px', background: '#F0F5FC', borderRadius: 8, borderLeft: '5px solid #1E4FA8' }}&gt;&#10;            &lt;Text style={{ fontSize: 18, color: '#1A2230', lineHeight: 1.6 }}&gt;&#10;                &lt;span style={{ fontWeight: 'bold', color: '#0E3F8C' }}&gt;这一步在做什么：&lt;/span&gt;这是最不可能被笔记软件替代的一层。它不做「帮你整理」，而是&lt;span style={{ fontWeight: 'bold' }}&gt;指出你自相矛盾&lt;/span&gt;——把两条主题相近、立场相反的主张摆在一起，给出关系类型、判定依据与置信度。&#10;            &lt;/Text&gt;&#10;        &lt;/Box&gt;&#10;        &lt;Box style={{ flexDirection: 'row', gap: 14 }}&gt;&#10;            &lt;Box style={{ flex: 1, height: 124, background: '#F7F9FC', borderRadius: 10, border: '1px solid #D6DCE5', borderTop: '4px solid #1E4FA8', padding: '14px 18px', justifyContent: 'space-between' }}&gt;&#10;                &lt;Text style={{ fontSize: 20, fontWeight: 'bold', color: '#1A2230' }}&gt;给依据，不给结论&lt;/Text&gt;&#10;                &lt;Text style={{ fontSize: 16, color: '#4A5568', lineHeight: 1.55 }}&gt;双方主张、关系类型、置信度全部列出，判定过程可以被人复核与推翻。&lt;/Text&gt;&#10;            &lt;/Box&gt;&#10;            &lt;Box style={{ flex: 1, height: 124, background: '#F7F9FC', borderRadius: 10, border: '1px solid #D6DCE5', borderTop: '4px solid #1E4FA8', padding: '14px 18px', justifyContent: 'space-between' }}&gt;&#10;                &lt;Text style={{ fontSize: 20, fontWeight: 'bold', color: '#1A2230' }}&gt;阈值可追溯&lt;/Text&gt;&#10;                &lt;Text style={{ fontSize: 16, color: '#4A5568', lineHeight: 1.55 }}&gt;候选对的 0.35~0.95 距离带来自实测分布，参数放配置、可随数据校准。&lt;/Text&gt;&#10;            &lt;/Box&gt;&#10;            &lt;Box style={{ flex: 1, height: 124, background: '#F7F9FC', borderRadius: 10, border: '1px solid #D6DCE5', borderTop: '4px solid #1E4FA8', padding: '14px 18px', justifyContent: 'space-between' }}&gt;&#10;                &lt;Text style={{ fontSize: 20, fontWeight: 'bold', color: '#1A2230' }}&gt;结果进入推理链路&lt;/Text&gt;&#10;                &lt;Text style={{ fontSize: 16, color: '#4A5568', lineHeight: 1.55 }}&gt;冲突双方主张会注入简报、诊断与计划讨论——不是躺着的台账。&lt;/Text&gt;&#10;            &lt;/Box&gt;&#10;        &lt;/Box&gt;&#10;    &lt;/Box&gt;&#10;    &lt;Box style={{ flexDirection: 'row', justifyContent: 'space-between', alignItems: 'center', padding: '10px 40px 14px 40px' }}&gt;&#10;        &lt;Text style={{ fontSize: 14, color: '#8B97A8' }}&gt;认知副驾 · Cognitive Copilot&lt;/Text&gt;&#10;        &lt;Text style={{ fontSize: 14, color: '#1E4FA8' }}&gt;23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4371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演示实录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③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冲突检测（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L2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9725025" y="419100"/>
            <a:ext cx="2085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系统真实运行界面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未作修饰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2476500" y="714375"/>
            <a:ext cx="7239000" cy="31432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439" name=""/>
          <p:cNvPicPr>
            <a:picLocks noChangeAspect="1"/>
          </p:cNvPicPr>
          <p:nvPr/>
        </p:nvPicPr>
        <p:blipFill>
          <a:blip r:embed="rId1"/>
          <a:srcRect l="0" t="3548" r="0" b="3548"/>
          <a:stretch>
            <a:fillRect/>
          </a:stretch>
        </p:blipFill>
        <p:spPr>
          <a:xfrm rot="0" flipH="0" flipV="0">
            <a:off x="2476500" y="714375"/>
            <a:ext cx="7239000" cy="3143250"/>
          </a:xfrm>
          <a:prstGeom prst="roundRect">
            <a:avLst>
              <a:gd name="adj" fmla="val 2424"/>
            </a:avLst>
          </a:prstGeom>
          <a:ln/>
        </p:spPr>
      </p:pic>
      <p:sp>
        <p:nvSpPr>
          <p:cNvPr id="440" name=""/>
          <p:cNvSpPr/>
          <p:nvPr/>
        </p:nvSpPr>
        <p:spPr>
          <a:xfrm rot="0" flipH="0" flipV="0">
            <a:off x="428625" y="3971925"/>
            <a:ext cx="11430000" cy="933450"/>
          </a:xfrm>
          <a:prstGeom prst="roundRect">
            <a:avLst>
              <a:gd name="adj" fmla="val 816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41" name=""/>
          <p:cNvSpPr/>
          <p:nvPr/>
        </p:nvSpPr>
        <p:spPr>
          <a:xfrm rot="0" flipH="0" flipV="0">
            <a:off x="428625" y="3971925"/>
            <a:ext cx="11430000" cy="933450"/>
          </a:xfrm>
          <a:custGeom>
            <a:pathLst>
              <a:path w="1200" h="9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95"/>
                </a:lnTo>
                <a:cubicBezTo>
                  <a:pt x="5" y="97"/>
                  <a:pt x="6" y="98"/>
                  <a:pt x="8" y="98"/>
                </a:cubicBezTo>
                <a:cubicBezTo>
                  <a:pt x="3" y="98"/>
                  <a:pt x="0" y="94"/>
                  <a:pt x="0" y="9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619125" y="4105275"/>
            <a:ext cx="110013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这一步在做什么：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这是最不可能被笔记软件替代的一层。它不做「帮你整理」，而是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指出你自相矛盾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——把两条主题相近、立场相反的主张摆在一起，给出关系类型、判定依据与置信度。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381000" y="5057775"/>
            <a:ext cx="3724275" cy="11430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44" name=""/>
          <p:cNvSpPr/>
          <p:nvPr/>
        </p:nvSpPr>
        <p:spPr>
          <a:xfrm rot="0" flipH="0" flipV="0">
            <a:off x="381000" y="5057775"/>
            <a:ext cx="3724275" cy="1143000"/>
          </a:xfrm>
          <a:custGeom>
            <a:pathLst>
              <a:path w="391" h="120">
                <a:moveTo>
                  <a:pt x="381" y="0"/>
                </a:moveTo>
                <a:cubicBezTo>
                  <a:pt x="386" y="0"/>
                  <a:pt x="390" y="4"/>
                  <a:pt x="391" y="8"/>
                </a:cubicBezTo>
                <a:cubicBezTo>
                  <a:pt x="390" y="6"/>
                  <a:pt x="388" y="4"/>
                  <a:pt x="385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81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552450" y="5191125"/>
            <a:ext cx="3381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给依据，不给结论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552450" y="5495925"/>
            <a:ext cx="33813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双方主张、关系类型、置信度全部列出，判定过程可以被人复核与推翻。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4238625" y="5057775"/>
            <a:ext cx="3714750" cy="11430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48" name=""/>
          <p:cNvSpPr/>
          <p:nvPr/>
        </p:nvSpPr>
        <p:spPr>
          <a:xfrm rot="0" flipH="0" flipV="0">
            <a:off x="4238625" y="5057775"/>
            <a:ext cx="3714750" cy="1143000"/>
          </a:xfrm>
          <a:custGeom>
            <a:pathLst>
              <a:path w="390" h="120">
                <a:moveTo>
                  <a:pt x="380" y="0"/>
                </a:moveTo>
                <a:cubicBezTo>
                  <a:pt x="385" y="0"/>
                  <a:pt x="389" y="4"/>
                  <a:pt x="390" y="8"/>
                </a:cubicBezTo>
                <a:cubicBezTo>
                  <a:pt x="389" y="6"/>
                  <a:pt x="387" y="4"/>
                  <a:pt x="384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80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4410075" y="5191125"/>
            <a:ext cx="3371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阈值可追溯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4410075" y="5495925"/>
            <a:ext cx="3371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候选对的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0.35~0.95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距离带来自实测分布，参数放配置、可随数据校准。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8086725" y="5057775"/>
            <a:ext cx="3724275" cy="11430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52" name=""/>
          <p:cNvSpPr/>
          <p:nvPr/>
        </p:nvSpPr>
        <p:spPr>
          <a:xfrm rot="0" flipH="0" flipV="0">
            <a:off x="8086725" y="5057775"/>
            <a:ext cx="3724275" cy="1143000"/>
          </a:xfrm>
          <a:custGeom>
            <a:pathLst>
              <a:path w="391" h="120">
                <a:moveTo>
                  <a:pt x="381" y="0"/>
                </a:moveTo>
                <a:cubicBezTo>
                  <a:pt x="386" y="0"/>
                  <a:pt x="390" y="4"/>
                  <a:pt x="391" y="8"/>
                </a:cubicBezTo>
                <a:cubicBezTo>
                  <a:pt x="390" y="6"/>
                  <a:pt x="388" y="4"/>
                  <a:pt x="385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81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258175" y="5191125"/>
            <a:ext cx="3381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结果进入推理链路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8258175" y="5495925"/>
            <a:ext cx="33813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冲突双方主张会注入简报、诊断与计划讨论——不是躺着的台账。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381000" y="656272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1353800" y="6562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23 / 27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57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16px 40px 8px 40px' }}&gt;&#10;        &lt;Text style={{ fontSize: 34, fontWeight: 'bold', color: '#0E3F8C' }}&gt;演示实录 ④ · 认知助产（L3）&lt;/Text&gt;&#10;        &lt;Text style={{ fontSize: 17, color: '#8B97A8' }}&gt;系统真实运行界面 · 未作修饰&lt;/Text&gt;&#10;    &lt;/Box&gt;&#10;    &lt;Box style={{ flex: 1, flexDirection: 'column', gap: 12, padding: '2px 40px 0 40px' }}&gt;&#10;        &lt;Box style={{ flexDirection: 'row', gap: 20, justifyContent: 'center' }}&gt;&#10;            &lt;Image src=&quot;assets/demo4_l3a.png&quot; style={{ width: 386, height: 350, objectFit: 'contain', borderRadius: 8, border: '1px solid #D6DCE5' }} /&gt;&#10;            &lt;Image src=&quot;assets/demo4_l3b.png&quot; style={{ width: 474, height: 350, objectFit: 'contain', borderRadius: 8, border: '1px solid #D6DCE5' }} /&gt;&#10;        &lt;/Box&gt;&#10;        &lt;Box style={{ padding: '14px 20px', background: '#F0F5FC', borderRadius: 8, borderLeft: '5px solid #1E4FA8' }}&gt;&#10;            &lt;Text style={{ fontSize: 18, color: '#1A2230', lineHeight: 1.6 }}&gt;&#10;                &lt;span style={{ fontWeight: 'bold', color: '#0E3F8C' }}&gt;这一步在做什么：&lt;/span&gt;这一层不回答「你想知道什么」，而是提出&lt;span style={{ fontWeight: 'bold' }}&gt;你该问但没问的问题&lt;/span&gt;——先算出结构信号（重复录入、层级失衡、冲突率接近零），再把每条追问写成「为什么问 + 数据依据 + 可以做什么」，人是拿着它去行动，不是听一句空泛建议。&#10;            &lt;/Text&gt;&#10;        &lt;/Box&gt;&#10;        &lt;Box style={{ flexDirection: 'row', gap: 14 }}&gt;&#10;            &lt;Box style={{ flex: 1, height: 124, background: '#F7F9FC', borderRadius: 10, border: '1px solid #D6DCE5', borderTop: '4px solid #1E4FA8', padding: '14px 18px', justifyContent: 'space-between' }}&gt;&#10;                &lt;Text style={{ fontSize: 20, fontWeight: 'bold', color: '#1A2230' }}&gt;结构信号先本地算&lt;/Text&gt;&#10;                &lt;Text style={{ fontSize: 16, color: '#4A5568', lineHeight: 1.55 }}&gt;主题分布、重复片段、层级失衡与冲突率是本地统计，不消耗模型调用。&lt;/Text&gt;&#10;            &lt;/Box&gt;&#10;            &lt;Box style={{ flex: 1, height: 124, background: '#F7F9FC', borderRadius: 10, border: '1px solid #D6DCE5', borderTop: '4px solid #1E4FA8', padding: '14px 18px', justifyContent: 'space-between' }}&gt;&#10;                &lt;Text style={{ fontSize: 20, fontWeight: 'bold', color: '#1A2230' }}&gt;追问必须带依据&lt;/Text&gt;&#10;                &lt;Text style={{ fontSize: 16, color: '#4A5568', lineHeight: 1.55 }}&gt;每条追问都附数据与出处，可核查——避免「听起来很有道理」的空话。&lt;/Text&gt;&#10;            &lt;/Box&gt;&#10;            &lt;Box style={{ flex: 1, height: 124, background: '#F7F9FC', borderRadius: 10, border: '1px solid #D6DCE5', borderTop: '4px solid #1E4FA8', padding: '14px 18px', justifyContent: 'space-between' }}&gt;&#10;                &lt;Text style={{ fontSize: 20, fontWeight: 'bold', color: '#1A2230' }}&gt;与 L2 联动&lt;/Text&gt;&#10;                &lt;Text style={{ fontSize: 16, color: '#4A5568', lineHeight: 1.55 }}&gt;冲突率接近零本身就是信号——说明你在回避让你不适的材料。&lt;/Text&gt;&#10;            &lt;/Box&gt;&#10;        &lt;/Box&gt;&#10;    &lt;/Box&gt;&#10;    &lt;Box style={{ flexDirection: 'row', justifyContent: 'space-between', alignItems: 'center', padding: '10px 40px 14px 40px' }}&gt;&#10;        &lt;Text style={{ fontSize: 14, color: '#8B97A8' }}&gt;认知副驾 · Cognitive Copilot&lt;/Text&gt;&#10;        &lt;Text style={{ fontSize: 14, color: '#1E4FA8' }}&gt;24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9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4371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演示实录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④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认知助产（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L3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9725025" y="419100"/>
            <a:ext cx="2085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系统真实运行界面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未作修饰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1905000" y="714375"/>
            <a:ext cx="3676650" cy="33337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463" name=""/>
          <p:cNvPicPr>
            <a:picLocks noChangeAspect="1"/>
          </p:cNvPicPr>
          <p:nvPr/>
        </p:nvPicPr>
        <p:blipFill>
          <a:blip r:embed="rId1"/>
          <a:srcRect l="16" t="0" r="16" b="0"/>
          <a:stretch>
            <a:fillRect/>
          </a:stretch>
        </p:blipFill>
        <p:spPr>
          <a:xfrm rot="0" flipH="0" flipV="0">
            <a:off x="1905000" y="714375"/>
            <a:ext cx="3676650" cy="3333750"/>
          </a:xfrm>
          <a:prstGeom prst="roundRect">
            <a:avLst>
              <a:gd name="adj" fmla="val 2286"/>
            </a:avLst>
          </a:prstGeom>
          <a:ln/>
        </p:spPr>
      </p:pic>
      <p:sp>
        <p:nvSpPr>
          <p:cNvPr id="464" name=""/>
          <p:cNvSpPr/>
          <p:nvPr/>
        </p:nvSpPr>
        <p:spPr>
          <a:xfrm rot="0" flipH="0" flipV="0">
            <a:off x="5772150" y="714375"/>
            <a:ext cx="4514850" cy="33337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465" name=""/>
          <p:cNvPicPr>
            <a:picLocks noChangeAspect="1"/>
          </p:cNvPicPr>
          <p:nvPr/>
        </p:nvPicPr>
        <p:blipFill>
          <a:blip r:embed="rId2"/>
          <a:srcRect l="0" t="42" r="0" b="42"/>
          <a:stretch>
            <a:fillRect/>
          </a:stretch>
        </p:blipFill>
        <p:spPr>
          <a:xfrm rot="0" flipH="0" flipV="0">
            <a:off x="5772150" y="714375"/>
            <a:ext cx="4514850" cy="3333750"/>
          </a:xfrm>
          <a:prstGeom prst="roundRect">
            <a:avLst>
              <a:gd name="adj" fmla="val 2286"/>
            </a:avLst>
          </a:prstGeom>
          <a:ln/>
        </p:spPr>
      </p:pic>
      <p:sp>
        <p:nvSpPr>
          <p:cNvPr id="466" name=""/>
          <p:cNvSpPr/>
          <p:nvPr/>
        </p:nvSpPr>
        <p:spPr>
          <a:xfrm rot="0" flipH="0" flipV="0">
            <a:off x="428625" y="4162425"/>
            <a:ext cx="11430000" cy="933450"/>
          </a:xfrm>
          <a:prstGeom prst="roundRect">
            <a:avLst>
              <a:gd name="adj" fmla="val 816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67" name=""/>
          <p:cNvSpPr/>
          <p:nvPr/>
        </p:nvSpPr>
        <p:spPr>
          <a:xfrm rot="0" flipH="0" flipV="0">
            <a:off x="428625" y="4162425"/>
            <a:ext cx="11430000" cy="933450"/>
          </a:xfrm>
          <a:custGeom>
            <a:pathLst>
              <a:path w="1200" h="9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95"/>
                </a:lnTo>
                <a:cubicBezTo>
                  <a:pt x="5" y="97"/>
                  <a:pt x="6" y="98"/>
                  <a:pt x="8" y="98"/>
                </a:cubicBezTo>
                <a:cubicBezTo>
                  <a:pt x="3" y="98"/>
                  <a:pt x="0" y="94"/>
                  <a:pt x="0" y="9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619125" y="4295775"/>
            <a:ext cx="110013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这一步在做什么：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这一层不回答「你想知道什么」，而是提出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你该问但没问的问题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——先算出结构信号（重复录入、层级失衡、冲突率接近零），再把每条追问写成「为什么问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数据依据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可以做什么」，人是拿着它去行动，不是听一句空泛建议。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381000" y="5248275"/>
            <a:ext cx="3724275" cy="11430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70" name=""/>
          <p:cNvSpPr/>
          <p:nvPr/>
        </p:nvSpPr>
        <p:spPr>
          <a:xfrm rot="0" flipH="0" flipV="0">
            <a:off x="381000" y="5248275"/>
            <a:ext cx="3724275" cy="1143000"/>
          </a:xfrm>
          <a:custGeom>
            <a:pathLst>
              <a:path w="391" h="120">
                <a:moveTo>
                  <a:pt x="381" y="0"/>
                </a:moveTo>
                <a:cubicBezTo>
                  <a:pt x="386" y="0"/>
                  <a:pt x="390" y="4"/>
                  <a:pt x="391" y="8"/>
                </a:cubicBezTo>
                <a:cubicBezTo>
                  <a:pt x="390" y="6"/>
                  <a:pt x="388" y="4"/>
                  <a:pt x="385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81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52450" y="5381625"/>
            <a:ext cx="3381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结构信号先本地算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552450" y="5686425"/>
            <a:ext cx="33813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主题分布、重复片段、层级失衡与冲突率是本地统计，不消耗模型调用。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4238625" y="5248275"/>
            <a:ext cx="3714750" cy="11430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74" name=""/>
          <p:cNvSpPr/>
          <p:nvPr/>
        </p:nvSpPr>
        <p:spPr>
          <a:xfrm rot="0" flipH="0" flipV="0">
            <a:off x="4238625" y="5248275"/>
            <a:ext cx="3714750" cy="1143000"/>
          </a:xfrm>
          <a:custGeom>
            <a:pathLst>
              <a:path w="390" h="120">
                <a:moveTo>
                  <a:pt x="380" y="0"/>
                </a:moveTo>
                <a:cubicBezTo>
                  <a:pt x="385" y="0"/>
                  <a:pt x="389" y="4"/>
                  <a:pt x="390" y="8"/>
                </a:cubicBezTo>
                <a:cubicBezTo>
                  <a:pt x="389" y="6"/>
                  <a:pt x="387" y="4"/>
                  <a:pt x="384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80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4410075" y="5381625"/>
            <a:ext cx="3371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追问必须带依据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4410075" y="5686425"/>
            <a:ext cx="3371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每条追问都附数据与出处，可核查——避免「听起来很有道理」的空话。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8086725" y="5248275"/>
            <a:ext cx="3724275" cy="11430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78" name=""/>
          <p:cNvSpPr/>
          <p:nvPr/>
        </p:nvSpPr>
        <p:spPr>
          <a:xfrm rot="0" flipH="0" flipV="0">
            <a:off x="8086725" y="5248275"/>
            <a:ext cx="3724275" cy="1143000"/>
          </a:xfrm>
          <a:custGeom>
            <a:pathLst>
              <a:path w="391" h="120">
                <a:moveTo>
                  <a:pt x="381" y="0"/>
                </a:moveTo>
                <a:cubicBezTo>
                  <a:pt x="386" y="0"/>
                  <a:pt x="390" y="4"/>
                  <a:pt x="391" y="8"/>
                </a:cubicBezTo>
                <a:cubicBezTo>
                  <a:pt x="390" y="6"/>
                  <a:pt x="388" y="4"/>
                  <a:pt x="385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81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258175" y="5381625"/>
            <a:ext cx="3381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 L2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联动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8258175" y="5686425"/>
            <a:ext cx="33813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冲突率接近零本身就是信号——说明你在回避让你不适的材料。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381000" y="656272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11353800" y="6562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24 / 27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83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16px 40px 8px 40px' }}&gt;&#10;        &lt;Text style={{ fontSize: 34, fontWeight: 'bold', color: '#0E3F8C' }}&gt;演示实录 ⑤ · 计划修正（L4）&lt;/Text&gt;&#10;        &lt;Text style={{ fontSize: 17, color: '#8B97A8' }}&gt;系统真实运行界面 · 未作修饰&lt;/Text&gt;&#10;    &lt;/Box&gt;&#10;    &lt;Box style={{ flex: 1, flexDirection: 'column', gap: 12, padding: '2px 40px 0 40px' }}&gt;&#10;        &lt;Box style={{ flexDirection: 'row', gap: 20, justifyContent: 'center' }}&gt;&#10;            &lt;Image src=&quot;assets/demo5_l4a.png&quot; style={{ width: 354, height: 350, objectFit: 'contain', borderRadius: 8, border: '1px solid #D6DCE5' }} /&gt;&#10;            &lt;Image src=&quot;assets/demo5_l4b.png&quot; style={{ width: 710, height: 350, objectFit: 'contain', borderRadius: 8, border: '1px solid #D6DCE5' }} /&gt;&#10;        &lt;/Box&gt;&#10;        &lt;Box style={{ padding: '14px 20px', background: '#F0F5FC', borderRadius: 8, borderLeft: '5px solid #1E4FA8' }}&gt;&#10;            &lt;Text style={{ fontSize: 18, color: '#1A2230', lineHeight: 1.6 }}&gt;&#10;                &lt;span style={{ fontWeight: 'bold', color: '#0E3F8C' }}&gt;这一步在做什么：&lt;/span&gt;把学习目标拆成周计划之后，真正的难点是&lt;span style={{ fontWeight: 'bold' }}&gt;计划赶不上变化&lt;/span&gt;。偏离信号全部本地计算：连续无学习行为、窗口内新增内容突增、目标临期未推进——触发后由系统重排任务并给出下一步动作，而不是等人自己想「我是不是该调整了」。&#10;            &lt;/Text&gt;&#10;        &lt;/Box&gt;&#10;        &lt;Box style={{ flexDirection: 'row', gap: 14 }}&gt;&#10;            &lt;Box style={{ flex: 1, height: 124, background: '#F7F9FC', borderRadius: 10, border: '1px solid #D6DCE5', borderTop: '4px solid #1E4FA8', padding: '14px 18px', justifyContent: 'space-between' }}&gt;&#10;                &lt;Text style={{ fontSize: 20, fontWeight: 'bold', color: '#1A2230' }}&gt;偏离信号本地算&lt;/Text&gt;&#10;                &lt;Text style={{ fontSize: 16, color: '#4A5568', lineHeight: 1.55 }}&gt;连续 3 天无学习行为、7 天窗口新增突增 3 倍等阈值，全部放在配置里。&lt;/Text&gt;&#10;            &lt;/Box&gt;&#10;            &lt;Box style={{ flex: 1, height: 124, background: '#F7F9FC', borderRadius: 10, border: '1px solid #D6DCE5', borderTop: '4px solid #1E4FA8', padding: '14px 18px', justifyContent: 'space-between' }}&gt;&#10;                &lt;Text style={{ fontSize: 20, fontWeight: 'bold', color: '#1A2230' }}&gt;计划有硬上限&lt;/Text&gt;&#10;                &lt;Text style={{ fontSize: 16, color: '#4A5568', lineHeight: 1.55 }}&gt;任务数上限 12，避免「计划写了不做、还继续往上堆」的自我安慰。&lt;/Text&gt;&#10;            &lt;/Box&gt;&#10;            &lt;Box style={{ flex: 1, height: 124, background: '#F7F9FC', borderRadius: 10, border: '1px solid #D6DCE5', borderTop: '4px solid #1E4FA8', padding: '14px 18px', justifyContent: 'space-between' }}&gt;&#10;                &lt;Text style={{ fontSize: 20, fontWeight: 'bold', color: '#1A2230' }}&gt;相关才注入&lt;/Text&gt;&#10;                &lt;Text style={{ fontSize: 16, color: '#4A5568', lineHeight: 1.55 }}&gt;未解冲突与学习目标余弦相似度低于 0.45 就不注入，避免无关矛盾制造噪声。&lt;/Text&gt;&#10;            &lt;/Box&gt;&#10;        &lt;/Box&gt;&#10;    &lt;/Box&gt;&#10;    &lt;Box style={{ flexDirection: 'row', justifyContent: 'space-between', alignItems: 'center', padding: '10px 40px 14px 40px' }}&gt;&#10;        &lt;Text style={{ fontSize: 14, color: '#8B97A8' }}&gt;认知副驾 · Cognitive Copilot&lt;/Text&gt;&#10;        &lt;Text style={{ fontSize: 14, color: '#1E4FA8' }}&gt;25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4371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演示实录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⑤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计划修正（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L4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9725025" y="419100"/>
            <a:ext cx="2085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系统真实运行界面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未作修饰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933450" y="714375"/>
            <a:ext cx="3371850" cy="33337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489" name=""/>
          <p:cNvPicPr>
            <a:picLocks noChangeAspect="1"/>
          </p:cNvPicPr>
          <p:nvPr/>
        </p:nvPicPr>
        <p:blipFill>
          <a:blip r:embed="rId1"/>
          <a:srcRect l="43" t="0" r="43" b="0"/>
          <a:stretch>
            <a:fillRect/>
          </a:stretch>
        </p:blipFill>
        <p:spPr>
          <a:xfrm rot="0" flipH="0" flipV="0">
            <a:off x="933450" y="714375"/>
            <a:ext cx="3371850" cy="3333750"/>
          </a:xfrm>
          <a:prstGeom prst="roundRect">
            <a:avLst>
              <a:gd name="adj" fmla="val 2286"/>
            </a:avLst>
          </a:prstGeom>
          <a:ln/>
        </p:spPr>
      </p:pic>
      <p:sp>
        <p:nvSpPr>
          <p:cNvPr id="490" name=""/>
          <p:cNvSpPr/>
          <p:nvPr/>
        </p:nvSpPr>
        <p:spPr>
          <a:xfrm rot="0" flipH="0" flipV="0">
            <a:off x="4495800" y="714375"/>
            <a:ext cx="6762750" cy="33337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491" name=""/>
          <p:cNvPicPr>
            <a:picLocks noChangeAspect="1"/>
          </p:cNvPicPr>
          <p:nvPr/>
        </p:nvPicPr>
        <p:blipFill>
          <a:blip r:embed="rId2"/>
          <a:srcRect l="20" t="0" r="20" b="0"/>
          <a:stretch>
            <a:fillRect/>
          </a:stretch>
        </p:blipFill>
        <p:spPr>
          <a:xfrm rot="0" flipH="0" flipV="0">
            <a:off x="4495800" y="714375"/>
            <a:ext cx="6762750" cy="3333750"/>
          </a:xfrm>
          <a:prstGeom prst="roundRect">
            <a:avLst>
              <a:gd name="adj" fmla="val 2286"/>
            </a:avLst>
          </a:prstGeom>
          <a:ln/>
        </p:spPr>
      </p:pic>
      <p:sp>
        <p:nvSpPr>
          <p:cNvPr id="492" name=""/>
          <p:cNvSpPr/>
          <p:nvPr/>
        </p:nvSpPr>
        <p:spPr>
          <a:xfrm rot="0" flipH="0" flipV="0">
            <a:off x="428625" y="4162425"/>
            <a:ext cx="11430000" cy="933450"/>
          </a:xfrm>
          <a:prstGeom prst="roundRect">
            <a:avLst>
              <a:gd name="adj" fmla="val 816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93" name=""/>
          <p:cNvSpPr/>
          <p:nvPr/>
        </p:nvSpPr>
        <p:spPr>
          <a:xfrm rot="0" flipH="0" flipV="0">
            <a:off x="428625" y="4162425"/>
            <a:ext cx="11430000" cy="933450"/>
          </a:xfrm>
          <a:custGeom>
            <a:pathLst>
              <a:path w="1200" h="9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95"/>
                </a:lnTo>
                <a:cubicBezTo>
                  <a:pt x="5" y="97"/>
                  <a:pt x="6" y="98"/>
                  <a:pt x="8" y="98"/>
                </a:cubicBezTo>
                <a:cubicBezTo>
                  <a:pt x="3" y="98"/>
                  <a:pt x="0" y="94"/>
                  <a:pt x="0" y="9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619125" y="4295775"/>
            <a:ext cx="110013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这一步在做什么：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把学习目标拆成周计划之后，真正的难点是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计划赶不上变化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。偏离信号全部本地计算：连续无学习行为、窗口内新增内容突增、目标临期未推进——触发后由系统重排任务并给出下一步动作，而不是等人自己想「我是不是该调整了」。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381000" y="5248275"/>
            <a:ext cx="3724275" cy="11430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96" name=""/>
          <p:cNvSpPr/>
          <p:nvPr/>
        </p:nvSpPr>
        <p:spPr>
          <a:xfrm rot="0" flipH="0" flipV="0">
            <a:off x="381000" y="5248275"/>
            <a:ext cx="3724275" cy="1143000"/>
          </a:xfrm>
          <a:custGeom>
            <a:pathLst>
              <a:path w="391" h="120">
                <a:moveTo>
                  <a:pt x="381" y="0"/>
                </a:moveTo>
                <a:cubicBezTo>
                  <a:pt x="386" y="0"/>
                  <a:pt x="390" y="4"/>
                  <a:pt x="391" y="8"/>
                </a:cubicBezTo>
                <a:cubicBezTo>
                  <a:pt x="390" y="6"/>
                  <a:pt x="388" y="4"/>
                  <a:pt x="385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81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552450" y="5381625"/>
            <a:ext cx="3381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偏离信号本地算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552450" y="5686425"/>
            <a:ext cx="33813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连续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3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天无学习行为、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7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天窗口新增突增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3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倍等阈值，全部放在配置里。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4238625" y="5248275"/>
            <a:ext cx="3714750" cy="11430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00" name=""/>
          <p:cNvSpPr/>
          <p:nvPr/>
        </p:nvSpPr>
        <p:spPr>
          <a:xfrm rot="0" flipH="0" flipV="0">
            <a:off x="4238625" y="5248275"/>
            <a:ext cx="3714750" cy="1143000"/>
          </a:xfrm>
          <a:custGeom>
            <a:pathLst>
              <a:path w="390" h="120">
                <a:moveTo>
                  <a:pt x="380" y="0"/>
                </a:moveTo>
                <a:cubicBezTo>
                  <a:pt x="385" y="0"/>
                  <a:pt x="389" y="4"/>
                  <a:pt x="390" y="8"/>
                </a:cubicBezTo>
                <a:cubicBezTo>
                  <a:pt x="389" y="6"/>
                  <a:pt x="387" y="4"/>
                  <a:pt x="384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80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4410075" y="5381625"/>
            <a:ext cx="3371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计划有硬上限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4410075" y="5686425"/>
            <a:ext cx="3371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任务数上限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12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，避免「计划写了不做、还继续往上堆」的自我安慰。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8086725" y="5248275"/>
            <a:ext cx="3724275" cy="11430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04" name=""/>
          <p:cNvSpPr/>
          <p:nvPr/>
        </p:nvSpPr>
        <p:spPr>
          <a:xfrm rot="0" flipH="0" flipV="0">
            <a:off x="8086725" y="5248275"/>
            <a:ext cx="3724275" cy="1143000"/>
          </a:xfrm>
          <a:custGeom>
            <a:pathLst>
              <a:path w="391" h="120">
                <a:moveTo>
                  <a:pt x="381" y="0"/>
                </a:moveTo>
                <a:cubicBezTo>
                  <a:pt x="386" y="0"/>
                  <a:pt x="390" y="4"/>
                  <a:pt x="391" y="8"/>
                </a:cubicBezTo>
                <a:cubicBezTo>
                  <a:pt x="390" y="6"/>
                  <a:pt x="388" y="4"/>
                  <a:pt x="385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81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8258175" y="5381625"/>
            <a:ext cx="3381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相关才注入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8258175" y="5686425"/>
            <a:ext cx="33813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未解冲突与学习目标余弦相似度低于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0.45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就不注入，避免无关矛盾制造噪声。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381000" y="656272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11353800" y="6562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25 / 27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509" name="" descr="&lt;Slide style={{ width: 1280, height: 720, background: '#FFFFFF', flexDirection: 'column' }}&gt;&#10;    &lt;Box style={{ width: '100%', height: 8, background: '#1E4FA8' }} /&gt;&#10;    &lt;Box style={{ flexDirection: 'row', justifyContent: 'space-between', alignItems: 'flex-end', padding: '16px 40px 8px 40px' }}&gt;&#10;        &lt;Text style={{ fontSize: 34, fontWeight: 'bold', color: '#0E3F8C' }}&gt;演示实录 ⑥ · 归因诊断（L5）与主动推送&lt;/Text&gt;&#10;        &lt;Text style={{ fontSize: 17, color: '#8B97A8' }}&gt;系统真实运行界面 · 未作修饰&lt;/Text&gt;&#10;    &lt;/Box&gt;&#10;    &lt;Box style={{ flex: 1, flexDirection: 'column', gap: 12, padding: '2px 40px 0 40px' }}&gt;&#10;        &lt;Box style={{ flexDirection: 'row', gap: 20, justifyContent: 'center' }}&gt;&#10;            &lt;Image src=&quot;assets/demo6_l5a.png&quot; style={{ width: 694, height: 320, objectFit: 'contain', borderRadius: 8, border: '1px solid #D6DCE5' }} /&gt;&#10;            &lt;Image src=&quot;assets/demo6_l5b.png&quot; style={{ width: 346, height: 320, objectFit: 'contain', borderRadius: 8, border: '1px solid #D6DCE5' }} /&gt;&#10;        &lt;/Box&gt;&#10;        &lt;Box style={{ padding: '14px 20px', background: '#F0F5FC', borderRadius: 8, borderLeft: '5px solid #1E4FA8' }}&gt;&#10;            &lt;Text style={{ fontSize: 18, color: '#1A2230', lineHeight: 1.6 }}&gt;&#10;                &lt;span style={{ fontWeight: 'bold', color: '#0E3F8C' }}&gt;这一步在做什么：&lt;/span&gt;不只告诉人「你这周学得少」，而是给出&lt;span style={{ fontWeight: 'bold' }}&gt;归因、推理链与置信度&lt;/span&gt;（本例：高频低完成，86%），再把建议落成可执行的下一步；同样的结论还会从通知中心主动推过来——认知简报、教练提示、学习健康报告。&#10;            &lt;/Text&gt;&#10;        &lt;/Box&gt;&#10;        &lt;Box style={{ flexDirection: 'row', gap: 14 }}&gt;&#10;            &lt;Box style={{ flex: 1, height: 140, background: '#F7F9FC', borderRadius: 10, border: '1px solid #D6DCE5', borderTop: '4px solid #1E4FA8', padding: '13px 18px', justifyContent: 'space-between' }}&gt;&#10;                &lt;Text style={{ fontSize: 20, fontWeight: 'bold', color: '#1A2230' }}&gt;结论带推理链&lt;/Text&gt;&#10;                &lt;Text style={{ fontSize: 16, color: '#4A5568', lineHeight: 1.55 }}&gt;三条推理依据 + 置信度，人可以判断这条归因站不站得住。&lt;/Text&gt;&#10;            &lt;/Box&gt;&#10;            &lt;Box style={{ flex: 1, height: 140, background: '#F7F9FC', borderRadius: 10, border: '1px solid #D6DCE5', borderTop: '4px solid #1E4FA8', padding: '13px 18px', justifyContent: 'space-between' }}&gt;&#10;                &lt;Text style={{ fontSize: 20, fontWeight: 'bold', color: '#1A2230' }}&gt;建议要能执行&lt;/Text&gt;&#10;                &lt;Text style={{ fontSize: 16, color: '#4A5568', lineHeight: 1.55 }}&gt;不说「要更努力」，而是「先读完 1 条、写 3 行摘要、24 小时内做一次动作」。&lt;/Text&gt;&#10;            &lt;/Box&gt;&#10;            &lt;Box style={{ flex: 1, height: 140, background: '#F7F9FC', borderRadius: 10, border: '1px solid #D6DCE5', borderTop: '4px solid #1E4FA8', padding: '13px 18px', justifyContent: 'space-between' }}&gt;&#10;                &lt;Text style={{ fontSize: 20, fontWeight: 'bold', color: '#1A2230' }}&gt;采纳即闭环&lt;/Text&gt;&#10;                &lt;Text style={{ fontSize: 16, color: '#4A5568', lineHeight: 1.55 }}&gt;采纳诊断后学习计划随之改写——输出反向改进系统，这是闭环的实例。&lt;/Text&gt;&#10;            &lt;/Box&gt;&#10;            &lt;Box style={{ flex: 1, height: 140, background: '#F7F9FC', borderRadius: 10, border: '1px solid #D6DCE5', borderTop: '4px solid #1E4FA8', padding: '13px 18px', justifyContent: 'space-between' }}&gt;&#10;                &lt;Text style={{ fontSize: 20, fontWeight: 'bold', color: '#1A2230' }}&gt;它会主动开口&lt;/Text&gt;&#10;                &lt;Text style={{ fontSize: 16, color: '#4A5568', lineHeight: 1.55 }}&gt;定时推送按自然周 / 月幂等去重，重复触发不会重复打扰。&lt;/Text&gt;&#10;            &lt;/Box&gt;&#10;        &lt;/Box&gt;&#10;    &lt;/Box&gt;&#10;    &lt;Box style={{ flexDirection: 'row', justifyContent: 'space-between', alignItems: 'center', padding: '10px 40px 14px 40px' }}&gt;&#10;        &lt;Text style={{ fontSize: 14, color: '#8B97A8' }}&gt;认知副驾 · Cognitive Copilot&lt;/Text&gt;&#10;        &lt;Text style={{ fontSize: 14, color: '#1E4FA8' }}&gt;26 / 2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1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59912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演示实录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⑥ ·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归因诊断（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L5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）与主动推送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9725025" y="419100"/>
            <a:ext cx="2085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系统真实运行界面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未作修饰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1047750" y="714375"/>
            <a:ext cx="6610350" cy="3048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515" name=""/>
          <p:cNvPicPr>
            <a:picLocks noChangeAspect="1"/>
          </p:cNvPicPr>
          <p:nvPr/>
        </p:nvPicPr>
        <p:blipFill>
          <a:blip r:embed="rId1"/>
          <a:srcRect l="1" t="0" r="1" b="0"/>
          <a:stretch>
            <a:fillRect/>
          </a:stretch>
        </p:blipFill>
        <p:spPr>
          <a:xfrm rot="0" flipH="0" flipV="0">
            <a:off x="1047750" y="714375"/>
            <a:ext cx="6610350" cy="3048000"/>
          </a:xfrm>
          <a:prstGeom prst="roundRect">
            <a:avLst>
              <a:gd name="adj" fmla="val 2500"/>
            </a:avLst>
          </a:prstGeom>
          <a:ln/>
        </p:spPr>
      </p:pic>
      <p:sp>
        <p:nvSpPr>
          <p:cNvPr id="516" name=""/>
          <p:cNvSpPr/>
          <p:nvPr/>
        </p:nvSpPr>
        <p:spPr>
          <a:xfrm rot="0" flipH="0" flipV="0">
            <a:off x="7848600" y="714375"/>
            <a:ext cx="3295650" cy="3048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517" name=""/>
          <p:cNvPicPr>
            <a:picLocks noChangeAspect="1"/>
          </p:cNvPicPr>
          <p:nvPr/>
        </p:nvPicPr>
        <p:blipFill>
          <a:blip r:embed="rId2"/>
          <a:srcRect l="0" t="9" r="0" b="9"/>
          <a:stretch>
            <a:fillRect/>
          </a:stretch>
        </p:blipFill>
        <p:spPr>
          <a:xfrm rot="0" flipH="0" flipV="0">
            <a:off x="7848600" y="714375"/>
            <a:ext cx="3295650" cy="3048000"/>
          </a:xfrm>
          <a:prstGeom prst="roundRect">
            <a:avLst>
              <a:gd name="adj" fmla="val 2500"/>
            </a:avLst>
          </a:prstGeom>
          <a:ln/>
        </p:spPr>
      </p:pic>
      <p:sp>
        <p:nvSpPr>
          <p:cNvPr id="518" name=""/>
          <p:cNvSpPr/>
          <p:nvPr/>
        </p:nvSpPr>
        <p:spPr>
          <a:xfrm rot="0" flipH="0" flipV="0">
            <a:off x="428625" y="3876675"/>
            <a:ext cx="11430000" cy="933450"/>
          </a:xfrm>
          <a:prstGeom prst="roundRect">
            <a:avLst>
              <a:gd name="adj" fmla="val 816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19" name=""/>
          <p:cNvSpPr/>
          <p:nvPr/>
        </p:nvSpPr>
        <p:spPr>
          <a:xfrm rot="0" flipH="0" flipV="0">
            <a:off x="428625" y="3876675"/>
            <a:ext cx="11430000" cy="933450"/>
          </a:xfrm>
          <a:custGeom>
            <a:pathLst>
              <a:path w="1200" h="9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95"/>
                </a:lnTo>
                <a:cubicBezTo>
                  <a:pt x="5" y="97"/>
                  <a:pt x="6" y="98"/>
                  <a:pt x="8" y="98"/>
                </a:cubicBezTo>
                <a:cubicBezTo>
                  <a:pt x="3" y="98"/>
                  <a:pt x="0" y="94"/>
                  <a:pt x="0" y="9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619125" y="4010025"/>
            <a:ext cx="110013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这一步在做什么：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不只告诉人「你这周学得少」，而是给出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归因、推理链与置信度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（本例：高频低完成，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86%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），再把建议落成可执行的下一步；同样的结论还会从通知中心主动推过来——认知简报、教练提示、学习健康报告。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381000" y="4962525"/>
            <a:ext cx="2762250" cy="1295400"/>
          </a:xfrm>
          <a:prstGeom prst="roundRect">
            <a:avLst>
              <a:gd name="adj" fmla="val 735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381000" y="4962525"/>
            <a:ext cx="2762250" cy="1295400"/>
          </a:xfrm>
          <a:custGeom>
            <a:pathLst>
              <a:path w="290" h="136">
                <a:moveTo>
                  <a:pt x="280" y="0"/>
                </a:moveTo>
                <a:cubicBezTo>
                  <a:pt x="285" y="0"/>
                  <a:pt x="289" y="4"/>
                  <a:pt x="290" y="8"/>
                </a:cubicBezTo>
                <a:cubicBezTo>
                  <a:pt x="289" y="6"/>
                  <a:pt x="287" y="4"/>
                  <a:pt x="284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80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552450" y="5086350"/>
            <a:ext cx="241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结论带推理链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552450" y="5562600"/>
            <a:ext cx="24193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三条推理依据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置信度，人可以判断这条归因站不站得住。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3276600" y="4962525"/>
            <a:ext cx="2752725" cy="1295400"/>
          </a:xfrm>
          <a:prstGeom prst="roundRect">
            <a:avLst>
              <a:gd name="adj" fmla="val 735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26" name=""/>
          <p:cNvSpPr/>
          <p:nvPr/>
        </p:nvSpPr>
        <p:spPr>
          <a:xfrm rot="0" flipH="0" flipV="0">
            <a:off x="3276600" y="4962525"/>
            <a:ext cx="2752725" cy="1295400"/>
          </a:xfrm>
          <a:custGeom>
            <a:pathLst>
              <a:path w="289" h="136">
                <a:moveTo>
                  <a:pt x="279" y="0"/>
                </a:moveTo>
                <a:cubicBezTo>
                  <a:pt x="284" y="0"/>
                  <a:pt x="288" y="4"/>
                  <a:pt x="289" y="8"/>
                </a:cubicBezTo>
                <a:cubicBezTo>
                  <a:pt x="288" y="6"/>
                  <a:pt x="286" y="4"/>
                  <a:pt x="283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9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3448050" y="5086350"/>
            <a:ext cx="2409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建议要能执行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3448050" y="5314950"/>
            <a:ext cx="240982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不说「要更努力」，而是「先读完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1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条、写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3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行摘要、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24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小时内做一次动作」。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6162675" y="4962525"/>
            <a:ext cx="2762250" cy="1295400"/>
          </a:xfrm>
          <a:prstGeom prst="roundRect">
            <a:avLst>
              <a:gd name="adj" fmla="val 735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30" name=""/>
          <p:cNvSpPr/>
          <p:nvPr/>
        </p:nvSpPr>
        <p:spPr>
          <a:xfrm rot="0" flipH="0" flipV="0">
            <a:off x="6162675" y="4962525"/>
            <a:ext cx="2762250" cy="1295400"/>
          </a:xfrm>
          <a:custGeom>
            <a:pathLst>
              <a:path w="290" h="136">
                <a:moveTo>
                  <a:pt x="280" y="0"/>
                </a:moveTo>
                <a:cubicBezTo>
                  <a:pt x="285" y="0"/>
                  <a:pt x="289" y="4"/>
                  <a:pt x="290" y="8"/>
                </a:cubicBezTo>
                <a:cubicBezTo>
                  <a:pt x="289" y="6"/>
                  <a:pt x="287" y="4"/>
                  <a:pt x="284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80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6334125" y="5086350"/>
            <a:ext cx="241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采纳即闭环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6334125" y="5314950"/>
            <a:ext cx="24193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采纳诊断后学习计划随之改写——输出反向改进系统，这是闭环的实例。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9058275" y="4962525"/>
            <a:ext cx="2752725" cy="1295400"/>
          </a:xfrm>
          <a:prstGeom prst="roundRect">
            <a:avLst>
              <a:gd name="adj" fmla="val 735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34" name=""/>
          <p:cNvSpPr/>
          <p:nvPr/>
        </p:nvSpPr>
        <p:spPr>
          <a:xfrm rot="0" flipH="0" flipV="0">
            <a:off x="9058275" y="4962525"/>
            <a:ext cx="2752725" cy="1295400"/>
          </a:xfrm>
          <a:custGeom>
            <a:pathLst>
              <a:path w="289" h="136">
                <a:moveTo>
                  <a:pt x="279" y="0"/>
                </a:moveTo>
                <a:cubicBezTo>
                  <a:pt x="284" y="0"/>
                  <a:pt x="288" y="4"/>
                  <a:pt x="289" y="8"/>
                </a:cubicBezTo>
                <a:cubicBezTo>
                  <a:pt x="288" y="6"/>
                  <a:pt x="286" y="4"/>
                  <a:pt x="283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9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9229725" y="5086350"/>
            <a:ext cx="2409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它会主动开口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9229725" y="5562600"/>
            <a:ext cx="24098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定时推送按自然周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月幂等去重，重复触发不会重复打扰。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381000" y="656272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认知副驾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Cognitive Copilot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11353800" y="6562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26 / 27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39" name="" descr="&lt;Slide style={{ width: 1280, height: 720, background: '#0E3F8C', position: 'relative', overflow: 'hidden' }}&gt;&#10;    &lt;svg width={1280} height={720} viewBox='0 0 1280 720' style={{ position: 'absolute', top: 0, left: 0 }}&gt;&#10;        &lt;circle cx='110' cy='90' r='240' fill='#1E4FA8' opacity='0.3' /&gt;&#10;        &lt;circle cx='1190' cy='640' r='280' fill='none' stroke='#FFFFFF' strokeWidth='1' opacity='0.1' /&gt;&#10;    &lt;/svg&gt;&#10;    &lt;Box style={{ position: 'absolute', top: 74, left: 0, width: '100%', alignItems: 'center' }}&gt;&#10;        &lt;Text style={{ fontSize: 22, color: '#9FBCE8', letterSpacing: 6 }}&gt;27 天做下来的三句话&lt;/Text&gt;&#10;        &lt;Box style={{ marginTop: 24, alignItems: 'center' }}&gt;&#10;            &lt;Text style={{ fontSize: 40, fontWeight: 'bold', color: '#FFFFFF', lineHeight: 1.9, textAlign: 'center' }}&gt;&#10;                不报错，不等于跑通了&lt;br /&gt;&#10;                容错要有，但不能伪装成成功&lt;br /&gt;&#10;                先定性，再定位&#10;            &lt;/Text&gt;&#10;        &lt;/Box&gt;&#10;    &lt;/Box&gt;&#10;    &lt;Box style={{ position: 'absolute', top: 400, left: 190, width: 900, flexDirection: 'row', gap: 16, justifyContent: 'space-between' }}&gt;&#10;        &lt;Box style={{ flex: 1, padding: '16px 18px', background: 'rgba(255,255,255,0.08)', borderRadius: 10, border: '1px solid rgba(255,255,255,0.25)' }}&gt;&#10;            &lt;Text style={{ fontSize: 18, color: '#FFC107', fontWeight: 'bold' }}&gt;下一步 · 1&lt;/Text&gt;&#10;            &lt;Text style={{ fontSize: 17, color: '#E8EFF8', marginTop: 8, lineHeight: 1.55 }}&gt;数据库向量后端真机验证（SQL 契约已用测试钉住）&lt;/Text&gt;&#10;        &lt;/Box&gt;&#10;        &lt;Box style={{ flex: 1, padding: '16px 18px', background: 'rgba(255,255,255,0.08)', borderRadius: 10, border: '1px solid rgba(255,255,255,0.25)' }}&gt;&#10;            &lt;Text style={{ fontSize: 18, color: '#FFC107', fontWeight: 'bold' }}&gt;下一步 · 2&lt;/Text&gt;&#10;            &lt;Text style={{ fontSize: 17, color: '#E8EFF8', marginTop: 8, lineHeight: 1.55 }}&gt;冲突候选对比较的平方级复杂度优化&lt;/Text&gt;&#10;        &lt;/Box&gt;&#10;        &lt;Box style={{ flex: 1, padding: '16px 18px', background: 'rgba(255,255,255,0.08)', borderRadius: 10, border: '1px solid rgba(255,255,255,0.25)' }}&gt;&#10;            &lt;Text style={{ fontSize: 18, color: '#FFC107', fontWeight: 'bold' }}&gt;下一步 · 3&lt;/Text&gt;&#10;            &lt;Text style={{ fontSize: 17, color: '#E8EFF8', marginTop: 8, lineHeight: 1.55 }}&gt;容错可观测性：让每次回退都看得见&lt;/Text&gt;&#10;        &lt;/Box&gt;&#10;    &lt;/Box&gt;&#10;    &lt;Box style={{ position: 'absolute', bottom: 62, left: 0, width: '100%', alignItems: 'center' }}&gt;&#10;        &lt;Box style={{ width: 56, height: 3, background: '#FFC107', marginBottom: 18 }} /&gt;&#10;        &lt;Text style={{ fontSize: 26, color: '#FFFFFF', textAlign: 'center' }}&gt;&#10;            认知副驾 —— 帮你照亮未知，并逼你修正&#10;        &lt;/Text&gt;&#10;        &lt;Text style={{ fontSize: 19, color: '#BBD0F0', marginTop: 12 }}&gt;以上是从 0 到现在的全部工作，恳请老师批评指正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5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4791075" y="704850"/>
            <a:ext cx="2619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450">
                <a:solidFill>
                  <a:srgbClr val="9FBCE8"/>
                </a:solidFill>
                <a:latin typeface="Microsoft YaHei"/>
                <a:ea typeface="Microsoft YaHei"/>
              </a:rPr>
              <a:t>27 </a:t>
            </a:r>
            <a:r>
              <a:rPr lang="zh-CN" sz="1650" spc="450">
                <a:solidFill>
                  <a:srgbClr val="9FBCE8"/>
                </a:solidFill>
                <a:latin typeface="Microsoft YaHei"/>
                <a:ea typeface="Microsoft YaHei"/>
              </a:rPr>
              <a:t>天做下来的三句话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3619500" y="1190625"/>
            <a:ext cx="4953000" cy="2609850"/>
          </a:xfrm>
          <a:prstGeom prst="rect"/>
        </p:spPr>
        <p:txBody>
          <a:bodyPr wrap="none" lIns="0" tIns="0" rIns="0" bIns="0"/>
          <a:p>
            <a:pPr algn="ctr">
              <a:lnSpc>
                <a:spcPct val="19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不报错，不等于跑通了</a:t>
            </a:r>
            <a:endParaRPr/>
          </a:p>
          <a:p>
            <a:pPr algn="ctr">
              <a:lnSpc>
                <a:spcPct val="19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容错要有，但不能伪装成成功</a:t>
            </a:r>
            <a:endParaRPr/>
          </a:p>
          <a:p>
            <a:pPr algn="ctr">
              <a:lnSpc>
                <a:spcPct val="19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先定性，再定位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1809750" y="3810000"/>
            <a:ext cx="2752725" cy="1200150"/>
          </a:xfrm>
          <a:prstGeom prst="roundRect">
            <a:avLst>
              <a:gd name="adj" fmla="val 793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1981200" y="3962400"/>
            <a:ext cx="2409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C107"/>
                </a:solidFill>
                <a:latin typeface="Microsoft YaHei"/>
                <a:ea typeface="Microsoft YaHei"/>
              </a:rPr>
              <a:t>下一步</a:t>
            </a: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 · 1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1981200" y="4248150"/>
            <a:ext cx="24098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E8EFF8"/>
                </a:solidFill>
                <a:latin typeface="Microsoft YaHei"/>
                <a:ea typeface="Microsoft YaHei"/>
              </a:rPr>
              <a:t>数据库向量后端真机验证（</a:t>
            </a:r>
            <a:r>
              <a:rPr lang="en-US" sz="1275">
                <a:solidFill>
                  <a:srgbClr val="E8EFF8"/>
                </a:solidFill>
                <a:latin typeface="Microsoft YaHei"/>
                <a:ea typeface="Microsoft YaHei"/>
              </a:rPr>
              <a:t>SQL </a:t>
            </a:r>
            <a:r>
              <a:rPr lang="zh-CN" sz="1275">
                <a:solidFill>
                  <a:srgbClr val="E8EFF8"/>
                </a:solidFill>
                <a:latin typeface="Microsoft YaHei"/>
                <a:ea typeface="Microsoft YaHei"/>
              </a:rPr>
              <a:t>契约已用测试钉住）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4714875" y="3810000"/>
            <a:ext cx="2762250" cy="1200150"/>
          </a:xfrm>
          <a:prstGeom prst="roundRect">
            <a:avLst>
              <a:gd name="adj" fmla="val 793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4886325" y="3962400"/>
            <a:ext cx="2419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C107"/>
                </a:solidFill>
                <a:latin typeface="Microsoft YaHei"/>
                <a:ea typeface="Microsoft YaHei"/>
              </a:rPr>
              <a:t>下一步</a:t>
            </a: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 · 2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4886325" y="4248150"/>
            <a:ext cx="24193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E8EFF8"/>
                </a:solidFill>
                <a:latin typeface="Microsoft YaHei"/>
                <a:ea typeface="Microsoft YaHei"/>
              </a:rPr>
              <a:t>冲突候选对比较的平方级复杂度优化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7629525" y="3810000"/>
            <a:ext cx="2752725" cy="1200150"/>
          </a:xfrm>
          <a:prstGeom prst="roundRect">
            <a:avLst>
              <a:gd name="adj" fmla="val 793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7800975" y="3962400"/>
            <a:ext cx="2409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C107"/>
                </a:solidFill>
                <a:latin typeface="Microsoft YaHei"/>
                <a:ea typeface="Microsoft YaHei"/>
              </a:rPr>
              <a:t>下一步</a:t>
            </a: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 · 3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7800975" y="4248150"/>
            <a:ext cx="24098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E8EFF8"/>
                </a:solidFill>
                <a:latin typeface="Microsoft YaHei"/>
                <a:ea typeface="Microsoft YaHei"/>
              </a:rPr>
              <a:t>容错可观测性：让每次回退都看得见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5829300" y="5429250"/>
            <a:ext cx="5334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3771900" y="5629275"/>
            <a:ext cx="464820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950">
                <a:solidFill>
                  <a:srgbClr val="FFFFFF"/>
                </a:solidFill>
                <a:latin typeface="Microsoft YaHei"/>
                <a:ea typeface="Microsoft YaHei"/>
              </a:rPr>
              <a:t>认知副驾</a:t>
            </a:r>
            <a:r>
              <a:rPr lang="en-US" sz="1950">
                <a:solidFill>
                  <a:srgbClr val="FFFFFF"/>
                </a:solidFill>
                <a:latin typeface="Microsoft YaHei"/>
                <a:ea typeface="Microsoft YaHei"/>
              </a:rPr>
              <a:t> —— </a:t>
            </a:r>
            <a:r>
              <a:rPr lang="zh-CN" sz="1950">
                <a:solidFill>
                  <a:srgbClr val="FFFFFF"/>
                </a:solidFill>
                <a:latin typeface="Microsoft YaHei"/>
                <a:ea typeface="Microsoft YaHei"/>
              </a:rPr>
              <a:t>帮你照亮未知，并逼你修正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4086225" y="6048375"/>
            <a:ext cx="4019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BBD0F0"/>
                </a:solidFill>
                <a:latin typeface="Microsoft YaHei"/>
                <a:ea typeface="Microsoft YaHei"/>
              </a:rPr>
              <a:t>以上是从</a:t>
            </a:r>
            <a:r>
              <a:rPr lang="en-US" sz="1425">
                <a:solidFill>
                  <a:srgbClr val="BBD0F0"/>
                </a:solidFill>
                <a:latin typeface="Microsoft YaHei"/>
                <a:ea typeface="Microsoft YaHei"/>
              </a:rPr>
              <a:t> 0 </a:t>
            </a:r>
            <a:r>
              <a:rPr lang="zh-CN" sz="1425">
                <a:solidFill>
                  <a:srgbClr val="BBD0F0"/>
                </a:solidFill>
                <a:latin typeface="Microsoft YaHei"/>
                <a:ea typeface="Microsoft YaHei"/>
              </a:rPr>
              <a:t>到现在的全部工作，恳请老师批评指正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2026-10-07T16:21:30Z</dcterms:created>
  <dcterms:modified xsi:type="dcterms:W3CDTF">2026-10-07T16:21:30Z</dcterms:modified>
</cp:coreProperties>
</file>